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embeddedFontLst>
    <p:embeddedFont>
      <p:font typeface="Alexandria SemiBold"/>
      <p:regular r:id="rId201314"/>
    </p:embeddedFont>
    <p:embeddedFont>
      <p:font typeface="Sora Light"/>
      <p:regular r:id="rId201315"/>
    </p:embeddedFont>
    <p:embeddedFont>
      <p:font typeface="Sor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svg"/><Relationship Id="rId10" Type="http://schemas.openxmlformats.org/officeDocument/2006/relationships/image" Target="../media/image-8-1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5-6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2.png"/><Relationship Id="rId5" Type="http://schemas.openxmlformats.org/officeDocument/2006/relationships/image" Target="../media/image-20-3.svg"/><Relationship Id="rId6" Type="http://schemas.openxmlformats.org/officeDocument/2006/relationships/image" Target="../media/image-20-2.png"/><Relationship Id="rId7" Type="http://schemas.openxmlformats.org/officeDocument/2006/relationships/image" Target="../media/image-20-3.svg"/><Relationship Id="rId8" Type="http://schemas.openxmlformats.org/officeDocument/2006/relationships/image" Target="../media/image-20-2.png"/><Relationship Id="rId9" Type="http://schemas.openxmlformats.org/officeDocument/2006/relationships/image" Target="../media/image-20-3.sv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1.png"/><Relationship Id="rId6" Type="http://schemas.openxmlformats.org/officeDocument/2006/relationships/image" Target="../media/image-22-2.svg"/><Relationship Id="rId7" Type="http://schemas.openxmlformats.org/officeDocument/2006/relationships/image" Target="../media/image-22-3.png"/><Relationship Id="rId8" Type="http://schemas.openxmlformats.org/officeDocument/2006/relationships/image" Target="../media/image-22-4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0-10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1.png"/><Relationship Id="rId6" Type="http://schemas.openxmlformats.org/officeDocument/2006/relationships/image" Target="../media/image-24-2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0-10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321296"/>
            <a:ext cx="213692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PROPOSAL DEFENSE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203794" y="1613595"/>
            <a:ext cx="6355993" cy="2375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AI-Driven Root Cause Analysis and Automated Triage in Micro-service Environments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03794" y="4305102"/>
            <a:ext cx="6355993" cy="254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03794" y="457864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Akshay Adik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Doctor of Business Administration · Golden Gate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03794" y="5359598"/>
            <a:ext cx="696557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Chair: Dr. Anil Kumar Vuppala · Sep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55836"/>
            <a:ext cx="988591" cy="274241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40153" y="709910"/>
            <a:ext cx="138168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100220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Four Parts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1866900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Questions are welcome throughout. Slides 3–14 move quickly — they establish shared context; the discussion should linger on the artefact and evaluation, where the doctoral contribution lives.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647851"/>
            <a:ext cx="5463939" cy="7221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383" y="3550444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&amp; Gap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12383" y="3955554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Slides 3–14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647851"/>
            <a:ext cx="5463939" cy="7221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76322" y="3550444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Methodology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276322" y="3955554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Slides 15–18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4424958"/>
            <a:ext cx="5463939" cy="7221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2383" y="5327551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Artefact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12383" y="5732661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Slides 19–23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424958"/>
            <a:ext cx="5463939" cy="7221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76322" y="5327551"/>
            <a:ext cx="51029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Evaluation &amp; Outcomes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276322" y="5732661"/>
            <a:ext cx="510299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Slides 24–28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84398"/>
            <a:ext cx="840759" cy="246856"/>
          </a:xfrm>
          <a:prstGeom prst="roundRect">
            <a:avLst>
              <a:gd name="adj" fmla="val 22117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633115"/>
            <a:ext cx="125548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889695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a Microservice Environment?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643459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setting this dissertation operates in, stated in plain terms first.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054920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4382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Aspect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This Means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Example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Why It Matters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it is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An app split into many small, independent services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Order · Payment · Inventory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One service failing ≠ whole app down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935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Who uses it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Organizations operating large, distributed applications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Amazon · Netflix · Uber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Standard pattern in production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Why adopt it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Scalability, independent deploys, flexibility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Docker + Kubernetes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Faster releases, isolated blast radius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85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goes wrong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Services depend on each other in chains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Payment fails → order can't complete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The problem this dissertation addresses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667673"/>
            <a:ext cx="10927878" cy="605830"/>
          </a:xfrm>
          <a:prstGeom prst="roundRect">
            <a:avLst>
              <a:gd name="adj" fmla="val 11265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25" y="5877322"/>
            <a:ext cx="203096" cy="1624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9838" y="5854402"/>
            <a:ext cx="10847116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is the environment Artefact operates in — not a hypothetical one. (Soldani &amp; Brogi, 2023; Wang &amp; Qi, 2024)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03548"/>
            <a:ext cx="1803553" cy="260548"/>
          </a:xfrm>
          <a:prstGeom prst="roundRect">
            <a:avLst>
              <a:gd name="adj" fmla="val 22119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34796" y="654943"/>
            <a:ext cx="220736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STAKEHOLDER 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1908" y="929184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Who Is Impacted When It Fails?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31908" y="1737717"/>
            <a:ext cx="1153746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One failure, four stakeholders, one shared clock: MTTR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188567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Stakeholder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They See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Immediate Impact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Downstream Cost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496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Customer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Failed transaction, error page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Lost trust, switches provider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Revenue opportunity lost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</a:tr>
              <a:tr h="7496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SRE / on-call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Alert storm, dashboards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Manual investigation, hours lost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On-call burden, burnout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Dev team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Bug report, postmortem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Debugging &amp; defect fixing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Engineering time diverted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Business / management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SLA breach report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Contractual penalties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Reputation damage</a:t>
                      </a:r>
                      <a:endParaRPr lang="en-US" sz="13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1520" marR="17152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323880"/>
            <a:ext cx="10927878" cy="930473"/>
          </a:xfrm>
          <a:prstGeom prst="roundRect">
            <a:avLst>
              <a:gd name="adj" fmla="val 7742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354" y="5557441"/>
            <a:ext cx="214307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9107" y="5529659"/>
            <a:ext cx="1019923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Root-cause analysis speed determines how far down this chain the failure is allowed to run. (Chakraborty et al., 2024; Jin et al., 2024; Bansal et al., 2020)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45319"/>
            <a:ext cx="983134" cy="191988"/>
          </a:xfrm>
          <a:prstGeom prst="roundRect">
            <a:avLst>
              <a:gd name="adj" fmla="val 22118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7710" y="683220"/>
            <a:ext cx="1441116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1908" y="872629"/>
            <a:ext cx="10927878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Why Microservice RCA Is Hard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1908" y="1421011"/>
            <a:ext cx="11537463" cy="17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Failures cascade — the origin is several hops from the observable symptom.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171005"/>
            <a:ext cx="1710985" cy="95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211" y="2638524"/>
            <a:ext cx="145838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S1 — API Gateway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211" y="2934791"/>
            <a:ext cx="145838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Entry point · request received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295" y="1981398"/>
            <a:ext cx="1710985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57597" y="2448917"/>
            <a:ext cx="1458380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S2 → S3 — Order &amp; Auth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557597" y="2953048"/>
            <a:ext cx="145838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Downstream calls initiated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681" y="1791891"/>
            <a:ext cx="1710985" cy="952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56983" y="2259409"/>
            <a:ext cx="1458380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S4 — Payment Service 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356983" y="2763540"/>
            <a:ext cx="145838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Latency spike — root fault origin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3890566"/>
            <a:ext cx="1710985" cy="952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8211" y="4358084"/>
            <a:ext cx="1458380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S6 — Inventory Service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58211" y="4862215"/>
            <a:ext cx="145838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Blocked · awaiting Payment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1295" y="3700959"/>
            <a:ext cx="1710985" cy="9525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557597" y="4168477"/>
            <a:ext cx="145838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S7 — Root Cause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2557597" y="4464745"/>
            <a:ext cx="145838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Actual fault — several hops from S1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256379" y="1791891"/>
            <a:ext cx="5309757" cy="1156692"/>
          </a:xfrm>
          <a:prstGeom prst="roundRect">
            <a:avLst>
              <a:gd name="adj" fmla="val 4589"/>
            </a:avLst>
          </a:prstGeom>
          <a:solidFill>
            <a:srgbClr val="F0F4F8"/>
          </a:solidFill>
          <a:ln w="6350">
            <a:solidFill>
              <a:srgbClr val="D6DAD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389032" y="1924546"/>
            <a:ext cx="5044453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Many Services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389032" y="2220813"/>
            <a:ext cx="5044453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Multiple services traversed per user request</a:t>
            </a:r>
            <a:endParaRPr lang="en-US" sz="9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hop adds latency and an additional failure surface, making end-to-end tracing non-trivial.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256379" y="3036987"/>
            <a:ext cx="5309757" cy="1156692"/>
          </a:xfrm>
          <a:prstGeom prst="roundRect">
            <a:avLst>
              <a:gd name="adj" fmla="val 4589"/>
            </a:avLst>
          </a:prstGeom>
          <a:solidFill>
            <a:srgbClr val="DCE8F5"/>
          </a:solidFill>
          <a:ln w="6350">
            <a:solidFill>
              <a:srgbClr val="C2CED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389032" y="3169642"/>
            <a:ext cx="5044453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Cascading Hops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389032" y="3465909"/>
            <a:ext cx="5044453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Chains and message queues propagate faults across the topology</a:t>
            </a:r>
            <a:endParaRPr lang="en-US" sz="9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single slow dependency ripples upstream, masking the true origin behind layers of secondary symptoms.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256379" y="4282083"/>
            <a:ext cx="5309757" cy="1156692"/>
          </a:xfrm>
          <a:prstGeom prst="roundRect">
            <a:avLst>
              <a:gd name="adj" fmla="val 4589"/>
            </a:avLst>
          </a:prstGeom>
          <a:solidFill>
            <a:srgbClr val="B8D4ED"/>
          </a:solidFill>
          <a:ln w="6350">
            <a:solidFill>
              <a:srgbClr val="9EBAD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389032" y="4414738"/>
            <a:ext cx="5044453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Signature Drift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389032" y="4711005"/>
            <a:ext cx="5044453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CI/CD pipeline activity renders fault signatures non-stationary</a:t>
            </a:r>
            <a:endParaRPr lang="en-US" sz="9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Frequent deployments shift baseline metrics, meaning yesterday's normal is today's anomaly — invalidating static thresholds.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31908" y="5637808"/>
            <a:ext cx="10927878" cy="574774"/>
          </a:xfrm>
          <a:prstGeom prst="roundRect">
            <a:avLst>
              <a:gd name="adj" fmla="val 9235"/>
            </a:avLst>
          </a:prstGeom>
          <a:solidFill>
            <a:srgbClr val="D5DC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11" y="5767884"/>
            <a:ext cx="157952" cy="1263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42465" y="5757763"/>
            <a:ext cx="1039101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Telemetry collection is no longer the bottleneck — </a:t>
            </a:r>
            <a:pPr algn="l"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causal inference is.</a:t>
            </a:r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CI/CD-driven drift makes fault signatures non-stationary, compounding the challenge of pinpointing origin across distributed service chains. (Soldani &amp; Brogi, 2023; Yu et al., 2023; Wang &amp; Qi, 2024)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25971"/>
            <a:ext cx="1124021" cy="219373"/>
          </a:xfrm>
          <a:prstGeom prst="roundRect">
            <a:avLst>
              <a:gd name="adj" fmla="val 22123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18524" y="669230"/>
            <a:ext cx="1560374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908" y="891480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Economic Case for Automation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1908" y="1539776"/>
            <a:ext cx="11537463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Outage cost and modelled return — from one framework, not two separate arguments.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1908" y="1877715"/>
            <a:ext cx="3565634" cy="1024235"/>
          </a:xfrm>
          <a:prstGeom prst="roundRect">
            <a:avLst>
              <a:gd name="adj" fmla="val 5923"/>
            </a:avLst>
          </a:prstGeom>
          <a:solidFill>
            <a:srgbClr val="1E3A5F"/>
          </a:solidFill>
          <a:ln w="6350">
            <a:solidFill>
              <a:srgbClr val="3753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618" y="2028428"/>
            <a:ext cx="3264215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Per Hour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2618" y="2335312"/>
            <a:ext cx="3264215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Outage cost — Pham et al.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3030" y="1877715"/>
            <a:ext cx="3565634" cy="1024235"/>
          </a:xfrm>
          <a:prstGeom prst="roundRect">
            <a:avLst>
              <a:gd name="adj" fmla="val 5923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3740" y="2028428"/>
            <a:ext cx="3264215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Primary Metric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63740" y="2335312"/>
            <a:ext cx="3264215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Cost per resolution — what artefact measures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94152" y="1877715"/>
            <a:ext cx="3565634" cy="1024235"/>
          </a:xfrm>
          <a:prstGeom prst="roundRect">
            <a:avLst>
              <a:gd name="adj" fmla="val 5923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4862" y="2028428"/>
            <a:ext cx="3264215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CpR Components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44862" y="2335312"/>
            <a:ext cx="3264215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Compute · MLOps · Revenue · SLA · Labour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908" y="3075186"/>
            <a:ext cx="1092787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5 CpR Components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1908" y="3648472"/>
            <a:ext cx="10927878" cy="1905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7309" y="3648422"/>
            <a:ext cx="19050" cy="433288"/>
          </a:xfrm>
          <a:prstGeom prst="roundRect">
            <a:avLst>
              <a:gd name="adj" fmla="val 49999"/>
            </a:avLst>
          </a:prstGeom>
          <a:solidFill>
            <a:srgbClr val="C2CEDB"/>
          </a:solidFill>
          <a:ln/>
        </p:spPr>
      </p:sp>
      <p:sp>
        <p:nvSpPr>
          <p:cNvPr id="18" name="Shape 16"/>
          <p:cNvSpPr/>
          <p:nvPr/>
        </p:nvSpPr>
        <p:spPr>
          <a:xfrm>
            <a:off x="1504416" y="3486001"/>
            <a:ext cx="324933" cy="324941"/>
          </a:xfrm>
          <a:prstGeom prst="roundRect">
            <a:avLst>
              <a:gd name="adj" fmla="val 18670"/>
            </a:avLst>
          </a:prstGeom>
          <a:solidFill>
            <a:srgbClr val="DCE8F5"/>
          </a:solidFill>
          <a:ln w="6350">
            <a:solidFill>
              <a:srgbClr val="C2CE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2834" y="3505895"/>
            <a:ext cx="227999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76268" y="4226223"/>
            <a:ext cx="1781329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Token Cost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6268" y="4533106"/>
            <a:ext cx="1781329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LLM inference spend (L-pipe)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71716" y="3648422"/>
            <a:ext cx="19050" cy="433288"/>
          </a:xfrm>
          <a:prstGeom prst="roundRect">
            <a:avLst>
              <a:gd name="adj" fmla="val 49999"/>
            </a:avLst>
          </a:prstGeom>
          <a:solidFill>
            <a:srgbClr val="9EBAD3"/>
          </a:solidFill>
          <a:ln/>
        </p:spPr>
      </p:sp>
      <p:sp>
        <p:nvSpPr>
          <p:cNvPr id="23" name="Shape 21"/>
          <p:cNvSpPr/>
          <p:nvPr/>
        </p:nvSpPr>
        <p:spPr>
          <a:xfrm>
            <a:off x="3718824" y="3486001"/>
            <a:ext cx="324933" cy="324941"/>
          </a:xfrm>
          <a:prstGeom prst="roundRect">
            <a:avLst>
              <a:gd name="adj" fmla="val 18670"/>
            </a:avLst>
          </a:prstGeom>
          <a:solidFill>
            <a:srgbClr val="B8D4ED"/>
          </a:solidFill>
          <a:ln w="6350">
            <a:solidFill>
              <a:srgbClr val="9EBA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242" y="3505895"/>
            <a:ext cx="227999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2990676" y="4226223"/>
            <a:ext cx="1781329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Infrastructure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990676" y="4770735"/>
            <a:ext cx="1781329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Compute for D-pipe / G-pipe execution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6124" y="3648422"/>
            <a:ext cx="19050" cy="433288"/>
          </a:xfrm>
          <a:prstGeom prst="roundRect">
            <a:avLst>
              <a:gd name="adj" fmla="val 49999"/>
            </a:avLst>
          </a:prstGeom>
          <a:solidFill>
            <a:srgbClr val="6095BA"/>
          </a:solidFill>
          <a:ln/>
        </p:spPr>
      </p:sp>
      <p:sp>
        <p:nvSpPr>
          <p:cNvPr id="28" name="Shape 26"/>
          <p:cNvSpPr/>
          <p:nvPr/>
        </p:nvSpPr>
        <p:spPr>
          <a:xfrm>
            <a:off x="5933232" y="3486001"/>
            <a:ext cx="324933" cy="324941"/>
          </a:xfrm>
          <a:prstGeom prst="roundRect">
            <a:avLst>
              <a:gd name="adj" fmla="val 18670"/>
            </a:avLst>
          </a:prstGeom>
          <a:solidFill>
            <a:srgbClr val="7AAFD4"/>
          </a:solidFill>
          <a:ln w="6350">
            <a:solidFill>
              <a:srgbClr val="6095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1650" y="3505895"/>
            <a:ext cx="227999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5205084" y="4226223"/>
            <a:ext cx="178142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Storage Cost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205084" y="4533106"/>
            <a:ext cx="1781428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Evidence graph · telemetry retention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00631" y="3648422"/>
            <a:ext cx="19050" cy="433288"/>
          </a:xfrm>
          <a:prstGeom prst="roundRect">
            <a:avLst>
              <a:gd name="adj" fmla="val 49999"/>
            </a:avLst>
          </a:prstGeom>
          <a:solidFill>
            <a:srgbClr val="4778A3"/>
          </a:solidFill>
          <a:ln/>
        </p:spPr>
      </p:sp>
      <p:sp>
        <p:nvSpPr>
          <p:cNvPr id="33" name="Shape 31"/>
          <p:cNvSpPr/>
          <p:nvPr/>
        </p:nvSpPr>
        <p:spPr>
          <a:xfrm>
            <a:off x="8147739" y="3486001"/>
            <a:ext cx="324933" cy="324941"/>
          </a:xfrm>
          <a:prstGeom prst="roundRect">
            <a:avLst>
              <a:gd name="adj" fmla="val 18670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6157" y="3505895"/>
            <a:ext cx="227999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7419591" y="4226223"/>
            <a:ext cx="1781329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Human-Minute Cost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419591" y="4770735"/>
            <a:ext cx="1781329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SRE / operator time — HITL, triage </a:t>
            </a:r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(Hwang et al., 2021)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515039" y="3648422"/>
            <a:ext cx="19050" cy="433288"/>
          </a:xfrm>
          <a:prstGeom prst="roundRect">
            <a:avLst>
              <a:gd name="adj" fmla="val 49999"/>
            </a:avLst>
          </a:prstGeom>
          <a:solidFill>
            <a:srgbClr val="37537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62147" y="3486001"/>
            <a:ext cx="324933" cy="324941"/>
          </a:xfrm>
          <a:prstGeom prst="roundRect">
            <a:avLst>
              <a:gd name="adj" fmla="val 18670"/>
            </a:avLst>
          </a:prstGeom>
          <a:solidFill>
            <a:srgbClr val="1E3A5F"/>
          </a:solidFill>
          <a:ln w="6350">
            <a:solidFill>
              <a:srgbClr val="3753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10565" y="3505895"/>
            <a:ext cx="227999" cy="285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5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9633999" y="4226223"/>
            <a:ext cx="178142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Opportunity Cost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633999" y="4533106"/>
            <a:ext cx="1781428" cy="83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Cost of delay / downtime during resolution </a:t>
            </a:r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(Sun et al., 2025)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1908" y="5524599"/>
            <a:ext cx="10927878" cy="707430"/>
          </a:xfrm>
          <a:prstGeom prst="roundRect">
            <a:avLst>
              <a:gd name="adj" fmla="val 8575"/>
            </a:avLst>
          </a:prstGeom>
          <a:solidFill>
            <a:srgbClr val="D5DCF6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68" y="5689402"/>
            <a:ext cx="180474" cy="144363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01102" y="5676106"/>
            <a:ext cx="10314325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question is not whether to automate — it is whether automation can be made trustworthy at a cost Artefact will measure, not assume. (Pham et al., 2024; Sun et al., 2025; Bansal et al., 2020; Chen et al., 2023)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07926"/>
            <a:ext cx="1264809" cy="246856"/>
          </a:xfrm>
          <a:prstGeom prst="roundRect">
            <a:avLst>
              <a:gd name="adj" fmla="val 22117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756642"/>
            <a:ext cx="167953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1013222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Why Existing Approaches Fall Short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766987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Four RCA families — none individually adequate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178447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4382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Family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Representatives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Strength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Weakness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Statistical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N-sigma · BIRCH (Pham et al., 2024)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Cheap, scalable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Assumes regularity — no causal reasoning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Classical ML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Random Forest · SVM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Learns from labelled incidents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Concept drift; imbalanced labels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Deep / Graph-ML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GNNs · CHASE hypergraphs (Zhao et al., 2025) 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Topology-aware, accurate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Opacity → SRE trust deficit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  <a:tr h="685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LLM / Multi-agent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TAMO (2025)· mABC (2024)· Flow-of-Action (2025)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Explanations, generalisation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Cost · hallucination · context limits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544245"/>
            <a:ext cx="10927878" cy="605830"/>
          </a:xfrm>
          <a:prstGeom prst="roundRect">
            <a:avLst>
              <a:gd name="adj" fmla="val 11265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25" y="5753894"/>
            <a:ext cx="203096" cy="1624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9838" y="5730974"/>
            <a:ext cx="10847116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family is right for a subset of fault classes. None is universally adequate. → Co-deploy paradigms.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59693"/>
            <a:ext cx="1194465" cy="233164"/>
          </a:xfrm>
          <a:prstGeom prst="roundRect">
            <a:avLst>
              <a:gd name="adj" fmla="val 22115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3981" y="605730"/>
            <a:ext cx="161990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844947"/>
            <a:ext cx="10927878" cy="5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the Literature Reviewed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31908" y="1545332"/>
            <a:ext cx="1153746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Seven streams, each reviewed to answer one question: where do the variables come from?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919188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399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Literature Thread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It Establishes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Limitation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Variable It Produced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2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RCA &amp; AIOps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How RCA evolved as a paradigm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Manual / fragmented tooling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C1 evaluation rigour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Observability &amp; multimodal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Logs, traces &amp; metrics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Poor cross-modal integration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Multimodal bundle (A-H8)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Statistical &amp; ML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Cheap detection / prediction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Limited causal reasoning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D-pipe floor (A-H3)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62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Graph / causal methods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Topology &amp; dependency modelling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Limited explainability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Graph-only (A-H6)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GenAI / multi-agent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Reasoning &amp; NL explanation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Hallucination + cost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LLM contribution (A-H1, A-H7)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Hybrid intelligence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Combining modalities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Contribution isolation unclear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Ablation family (A-H1–8)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99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Economics &amp; business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MTTR, cost, ROI mechanisms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Not integrated into RCA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CpR, MTTR proxies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746750"/>
            <a:ext cx="10927878" cy="551458"/>
          </a:xfrm>
          <a:prstGeom prst="roundRect">
            <a:avLst>
              <a:gd name="adj" fmla="val 11688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97" y="5933579"/>
            <a:ext cx="191785" cy="1533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0470" y="5915422"/>
            <a:ext cx="1088551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literature is not one gap. HELIOS addresses the intersection of these seven — each thread maps to a pre-registered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874117"/>
            <a:ext cx="1404902" cy="274241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40153" y="928191"/>
            <a:ext cx="179799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122049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Why Now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2085181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LLM cost is itself an operational expense — not merely a research-stage concern.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1908" y="2577207"/>
            <a:ext cx="3522277" cy="2192734"/>
          </a:xfrm>
          <a:prstGeom prst="roundRect">
            <a:avLst>
              <a:gd name="adj" fmla="val 3458"/>
            </a:avLst>
          </a:prstGeom>
          <a:solidFill>
            <a:srgbClr val="1E3A5F"/>
          </a:solidFill>
          <a:ln w="6350">
            <a:solidFill>
              <a:srgbClr val="3753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733" y="2764036"/>
            <a:ext cx="314862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Non-Zero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818733" y="3311227"/>
            <a:ext cx="314862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LLM Diagnosis Cost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18733" y="3716338"/>
            <a:ext cx="314862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Usage-dependent — varies by model, tokens, and routing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660" y="2577207"/>
            <a:ext cx="3522277" cy="2192734"/>
          </a:xfrm>
          <a:prstGeom prst="roundRect">
            <a:avLst>
              <a:gd name="adj" fmla="val 3458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1484" y="2764036"/>
            <a:ext cx="314862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100s–1000s</a:t>
            </a:r>
            <a:endParaRPr lang="en-US" sz="2950" dirty="0"/>
          </a:p>
        </p:txBody>
      </p:sp>
      <p:sp>
        <p:nvSpPr>
          <p:cNvPr id="12" name="Text 10"/>
          <p:cNvSpPr/>
          <p:nvPr/>
        </p:nvSpPr>
        <p:spPr>
          <a:xfrm>
            <a:off x="4521484" y="3311227"/>
            <a:ext cx="314862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Enterprise Incident Rate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521484" y="3716338"/>
            <a:ext cx="314862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Incidents per day in large-scale production environments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37411" y="2577207"/>
            <a:ext cx="3522376" cy="2192734"/>
          </a:xfrm>
          <a:prstGeom prst="roundRect">
            <a:avLst>
              <a:gd name="adj" fmla="val 3458"/>
            </a:avLst>
          </a:prstGeom>
          <a:solidFill>
            <a:srgbClr val="DCE8F5"/>
          </a:solidFill>
          <a:ln w="6350">
            <a:solidFill>
              <a:srgbClr val="C2CE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4235" y="2764036"/>
            <a:ext cx="3148727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E3A5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↑ Growing</a:t>
            </a:r>
            <a:endParaRPr lang="en-US" sz="2950" dirty="0"/>
          </a:p>
        </p:txBody>
      </p:sp>
      <p:sp>
        <p:nvSpPr>
          <p:cNvPr id="16" name="Text 14"/>
          <p:cNvSpPr/>
          <p:nvPr/>
        </p:nvSpPr>
        <p:spPr>
          <a:xfrm>
            <a:off x="8224235" y="3311227"/>
            <a:ext cx="314872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A5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Annualised Cost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224235" y="3716338"/>
            <a:ext cx="314872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A5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Increases substantially as multimodal context windows expand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1908" y="4973042"/>
            <a:ext cx="10927878" cy="1010841"/>
          </a:xfrm>
          <a:prstGeom prst="roundRect">
            <a:avLst>
              <a:gd name="adj" fmla="val 7502"/>
            </a:avLst>
          </a:prstGeom>
          <a:solidFill>
            <a:srgbClr val="D5DCF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83" y="5231110"/>
            <a:ext cx="225618" cy="18047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18475" y="5198566"/>
            <a:ext cx="1016083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(Heuristic Learning for Integrated Observability System) treats LLM cost as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architecturally arbitrated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not engineered away post-hoc.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(Contribution C6: ORAR cost-aware routing)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37567"/>
            <a:ext cx="1053478" cy="205680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13067" y="578148"/>
            <a:ext cx="1500745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783828"/>
            <a:ext cx="10927878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Five Methodological Desiderata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1908" y="1381621"/>
            <a:ext cx="1153746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None of the surveyed comparators satisfies all five — HELIOS engineered to satisfy them by design.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685429"/>
          <a:ext cx="9143771" cy="914400"/>
        </p:xfrm>
        <a:graphic>
          <a:graphicData uri="http://schemas.openxmlformats.org/drawingml/2006/table">
            <a:tbl>
              <a:tblPr/>
              <a:tblGrid>
                <a:gridCol w="2671259"/>
                <a:gridCol w="1214209"/>
                <a:gridCol w="1214209"/>
                <a:gridCol w="1214209"/>
                <a:gridCol w="1214209"/>
                <a:gridCol w="1214209"/>
                <a:gridCol w="2185576"/>
              </a:tblGrid>
              <a:tr h="516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Desideratum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CHASE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mABC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TAMO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Flow-of-Action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FrugalGPT (2023)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HELIOS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096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D1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Peer-pipeline co-deployment on identical inputs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◐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✓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096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D2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First-class observability for LLM agent reasoning failures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✓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20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D3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Cost-aware routing with observed accuracy priors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◐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✓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20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D4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Deferred two-stage reward reconciliation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✓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16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D5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Ablation-first variant equivalence at binary level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✗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✓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305822"/>
            <a:ext cx="10927878" cy="450155"/>
          </a:xfrm>
          <a:prstGeom prst="roundRect">
            <a:avLst>
              <a:gd name="adj" fmla="val 12634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239" y="5449689"/>
            <a:ext cx="169263" cy="1353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1833" y="5441156"/>
            <a:ext cx="1096220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Desiderata are derived from comparator gaps, not from HELIOS.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1908" y="5870178"/>
            <a:ext cx="10927878" cy="450155"/>
          </a:xfrm>
          <a:prstGeom prst="roundRect">
            <a:avLst>
              <a:gd name="adj" fmla="val 12634"/>
            </a:avLst>
          </a:prstGeom>
          <a:solidFill>
            <a:srgbClr val="D5D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39" y="6014045"/>
            <a:ext cx="169263" cy="1353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1833" y="6005513"/>
            <a:ext cx="1096220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Architectural commitments — not algorithmic differences — separate HELIOS from each comparator.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62769"/>
            <a:ext cx="1194465" cy="233164"/>
          </a:xfrm>
          <a:prstGeom prst="roundRect">
            <a:avLst>
              <a:gd name="adj" fmla="val 22115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3981" y="608806"/>
            <a:ext cx="161990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848023"/>
            <a:ext cx="10927878" cy="5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Research Gap → The Proposition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31908" y="1548408"/>
            <a:ext cx="1153746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surveyed system meets all five desiderata. So what must a solution provide?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381" y="1922264"/>
            <a:ext cx="5497772" cy="4372868"/>
          </a:xfrm>
          <a:prstGeom prst="roundRect">
            <a:avLst>
              <a:gd name="adj" fmla="val 2527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74770" y="2052638"/>
            <a:ext cx="5190995" cy="1009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3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0/5</a:t>
            </a:r>
            <a:endParaRPr lang="en-US" sz="6350" dirty="0"/>
          </a:p>
        </p:txBody>
      </p:sp>
      <p:sp>
        <p:nvSpPr>
          <p:cNvPr id="8" name="Text 6"/>
          <p:cNvSpPr/>
          <p:nvPr/>
        </p:nvSpPr>
        <p:spPr>
          <a:xfrm>
            <a:off x="674770" y="3192661"/>
            <a:ext cx="5190995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Desiderata satisfied by </a:t>
            </a:r>
            <a:pPr algn="ctr" indent="0" marL="0">
              <a:lnSpc>
                <a:spcPct val="123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any</a:t>
            </a:r>
            <a:pPr algn="ctr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surveyed comparator on the previous slide.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4770" y="3793629"/>
            <a:ext cx="2530312" cy="773708"/>
          </a:xfrm>
          <a:prstGeom prst="roundRect">
            <a:avLst>
              <a:gd name="adj" fmla="val 8331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508" y="3953371"/>
            <a:ext cx="2210836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D1 / Peer-pipeline co-deployment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5452" y="3793629"/>
            <a:ext cx="2530312" cy="773708"/>
          </a:xfrm>
          <a:prstGeom prst="roundRect">
            <a:avLst>
              <a:gd name="adj" fmla="val 8331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5191" y="3953371"/>
            <a:ext cx="2210836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D2 / LLM reasoning observability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4770" y="4697710"/>
            <a:ext cx="2530312" cy="773708"/>
          </a:xfrm>
          <a:prstGeom prst="roundRect">
            <a:avLst>
              <a:gd name="adj" fmla="val 8331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508" y="4857452"/>
            <a:ext cx="2210836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D3 / Cost-aware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5452" y="4697710"/>
            <a:ext cx="2530312" cy="773708"/>
          </a:xfrm>
          <a:prstGeom prst="roundRect">
            <a:avLst>
              <a:gd name="adj" fmla="val 8331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5191" y="4857452"/>
            <a:ext cx="2210836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D4 / Two-stage reward reconciliation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4770" y="5601791"/>
            <a:ext cx="5190995" cy="546596"/>
          </a:xfrm>
          <a:prstGeom prst="roundRect">
            <a:avLst>
              <a:gd name="adj" fmla="val 11792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508" y="5761534"/>
            <a:ext cx="4871519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D5 / Ablation-first variant equivalence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9418" y="2052638"/>
            <a:ext cx="5276718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 Solution Must: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289418" y="2435324"/>
            <a:ext cx="5276718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Co-deploy reasoning paradigms on </a:t>
            </a:r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identical inputs</a:t>
            </a:r>
            <a:endParaRPr lang="en-US" sz="1200" dirty="0"/>
          </a:p>
          <a:p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Observe its own reasoning failures, not just the system's</a:t>
            </a:r>
            <a:endParaRPr lang="en-US" sz="1200" dirty="0"/>
          </a:p>
          <a:p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Arbitrate LLM cost </a:t>
            </a:r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architecturally</a:t>
            </a:r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not post-hoc</a:t>
            </a:r>
            <a:endParaRPr lang="en-US" sz="1200" dirty="0"/>
          </a:p>
          <a:p>
            <a:pPr algn="l" marL="243840" indent="-243840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 evaluable mechanism-by-mechanism, not just end-to-end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9600" y="3744813"/>
            <a:ext cx="5046536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Proposition: a hybrid, ablation-first architecture can satisfy all five jointly — no surveyed comparator satisfies all five at once.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89418" y="3627438"/>
            <a:ext cx="19050" cy="688975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  <p:sp>
        <p:nvSpPr>
          <p:cNvPr id="23" name="Text 21"/>
          <p:cNvSpPr/>
          <p:nvPr/>
        </p:nvSpPr>
        <p:spPr>
          <a:xfrm>
            <a:off x="6685192" y="4539853"/>
            <a:ext cx="4485171" cy="506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E8F4E8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5/5</a:t>
            </a:r>
            <a:endParaRPr lang="en-US" sz="3950" dirty="0"/>
          </a:p>
        </p:txBody>
      </p:sp>
      <p:sp>
        <p:nvSpPr>
          <p:cNvPr id="24" name="Text 22"/>
          <p:cNvSpPr/>
          <p:nvPr/>
        </p:nvSpPr>
        <p:spPr>
          <a:xfrm>
            <a:off x="6289418" y="5220791"/>
            <a:ext cx="5276718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HELIOS Satisfies All 5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289418" y="5603478"/>
            <a:ext cx="5276718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only architecture to meet every desideratum jointly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01749"/>
            <a:ext cx="1053478" cy="205680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13067" y="542330"/>
            <a:ext cx="1500745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748010"/>
            <a:ext cx="10927878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1908" y="1345803"/>
            <a:ext cx="1153746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Four RQs — separable by inferential layer.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649611"/>
            <a:ext cx="5463939" cy="54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7239" y="2292747"/>
            <a:ext cx="5193277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RQ1 — Artefact-Level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7239" y="2576413"/>
            <a:ext cx="5193277" cy="10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 what extent do hybrid AI architectures — statistical, graph-based, and generative reasoning as peer pipelines under identical inputs — improve accuracy and reduce cost relative to single-modality baselines?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Operationalisation: B-family (8 hypotheses) + decomposing A-H1, A-H2, A-H3, A-H5.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649611"/>
            <a:ext cx="5463939" cy="54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1178" y="2292747"/>
            <a:ext cx="5193277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RQ2 — Meta-Observability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31178" y="2576413"/>
            <a:ext cx="5193277" cy="629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How can self-telemetry, integrated into the same diagnostic apparatus, enable detection of reasoning failures within the AI system itself?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Operationalisation: E-H6 — exploratory; IOL detection latency.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3720703"/>
            <a:ext cx="5463939" cy="54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7239" y="4363839"/>
            <a:ext cx="5193277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RQ3 — Per-Mechanism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67239" y="4647505"/>
            <a:ext cx="5193277" cy="10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 what extent does each named architectural mechanism (C2–C6) individually contribute to accuracy, cost, and safety, as determined by ablation?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Operationalisation: A-H4, A-H6, A-H7, A-H8 (4 of 8 A-family) + E-H1–E-H5, E-H8–E-H10 — exploratory.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720703"/>
            <a:ext cx="5463939" cy="5416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31178" y="4363839"/>
            <a:ext cx="5193277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RQ4 — Human-Interaction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231178" y="4647505"/>
            <a:ext cx="5193277" cy="629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How does explainable output (Chain-of-Evidence) influence SRE interpretation accuracy, decision time, and trust?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Operationalisation: E-H7 — within-subjects user study, n = 24.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31908" y="5905996"/>
            <a:ext cx="10927878" cy="450155"/>
          </a:xfrm>
          <a:prstGeom prst="roundRect">
            <a:avLst>
              <a:gd name="adj" fmla="val 12634"/>
            </a:avLst>
          </a:prstGeom>
          <a:solidFill>
            <a:srgbClr val="D5DCF6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39" y="6049863"/>
            <a:ext cx="169263" cy="1353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1833" y="6041330"/>
            <a:ext cx="1096220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A-family splits 4/4 across RQ1 and RQ3 — see Table 15.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43818"/>
            <a:ext cx="1334558" cy="260548"/>
          </a:xfrm>
          <a:prstGeom prst="roundRect">
            <a:avLst>
              <a:gd name="adj" fmla="val 22119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34796" y="595213"/>
            <a:ext cx="173836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1908" y="869454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Pre-Registered Variable Families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31908" y="1677987"/>
            <a:ext cx="1153746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26 pre-registered formal tests decompose 4 conceptual hypotheses — not 26 independent hypotheses.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1908" y="2128838"/>
            <a:ext cx="3533984" cy="3071614"/>
          </a:xfrm>
          <a:prstGeom prst="roundRect">
            <a:avLst>
              <a:gd name="adj" fmla="val 234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704" y="2306638"/>
            <a:ext cx="317839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 — Ablation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09704" y="2686447"/>
            <a:ext cx="3178393" cy="233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8 variables</a:t>
            </a:r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Internal mechanism checks</a:t>
            </a:r>
            <a:endParaRPr lang="en-US" sz="1350" dirty="0"/>
          </a:p>
          <a:p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LLM necessity, LLM-only sufficiency, D-pipe floor, G-pipe (graph-only), consensus, routing, hallucination, structural bundle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Confirmatory · Wilcoxon signed-rank · Holm–Bonferroni α = 0.00625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8806" y="2128838"/>
            <a:ext cx="3533984" cy="3071614"/>
          </a:xfrm>
          <a:prstGeom prst="roundRect">
            <a:avLst>
              <a:gd name="adj" fmla="val 234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6601" y="2306638"/>
            <a:ext cx="317839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 — Baseline-Comparison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506601" y="2686447"/>
            <a:ext cx="3178393" cy="206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8 variables</a:t>
            </a:r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External advantage checks</a:t>
            </a:r>
            <a:endParaRPr lang="en-US" sz="1350" dirty="0"/>
          </a:p>
          <a:p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HR@3 (×5), log-MTTR, log-Cost, Avg@5 vs. named baselines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Confirmatory · McNemar exact + Wilcoxon · Holm–Bonferroni α = 0.00625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25703" y="2128838"/>
            <a:ext cx="3533984" cy="3071614"/>
          </a:xfrm>
          <a:prstGeom prst="roundRect">
            <a:avLst>
              <a:gd name="adj" fmla="val 234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3499" y="2306638"/>
            <a:ext cx="317839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 — Exploratory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203499" y="2686447"/>
            <a:ext cx="3178393" cy="15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10 variables</a:t>
            </a:r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Future pre-registration</a:t>
            </a:r>
            <a:endParaRPr lang="en-US" sz="1350" dirty="0"/>
          </a:p>
          <a:p>
            <a:pPr algn="ctr" indent="0" marL="0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Cognitive, routing, FGSV, RRE, IOL, user study, drift/cost, attribution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Point estimates + 95% BCa bootstrap CI · No FWER correction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1908" y="5383709"/>
            <a:ext cx="10927878" cy="930473"/>
          </a:xfrm>
          <a:prstGeom prst="roundRect">
            <a:avLst>
              <a:gd name="adj" fmla="val 7742"/>
            </a:avLst>
          </a:prstGeom>
          <a:solidFill>
            <a:srgbClr val="D5DC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354" y="5617270"/>
            <a:ext cx="214307" cy="1714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9107" y="5589488"/>
            <a:ext cx="1019923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and B are corrected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separately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because they answer different inferential questions. Pre-registered at OSF freeze — not post-hoc α-padding.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08496"/>
            <a:ext cx="1404902" cy="274241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40153" y="562570"/>
            <a:ext cx="179799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 &amp;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854869"/>
            <a:ext cx="10927878" cy="60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Conceptual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 Formal Hypothesis Mapping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1725910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Chapter 1 orients the framework — Chapter 3 binds the falsifiable propositions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217936"/>
          <a:ext cx="9143771" cy="914400"/>
        </p:xfrm>
        <a:graphic>
          <a:graphicData uri="http://schemas.openxmlformats.org/drawingml/2006/table">
            <a:tbl>
              <a:tblPr/>
              <a:tblGrid>
                <a:gridCol w="3642626"/>
                <a:gridCol w="3642626"/>
                <a:gridCol w="3642626"/>
              </a:tblGrid>
              <a:tr h="5212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Conceptual Hypothesis (§1.8)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Formal Operationalisation (§3.8.1)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Note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24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H1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Hybrid AI reduces MTTR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B-H6 + A-H1 · A-H2 · A-H3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Decomposed by ablation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8133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H2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Multimodal data improves accuracy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B-H1 … B-H5 + A-H8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Bundle-level test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3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H3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Explainable AI builds operations-team trust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E-H7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User study, n=24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212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H4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Hybrid systems scale better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Out of confirmatory scope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Separate scaling experiment §3.11.5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80548" marR="18054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627588"/>
            <a:ext cx="10927878" cy="721916"/>
          </a:xfrm>
          <a:prstGeom prst="roundRect">
            <a:avLst>
              <a:gd name="adj" fmla="val 10504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83" y="5885656"/>
            <a:ext cx="225618" cy="1804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8475" y="5853113"/>
            <a:ext cx="1077042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Two complementary layers — not contradictory. Chapter 3 hypotheses are binding under the deviation log.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21494"/>
            <a:ext cx="1231869" cy="239018"/>
          </a:xfrm>
          <a:prstGeom prst="roundRect">
            <a:avLst>
              <a:gd name="adj" fmla="val 22129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6263" y="568623"/>
            <a:ext cx="1652745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815380"/>
            <a:ext cx="10927878" cy="5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Why Design Science Research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31908" y="1538883"/>
            <a:ext cx="115374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artefact </a:t>
            </a:r>
            <a:pPr algn="l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the contribution — DSR is the framework that demands ablation-first design.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1908" y="3125887"/>
            <a:ext cx="342802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1908" y="3467100"/>
            <a:ext cx="342802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Microservice failure economics; agentic-AI fault classes for which no AIOps framework provides first-class diagnostic support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743" y="1929011"/>
            <a:ext cx="3442209" cy="344229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1154" y="3325217"/>
            <a:ext cx="235440" cy="2354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52988" y="2265263"/>
            <a:ext cx="350679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Design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52988" y="2606477"/>
            <a:ext cx="350679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construction; iterative refinement; pre-registered ablation evaluation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743" y="1929011"/>
            <a:ext cx="3442209" cy="344229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0873" y="2608064"/>
            <a:ext cx="235440" cy="2354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52988" y="3986510"/>
            <a:ext cx="350679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Rigour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052988" y="4327723"/>
            <a:ext cx="3506799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Systematic comparator differentiation; runtime-enforced evaluation rigour as transferable knowledge contribution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4743" y="1929011"/>
            <a:ext cx="3442209" cy="344229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2107" y="4663777"/>
            <a:ext cx="235440" cy="235446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31908" y="5525691"/>
            <a:ext cx="10927878" cy="810716"/>
          </a:xfrm>
          <a:prstGeom prst="roundRect">
            <a:avLst>
              <a:gd name="adj" fmla="val 8155"/>
            </a:avLst>
          </a:prstGeom>
          <a:solidFill>
            <a:srgbClr val="D5DCF6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265" y="5723235"/>
            <a:ext cx="196746" cy="15736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143368" y="5702201"/>
            <a:ext cx="1025906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DSR is not "no statistics." Hevner et al. (2004), Hevner (2007) and Peffers et al. (2007) treat empirical evaluation as part of DSR. Classification: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DSR with embedded controlled quantitative comparison.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33400"/>
            <a:ext cx="1412542" cy="274241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40153" y="587474"/>
            <a:ext cx="180563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87977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Philosophical Stance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1744464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Critical realism (Bhaskar, 2008/1975; Mingers, 2004) with pragmatist orientation toward artefact evaluation.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1836" y="2236490"/>
            <a:ext cx="5503824" cy="4088110"/>
          </a:xfrm>
          <a:prstGeom prst="roundRect">
            <a:avLst>
              <a:gd name="adj" fmla="val 3180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82310" y="2416969"/>
            <a:ext cx="51428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Realist Commitment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82310" y="2894310"/>
            <a:ext cx="514287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Microservice failures are produced by real, structural generative mechanisms: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2310" y="3634581"/>
            <a:ext cx="5142875" cy="2626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Fault propagation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Resource cascades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Agent reasoning failures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underlying mechanism exists independently of our observation.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Telemetry provides only partial access to the mechanism.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RCA is therefore fallible inference.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2385" y="2236490"/>
            <a:ext cx="5503824" cy="4088110"/>
          </a:xfrm>
          <a:prstGeom prst="roundRect">
            <a:avLst>
              <a:gd name="adj" fmla="val 3180"/>
            </a:avLst>
          </a:prstGeom>
          <a:solidFill>
            <a:srgbClr val="E7EEF9"/>
          </a:solidFill>
          <a:ln/>
        </p:spPr>
      </p:sp>
      <p:sp>
        <p:nvSpPr>
          <p:cNvPr id="11" name="Text 9"/>
          <p:cNvSpPr/>
          <p:nvPr/>
        </p:nvSpPr>
        <p:spPr>
          <a:xfrm>
            <a:off x="6372859" y="2416969"/>
            <a:ext cx="51428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Pragmatist Commitment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72859" y="2894310"/>
            <a:ext cx="5142875" cy="1922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is validated by demonstrated utility under a pre-registered protocol.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Falsifiability lives at the contribution level.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Every C1–C6 is ablatable.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ablation corresponds to a pre-registered hypothesis.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43621" y="5182691"/>
            <a:ext cx="48721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"A modest epistemic posture appropriate to a doctoral research artefact."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72859" y="5020270"/>
            <a:ext cx="25399" cy="902692"/>
          </a:xfrm>
          <a:prstGeom prst="roundRect">
            <a:avLst>
              <a:gd name="adj" fmla="val 50001"/>
            </a:avLst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73509"/>
            <a:ext cx="1271754" cy="246856"/>
          </a:xfrm>
          <a:prstGeom prst="roundRect">
            <a:avLst>
              <a:gd name="adj" fmla="val 22117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822226"/>
            <a:ext cx="1686478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1078805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Theoretical Grounding &amp; Business Contribution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832570"/>
            <a:ext cx="10927878" cy="905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250"/>
              </a:spcAft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DSR sits inside the IS tradition — the business claim is scoped, not asserted.</a:t>
            </a:r>
            <a:endParaRPr lang="en-US" sz="12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dissertation proposes no new management theory. HELIOS's utility claim sits in the IT-business-value tradition — DSR is itself an IS methodology, not a CS borrowing — and organisational adoption is treated as a scoped boundary condition, not a tested construct.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4833" y="2902446"/>
            <a:ext cx="5499855" cy="2441476"/>
          </a:xfrm>
          <a:prstGeom prst="roundRect">
            <a:avLst>
              <a:gd name="adj" fmla="val 4792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677250" y="3048595"/>
            <a:ext cx="517502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Claimed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77250" y="3461941"/>
            <a:ext cx="5175021" cy="183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CpR and MTTR (§3.4.2) are technical proxies for organisational outcomes — not the outcomes themselves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pre-specified ROI model links measured technical outcomes to potential organisational value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DSR (Hevner et al., 2004; Peffers et al., 2007) is an IS-discipline methodology in its own right — not an engineering borrowing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83356" y="2902446"/>
            <a:ext cx="5499855" cy="2441476"/>
          </a:xfrm>
          <a:prstGeom prst="roundRect">
            <a:avLst>
              <a:gd name="adj" fmla="val 4792"/>
            </a:avLst>
          </a:prstGeom>
          <a:solidFill>
            <a:srgbClr val="DCE8F5"/>
          </a:solidFill>
          <a:ln/>
        </p:spPr>
      </p:sp>
      <p:sp>
        <p:nvSpPr>
          <p:cNvPr id="10" name="Text 8"/>
          <p:cNvSpPr/>
          <p:nvPr/>
        </p:nvSpPr>
        <p:spPr>
          <a:xfrm>
            <a:off x="6345773" y="3048595"/>
            <a:ext cx="517502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Not Claimed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45773" y="3461941"/>
            <a:ext cx="5175021" cy="1583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formal technology-adoption model is tested — adoption is a named limitation (§1.10), not a measured construct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new management theory is proposed — the contribution is methodological discipline (C1)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Implications are scoped to the SRE / platform-team level, not enterprise strategy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5584" y="5672931"/>
            <a:ext cx="11293788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"A bounded business claim, deliberately — an unbounded one would be the real overreach."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1908" y="5508427"/>
            <a:ext cx="19050" cy="575965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80628"/>
            <a:ext cx="988492" cy="191988"/>
          </a:xfrm>
          <a:prstGeom prst="roundRect">
            <a:avLst>
              <a:gd name="adj" fmla="val 22118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7710" y="618530"/>
            <a:ext cx="1446474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1908" y="807938"/>
            <a:ext cx="10927878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C1 — Runtime-Enforced DSR Rigour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1908" y="1356320"/>
            <a:ext cx="11537463" cy="17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Pre-registration is not a reporting convention — it is a </a:t>
            </a:r>
            <a:pPr algn="l"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runtime invariant</a:t>
            </a:r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this artefact is designed to enforce.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31908" y="1627684"/>
            <a:ext cx="2665643" cy="1509316"/>
          </a:xfrm>
          <a:prstGeom prst="roundRect">
            <a:avLst>
              <a:gd name="adj" fmla="val 351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561" y="1760339"/>
            <a:ext cx="379105" cy="379115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837" y="1864618"/>
            <a:ext cx="170553" cy="170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4561" y="2227858"/>
            <a:ext cx="2400339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Variant Control Layer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4561" y="2488803"/>
            <a:ext cx="240033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Variant identity at binary level via content-hashed manifest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5954" y="1627684"/>
            <a:ext cx="2665643" cy="1509316"/>
          </a:xfrm>
          <a:prstGeom prst="roundRect">
            <a:avLst>
              <a:gd name="adj" fmla="val 351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18606" y="1760339"/>
            <a:ext cx="379105" cy="379115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2882" y="1864618"/>
            <a:ext cx="170553" cy="1705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8606" y="2227858"/>
            <a:ext cx="2400339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Snapshot Hash Registry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8606" y="2488803"/>
            <a:ext cx="240033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Variant identity at the binary level — content-hashed manifest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39999" y="1627684"/>
            <a:ext cx="2665643" cy="1509316"/>
          </a:xfrm>
          <a:prstGeom prst="roundRect">
            <a:avLst>
              <a:gd name="adj" fmla="val 351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72651" y="1760339"/>
            <a:ext cx="379105" cy="379115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6927" y="1864618"/>
            <a:ext cx="170553" cy="17055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2651" y="2227858"/>
            <a:ext cx="2400339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Metric Integrity Gate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72651" y="2488803"/>
            <a:ext cx="240033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Input identity across variants; runtime rejection of incomplete cells — no zero-imputation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894044" y="1627684"/>
            <a:ext cx="2665743" cy="1509316"/>
          </a:xfrm>
          <a:prstGeom prst="roundRect">
            <a:avLst>
              <a:gd name="adj" fmla="val 351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26696" y="1760339"/>
            <a:ext cx="379105" cy="379115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30972" y="1864618"/>
            <a:ext cx="170553" cy="17055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26696" y="2227858"/>
            <a:ext cx="240043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Reconciliation Ledger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026696" y="2488803"/>
            <a:ext cx="2400438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Two-stage reward correspondence audit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31908" y="3225403"/>
            <a:ext cx="5419689" cy="1165622"/>
          </a:xfrm>
          <a:prstGeom prst="roundRect">
            <a:avLst>
              <a:gd name="adj" fmla="val 455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4561" y="3358059"/>
            <a:ext cx="379105" cy="379115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837" y="3462338"/>
            <a:ext cx="170553" cy="17055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4561" y="3825577"/>
            <a:ext cx="515438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Exclusion Ledger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64561" y="4086523"/>
            <a:ext cx="5154384" cy="17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Cryptographically signed, append-only — every excluded run logged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39999" y="3225403"/>
            <a:ext cx="5419788" cy="1165622"/>
          </a:xfrm>
          <a:prstGeom prst="roundRect">
            <a:avLst>
              <a:gd name="adj" fmla="val 455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72651" y="3358059"/>
            <a:ext cx="379105" cy="379115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6927" y="3462338"/>
            <a:ext cx="170553" cy="17055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72651" y="3825577"/>
            <a:ext cx="515448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Deviation Log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72651" y="4086523"/>
            <a:ext cx="5154484" cy="17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Cryptographically signed, append-only — every protocol change recorded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821411" y="4623197"/>
            <a:ext cx="10738375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Claims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21411" y="4963716"/>
            <a:ext cx="10738375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C1 converts DSR evaluation rigour from a reporting convention into a runtime invariant.</a:t>
            </a:r>
            <a:endParaRPr lang="en-US" sz="950" dirty="0"/>
          </a:p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Generalisable beyond HELIOS to AIOps research-method practice.</a:t>
            </a:r>
            <a:endParaRPr lang="en-US" sz="950" dirty="0"/>
          </a:p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Potentially relevant to DSR research-method practice more broadly.</a:t>
            </a:r>
            <a:endParaRPr lang="en-US" sz="950" dirty="0"/>
          </a:p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C1 does not improve diagnostic accuracy directly; it makes falsifiability operationally enforceable.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31908" y="4490541"/>
            <a:ext cx="12700" cy="1284387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  <p:sp>
        <p:nvSpPr>
          <p:cNvPr id="39" name="Shape 31"/>
          <p:cNvSpPr/>
          <p:nvPr/>
        </p:nvSpPr>
        <p:spPr>
          <a:xfrm>
            <a:off x="631908" y="5874445"/>
            <a:ext cx="10927878" cy="402927"/>
          </a:xfrm>
          <a:prstGeom prst="roundRect">
            <a:avLst>
              <a:gd name="adj" fmla="val 13174"/>
            </a:avLst>
          </a:prstGeom>
          <a:solidFill>
            <a:srgbClr val="D5DCF6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211" y="6004520"/>
            <a:ext cx="157952" cy="12630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42465" y="5994400"/>
            <a:ext cx="11000604" cy="17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Potentially transferable to AIOps research-method practice; broader DSR transferability is a future research question.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08298"/>
            <a:ext cx="980654" cy="172641"/>
          </a:xfrm>
          <a:prstGeom prst="roundRect">
            <a:avLst>
              <a:gd name="adj" fmla="val 22126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0070" y="542330"/>
            <a:ext cx="1453915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ARTEFACT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709513"/>
            <a:ext cx="10927878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HELIOS Architecture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31908" y="1190724"/>
            <a:ext cx="1153746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Five layers × five planes — peer pipelines on the same content-hashed snapshot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31908" y="1490960"/>
            <a:ext cx="6445783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Five Execution Layers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1908" y="1758454"/>
            <a:ext cx="644509" cy="634008"/>
          </a:xfrm>
          <a:prstGeom prst="roundRect">
            <a:avLst>
              <a:gd name="adj" fmla="val 7531"/>
            </a:avLst>
          </a:prstGeom>
          <a:solidFill>
            <a:srgbClr val="E8F0FB"/>
          </a:solidFill>
          <a:ln w="6350">
            <a:solidFill>
              <a:srgbClr val="CED6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4195" y="1975545"/>
            <a:ext cx="159837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90020" y="1872059"/>
            <a:ext cx="5574069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L0 — Telemetry Ingress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90020" y="2130623"/>
            <a:ext cx="557406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P1 metrics · P2 traces · P3 logs · P4 cognitive · P5 business + Privacy + ARM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33169" y="2389287"/>
            <a:ext cx="5687771" cy="6350"/>
          </a:xfrm>
          <a:prstGeom prst="roundRect">
            <a:avLst>
              <a:gd name="adj" fmla="val 49999"/>
            </a:avLst>
          </a:prstGeom>
          <a:solidFill>
            <a:srgbClr val="E8F0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1908" y="2449215"/>
            <a:ext cx="1289117" cy="634008"/>
          </a:xfrm>
          <a:prstGeom prst="roundRect">
            <a:avLst>
              <a:gd name="adj" fmla="val 7531"/>
            </a:avLst>
          </a:prstGeom>
          <a:solidFill>
            <a:srgbClr val="DCE8F5"/>
          </a:solidFill>
          <a:ln w="6350">
            <a:solidFill>
              <a:srgbClr val="C2C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6548" y="2666305"/>
            <a:ext cx="159837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34628" y="2562820"/>
            <a:ext cx="4929461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L1 — UEG-C Construction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34628" y="2821384"/>
            <a:ext cx="492946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K-hop pruner · 4 typed edges · Agent-Reasoning-Step nodes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77777" y="3080048"/>
            <a:ext cx="5043163" cy="6350"/>
          </a:xfrm>
          <a:prstGeom prst="roundRect">
            <a:avLst>
              <a:gd name="adj" fmla="val 49999"/>
            </a:avLst>
          </a:prstGeom>
          <a:solidFill>
            <a:srgbClr val="DCE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908" y="3139976"/>
            <a:ext cx="1933725" cy="634008"/>
          </a:xfrm>
          <a:prstGeom prst="roundRect">
            <a:avLst>
              <a:gd name="adj" fmla="val 7531"/>
            </a:avLst>
          </a:prstGeom>
          <a:solidFill>
            <a:srgbClr val="B8D4ED"/>
          </a:solidFill>
          <a:ln w="6350">
            <a:solidFill>
              <a:srgbClr val="9EBA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8803" y="3357066"/>
            <a:ext cx="159837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79236" y="3253581"/>
            <a:ext cx="4284853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L2 — Peer Reasoning Pipelines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79236" y="3512145"/>
            <a:ext cx="428485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D-pipe ║ G-pipe ║ L-pipe — identical inputs, independent outputs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22385" y="3770809"/>
            <a:ext cx="4398555" cy="6350"/>
          </a:xfrm>
          <a:prstGeom prst="roundRect">
            <a:avLst>
              <a:gd name="adj" fmla="val 49999"/>
            </a:avLst>
          </a:prstGeom>
          <a:solidFill>
            <a:srgbClr val="B8D4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31908" y="3830737"/>
            <a:ext cx="2578234" cy="634008"/>
          </a:xfrm>
          <a:prstGeom prst="roundRect">
            <a:avLst>
              <a:gd name="adj" fmla="val 7531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41057" y="4047827"/>
            <a:ext cx="159837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23745" y="3944342"/>
            <a:ext cx="3640344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L3 — Coordination &amp; Consensus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23745" y="4202906"/>
            <a:ext cx="364034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ACP → ORAR → MAHC (μ, σ) → CoE → Narrative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66894" y="4461570"/>
            <a:ext cx="3754046" cy="6350"/>
          </a:xfrm>
          <a:prstGeom prst="roundRect">
            <a:avLst>
              <a:gd name="adj" fmla="val 49999"/>
            </a:avLst>
          </a:prstGeom>
          <a:solidFill>
            <a:srgbClr val="2E5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1908" y="4521498"/>
            <a:ext cx="3222842" cy="634008"/>
          </a:xfrm>
          <a:prstGeom prst="roundRect">
            <a:avLst>
              <a:gd name="adj" fmla="val 7531"/>
            </a:avLst>
          </a:prstGeom>
          <a:solidFill>
            <a:srgbClr val="1E3A5F"/>
          </a:solidFill>
          <a:ln w="6350">
            <a:solidFill>
              <a:srgbClr val="3753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63411" y="4738588"/>
            <a:ext cx="159837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968353" y="4635103"/>
            <a:ext cx="2995736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L4 — Action &amp; Learning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68353" y="4893667"/>
            <a:ext cx="299573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FGSV (KS-gated shadow) → HITL → Reconciliation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61252" y="1490960"/>
            <a:ext cx="4204785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Five Governance Planes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1252" y="1758454"/>
            <a:ext cx="4204785" cy="646708"/>
          </a:xfrm>
          <a:prstGeom prst="roundRect">
            <a:avLst>
              <a:gd name="adj" fmla="val 7383"/>
            </a:avLst>
          </a:prstGeom>
          <a:solidFill>
            <a:srgbClr val="F0F4F8"/>
          </a:solidFill>
          <a:ln w="6350">
            <a:solidFill>
              <a:srgbClr val="D6DA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81204" y="1878409"/>
            <a:ext cx="3964880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Plane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81204" y="2136973"/>
            <a:ext cx="396488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Telemetry ingress &amp; evidence-graph construction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61252" y="2476698"/>
            <a:ext cx="4204785" cy="646708"/>
          </a:xfrm>
          <a:prstGeom prst="roundRect">
            <a:avLst>
              <a:gd name="adj" fmla="val 7383"/>
            </a:avLst>
          </a:prstGeom>
          <a:solidFill>
            <a:srgbClr val="F0F4F8"/>
          </a:solidFill>
          <a:ln w="6350">
            <a:solidFill>
              <a:srgbClr val="D6DA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81204" y="2596654"/>
            <a:ext cx="3964880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Reasoning Plane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481204" y="2855218"/>
            <a:ext cx="396488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D/G/L peer pipelines — independent, parallel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61252" y="3194943"/>
            <a:ext cx="4204785" cy="646708"/>
          </a:xfrm>
          <a:prstGeom prst="roundRect">
            <a:avLst>
              <a:gd name="adj" fmla="val 7383"/>
            </a:avLst>
          </a:prstGeom>
          <a:solidFill>
            <a:srgbClr val="F0F4F8"/>
          </a:solidFill>
          <a:ln w="6350">
            <a:solidFill>
              <a:srgbClr val="D6DA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81204" y="3314898"/>
            <a:ext cx="3964880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Coordination Plane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81204" y="3573463"/>
            <a:ext cx="396488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Routing, consensus, Chain-of-Evidence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61252" y="3913188"/>
            <a:ext cx="4204785" cy="646708"/>
          </a:xfrm>
          <a:prstGeom prst="roundRect">
            <a:avLst>
              <a:gd name="adj" fmla="val 7383"/>
            </a:avLst>
          </a:prstGeom>
          <a:solidFill>
            <a:srgbClr val="F0F4F8"/>
          </a:solidFill>
          <a:ln w="6350">
            <a:solidFill>
              <a:srgbClr val="D6DA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81204" y="4033143"/>
            <a:ext cx="3964880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Learning Plane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81204" y="4291707"/>
            <a:ext cx="396488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Remediation, reconciliation, online updates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61252" y="4631432"/>
            <a:ext cx="4204785" cy="794941"/>
          </a:xfrm>
          <a:prstGeom prst="roundRect">
            <a:avLst>
              <a:gd name="adj" fmla="val 6007"/>
            </a:avLst>
          </a:prstGeom>
          <a:solidFill>
            <a:srgbClr val="1E3A5F"/>
          </a:solidFill>
          <a:ln w="6350">
            <a:solidFill>
              <a:srgbClr val="3753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81204" y="4751388"/>
            <a:ext cx="3964880" cy="187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★ Evaluation Plane — C1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481204" y="5009952"/>
            <a:ext cx="396488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Spans all five layers · Enforces variant identity at binary level · Implements C1 apparatus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1908" y="5587305"/>
            <a:ext cx="10927878" cy="340916"/>
          </a:xfrm>
          <a:prstGeom prst="roundRect">
            <a:avLst>
              <a:gd name="adj" fmla="val 14006"/>
            </a:avLst>
          </a:prstGeom>
          <a:solidFill>
            <a:srgbClr val="B6D6FC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511" y="5689402"/>
            <a:ext cx="142078" cy="113605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001191" y="5687219"/>
            <a:ext cx="1105457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Incident path: Fault fires → L0 detects → L1 builds causal graph → L2 three pipelines reason in parallel → L3 consensus + CoE → L4 shadow-validated remediation → SRE decision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31908" y="6008688"/>
            <a:ext cx="10927878" cy="340916"/>
          </a:xfrm>
          <a:prstGeom prst="roundRect">
            <a:avLst>
              <a:gd name="adj" fmla="val 14006"/>
            </a:avLst>
          </a:prstGeom>
          <a:solidFill>
            <a:srgbClr val="D5DCF6"/>
          </a:solidFill>
          <a:ln/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11" y="6110784"/>
            <a:ext cx="142078" cy="113605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1001191" y="6108601"/>
            <a:ext cx="1105457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Structural commitment: Pipelines share no runtime state; any subset can be disabled by feature flag.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02754"/>
            <a:ext cx="1011808" cy="178098"/>
          </a:xfrm>
          <a:prstGeom prst="roundRect">
            <a:avLst>
              <a:gd name="adj" fmla="val 22140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637877"/>
            <a:ext cx="1480704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ARTEFACT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811312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Peer-Pipeline Insight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1908" y="1311771"/>
            <a:ext cx="1153746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 novelty — three reasoning paradigms on identical inputs, ablation-first by design.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7376" y="1552377"/>
            <a:ext cx="5489835" cy="4258866"/>
          </a:xfrm>
          <a:prstGeom prst="roundRect">
            <a:avLst>
              <a:gd name="adj" fmla="val 1984"/>
            </a:avLst>
          </a:prstGeom>
          <a:solidFill>
            <a:srgbClr val="F0F4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285" y="1973759"/>
            <a:ext cx="3415917" cy="34160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5366" y="1628577"/>
            <a:ext cx="532077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Makes This Novel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5366" y="1897757"/>
            <a:ext cx="532077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three pipelines receive the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identical content-hashed UEG-C snapshot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ensuring fair co-evaluation and enabling mechanistic ablation.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45366" y="2283718"/>
            <a:ext cx="532077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Each Pipeline Passes to MAHC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66" y="2562423"/>
          <a:ext cx="9143771" cy="914400"/>
        </p:xfrm>
        <a:graphic>
          <a:graphicData uri="http://schemas.openxmlformats.org/drawingml/2006/table">
            <a:tbl>
              <a:tblPr/>
              <a:tblGrid>
                <a:gridCol w="2394347"/>
                <a:gridCol w="2926424"/>
              </a:tblGrid>
              <a:tr h="262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Pipeline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Output Passed to MAHC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654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D-pipe — Deterministic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ranked candidates · μ · σ · cost · latency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654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G-pipe — Graph-ML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ranked candidates · μ · σ · cost · latency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4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L-pipe — LLM Multi-Agent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ranked candidates · μ · σ · cost · latency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7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MAHC Fusion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Cost-aware arbitration → consensus ranking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245366" y="4136430"/>
            <a:ext cx="532077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Versus Comparators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2667" y="4402435"/>
            <a:ext cx="2625362" cy="6043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88039" y="4415135"/>
            <a:ext cx="2469989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mABC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88039" y="4684316"/>
            <a:ext cx="2469989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Scalar weights — no peer isolation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0676" y="4402435"/>
            <a:ext cx="2625461" cy="60434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6048" y="4415135"/>
            <a:ext cx="2470088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TAMO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096048" y="4684316"/>
            <a:ext cx="2470088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Single synthesiser — no pipeline separation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2667" y="5133876"/>
            <a:ext cx="2625362" cy="6043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88039" y="5146576"/>
            <a:ext cx="2469989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Flow-of-Action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388039" y="5415756"/>
            <a:ext cx="2469989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Sequential cascade — order-dependent bias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0676" y="5133876"/>
            <a:ext cx="2625461" cy="60434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096048" y="5146576"/>
            <a:ext cx="2470088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CHASE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9096048" y="5415756"/>
            <a:ext cx="2470088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Single-mode hypergraph — no multimodal peer reasoning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631908" y="5896967"/>
            <a:ext cx="10927878" cy="358180"/>
          </a:xfrm>
          <a:prstGeom prst="roundRect">
            <a:avLst>
              <a:gd name="adj" fmla="val 13761"/>
            </a:avLst>
          </a:prstGeom>
          <a:solidFill>
            <a:srgbClr val="D5DCF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182" y="6007695"/>
            <a:ext cx="146642" cy="11727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13097" y="6002437"/>
            <a:ext cx="1103900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novelty is not any single reasoning modality. It is the structural commitment to co-deploy all three under identical inputs with cost-aware arbitration.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11373"/>
            <a:ext cx="1131661" cy="199231"/>
          </a:xfrm>
          <a:prstGeom prst="roundRect">
            <a:avLst>
              <a:gd name="adj" fmla="val 22123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10587" y="550664"/>
            <a:ext cx="1583889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ARTEFACT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1908" y="748705"/>
            <a:ext cx="10927878" cy="431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C2 — UEG-C with Cognitive Nodes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1908" y="1322983"/>
            <a:ext cx="11537463" cy="181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Four typed edge classes admit cross-domain composition queries across infrastructure, service, KPI, and cognitive-agentic tiers.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7455" y="1611313"/>
            <a:ext cx="5492811" cy="4137223"/>
          </a:xfrm>
          <a:prstGeom prst="roundRect">
            <a:avLst>
              <a:gd name="adj" fmla="val 2283"/>
            </a:avLst>
          </a:prstGeom>
          <a:solidFill>
            <a:srgbClr val="F0F4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454" y="1718469"/>
            <a:ext cx="3922813" cy="39229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2233" y="2357636"/>
            <a:ext cx="5303903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Structural &amp; Integration Claim → Confirmatory · A-H8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62233" y="2668687"/>
            <a:ext cx="5303903" cy="36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Typed-edge composition rules + Agent-Reasoning-Step nodes + subgraph-aware training discipline (HELIOS-noStructural ablation).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2233" y="3126284"/>
            <a:ext cx="5303903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Cognitive-Agentic Claim → Exploratory · E-H1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62233" y="3437334"/>
            <a:ext cx="5303903" cy="61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Tier 4 corpus: n = 12</a:t>
            </a:r>
            <a:endParaRPr lang="en-US" sz="1000" dirty="0"/>
          </a:p>
          <a:p>
            <a:pPr algn="l" marL="203200" indent="-2032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Confirmatory statistical minimum: 73 faults</a:t>
            </a:r>
            <a:endParaRPr lang="en-US" sz="1000" dirty="0"/>
          </a:p>
          <a:p>
            <a:pPr algn="l" marL="203200" indent="-2032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Current evidence is therefore underpowered for confirmatory inference.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2233" y="4142780"/>
            <a:ext cx="5303903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Path to confirmatory status: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62233" y="4453830"/>
            <a:ext cx="5303903" cy="61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Externally constructed cognitive-agentic fault corpus</a:t>
            </a:r>
            <a:endParaRPr lang="en-US" sz="1000" dirty="0"/>
          </a:p>
          <a:p>
            <a:pPr algn="l" marL="203200" indent="-2032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Non-AIOpsLab substrate</a:t>
            </a:r>
            <a:endParaRPr lang="en-US" sz="1000" dirty="0"/>
          </a:p>
          <a:p>
            <a:pPr algn="l" marL="203200" indent="-2032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Disciplined scoping, not a defect.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1908" y="5855692"/>
            <a:ext cx="2660484" cy="490835"/>
          </a:xfrm>
          <a:prstGeom prst="roundRect">
            <a:avLst>
              <a:gd name="adj" fmla="val 11225"/>
            </a:avLst>
          </a:prstGeom>
          <a:solidFill>
            <a:srgbClr val="1E3A5F"/>
          </a:solidFill>
          <a:ln w="6350">
            <a:solidFill>
              <a:srgbClr val="3753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9422" y="5993209"/>
            <a:ext cx="238545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Structural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387640" y="5855692"/>
            <a:ext cx="2660583" cy="490835"/>
          </a:xfrm>
          <a:prstGeom prst="roundRect">
            <a:avLst>
              <a:gd name="adj" fmla="val 11225"/>
            </a:avLst>
          </a:prstGeom>
          <a:solidFill>
            <a:srgbClr val="2E5F8A"/>
          </a:solidFill>
          <a:ln w="6350">
            <a:solidFill>
              <a:srgbClr val="4778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5154" y="5993209"/>
            <a:ext cx="2385556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Behavioural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143471" y="5855692"/>
            <a:ext cx="2660484" cy="490835"/>
          </a:xfrm>
          <a:prstGeom prst="roundRect">
            <a:avLst>
              <a:gd name="adj" fmla="val 11225"/>
            </a:avLst>
          </a:prstGeom>
          <a:solidFill>
            <a:srgbClr val="DCE8F5"/>
          </a:solidFill>
          <a:ln w="6350">
            <a:solidFill>
              <a:srgbClr val="C2CE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80985" y="5993209"/>
            <a:ext cx="2385457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Causal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899203" y="5855692"/>
            <a:ext cx="2660583" cy="490835"/>
          </a:xfrm>
          <a:prstGeom prst="roundRect">
            <a:avLst>
              <a:gd name="adj" fmla="val 11225"/>
            </a:avLst>
          </a:prstGeom>
          <a:solidFill>
            <a:srgbClr val="F0F4F8"/>
          </a:solidFill>
          <a:ln w="6350">
            <a:solidFill>
              <a:srgbClr val="D6DA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36717" y="5993209"/>
            <a:ext cx="2385556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Economic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74291"/>
            <a:ext cx="1011808" cy="178098"/>
          </a:xfrm>
          <a:prstGeom prst="roundRect">
            <a:avLst>
              <a:gd name="adj" fmla="val 22140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709414"/>
            <a:ext cx="1480704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ARTEFACT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882848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Six Contributions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1908" y="1383308"/>
            <a:ext cx="1153746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Classified, comparator-anchored, evidentially statused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623913"/>
          <a:ext cx="9143771" cy="914400"/>
        </p:xfrm>
        <a:graphic>
          <a:graphicData uri="http://schemas.openxmlformats.org/drawingml/2006/table">
            <a:tbl>
              <a:tblPr/>
              <a:tblGrid>
                <a:gridCol w="2404133"/>
                <a:gridCol w="1967018"/>
                <a:gridCol w="1967018"/>
                <a:gridCol w="1967018"/>
                <a:gridCol w="2622691"/>
              </a:tblGrid>
              <a:tr h="262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Contribution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Type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Comparator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Status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Hypotheses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654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C1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Runtime-enforced DSR rigour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Methodological-discipline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—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Descriptive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—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654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C2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UEG-C with cognitive nodes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Constructs &amp; models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CHASE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Confirmatory + Exploratory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A-H8 / E-H1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C3′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FGSV: fidelity-gated shadow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Evaluation-infrastructure-discipline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Istio traffic mirroring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Exploratory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E-H4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654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C4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MAHC (μ, σ) consensus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Method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mABC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Confirmatory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A-H4 + A-H7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C5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IOL meta-observability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Architectural-pattern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Prometheus self-scrape · Datadog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Exploratory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E-H6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62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C6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— ORAR cost-aware routing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Method (cross-field transfer)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FrugalGPT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Confirmatory + Exploratory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A-H5 / E-H5</a:t>
                      </a:r>
                      <a:endParaRPr lang="en-US" sz="9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17356" marR="11735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1908" y="3912295"/>
            <a:ext cx="1092787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5 Transferable Design Principles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209" y="4322763"/>
            <a:ext cx="2673085" cy="8836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4581" y="4335463"/>
            <a:ext cx="2517712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Pipeline Independence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4581" y="4574183"/>
            <a:ext cx="2517712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structural commitment that admits causal identifiability across reasoning paradigms — D/G/L share no runtime state.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4941" y="4322763"/>
            <a:ext cx="2673184" cy="8836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30313" y="4335463"/>
            <a:ext cx="2517811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Ablation-First Design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30313" y="4574183"/>
            <a:ext cx="2517811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Every claimed contribution must be feature-flag-toggleable from a single binary.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0772" y="4322763"/>
            <a:ext cx="2673184" cy="8836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86144" y="4335463"/>
            <a:ext cx="2517811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Bounded Reproducibility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86144" y="4574183"/>
            <a:ext cx="2517811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Protocol-level reproducibility framing for LLM-based research artefacts under explicitly disclosed determinism conditions.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6603" y="4322763"/>
            <a:ext cx="2673184" cy="88364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41975" y="4335463"/>
            <a:ext cx="2517811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Separation of Diagnosis from Action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041975" y="4767163"/>
            <a:ext cx="2517811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Decision quality and action safety evaluated as distinct constructs.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209" y="5333504"/>
            <a:ext cx="10940578" cy="41900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74581" y="5346204"/>
            <a:ext cx="10785205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Failure-as-Covariate Discipline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774581" y="5584924"/>
            <a:ext cx="1078520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Every failure mode (sampling downgrade, pipeline unavailability, consensus non-convergence, etc.) becomes a first-class observable — not a silent fallback.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631908" y="5825530"/>
            <a:ext cx="10927878" cy="358180"/>
          </a:xfrm>
          <a:prstGeom prst="roundRect">
            <a:avLst>
              <a:gd name="adj" fmla="val 13761"/>
            </a:avLst>
          </a:prstGeom>
          <a:solidFill>
            <a:srgbClr val="D5DCF6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182" y="5936258"/>
            <a:ext cx="146642" cy="11727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13097" y="5930999"/>
            <a:ext cx="1103900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Additional transferable outputs: Asymmetric inferential rule · OSF evaluation template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78656"/>
            <a:ext cx="1402323" cy="246856"/>
          </a:xfrm>
          <a:prstGeom prst="roundRect">
            <a:avLst>
              <a:gd name="adj" fmla="val 22117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727373"/>
            <a:ext cx="181704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HELIOS ARTEFACT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983952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Five-Pillar Telemetry Strategy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737717"/>
            <a:ext cx="10927878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Canonical three pillars extended with cognitive (P4) and business (P5) signals — all unified under UEG-C with formal composition rules across all five signal classes.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1908" y="2396133"/>
            <a:ext cx="3545196" cy="1433314"/>
          </a:xfrm>
          <a:prstGeom prst="roundRect">
            <a:avLst>
              <a:gd name="adj" fmla="val 47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675" y="2564904"/>
            <a:ext cx="3207662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P1 · Metrics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0675" y="2919809"/>
            <a:ext cx="3207662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2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Canonical</a:t>
            </a:r>
            <a:endParaRPr lang="en-US" sz="1250" dirty="0"/>
          </a:p>
          <a:p>
            <a:pPr algn="ctr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Prometheus · OTEL counters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3250" y="2396133"/>
            <a:ext cx="3545196" cy="1433314"/>
          </a:xfrm>
          <a:prstGeom prst="roundRect">
            <a:avLst>
              <a:gd name="adj" fmla="val 47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2017" y="2564904"/>
            <a:ext cx="3207662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P2 · Traces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492017" y="2919809"/>
            <a:ext cx="3207662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2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Canonical</a:t>
            </a:r>
            <a:endParaRPr lang="en-US" sz="1250" dirty="0"/>
          </a:p>
          <a:p>
            <a:pPr algn="ctr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Jaeger · OTEL distributed traces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4591" y="2396133"/>
            <a:ext cx="3545196" cy="1433314"/>
          </a:xfrm>
          <a:prstGeom prst="roundRect">
            <a:avLst>
              <a:gd name="adj" fmla="val 47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358" y="2564904"/>
            <a:ext cx="3207662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P3 · Logs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83358" y="2919809"/>
            <a:ext cx="3207662" cy="74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2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Canonical</a:t>
            </a:r>
            <a:endParaRPr lang="en-US" sz="1250" dirty="0"/>
          </a:p>
          <a:p>
            <a:pPr algn="ctr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Drain3 templates · LogEDL evidential vacuity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908" y="3975596"/>
            <a:ext cx="5390817" cy="1433314"/>
          </a:xfrm>
          <a:prstGeom prst="roundRect">
            <a:avLst>
              <a:gd name="adj" fmla="val 4761"/>
            </a:avLst>
          </a:prstGeom>
          <a:solidFill>
            <a:srgbClr val="D3DCF6"/>
          </a:solidFill>
          <a:ln w="6350">
            <a:solidFill>
              <a:srgbClr val="B9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75" y="4144367"/>
            <a:ext cx="5053283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P4 · Cognitive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00675" y="4499273"/>
            <a:ext cx="5053283" cy="74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Extension</a:t>
            </a:r>
            <a:endParaRPr lang="en-US" sz="1250" dirty="0"/>
          </a:p>
          <a:p>
            <a:pPr algn="ctr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Agent reasoning steps · tool-call schema · goal-drift · loop-depth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68871" y="3975596"/>
            <a:ext cx="5390916" cy="1433314"/>
          </a:xfrm>
          <a:prstGeom prst="roundRect">
            <a:avLst>
              <a:gd name="adj" fmla="val 4761"/>
            </a:avLst>
          </a:prstGeom>
          <a:solidFill>
            <a:srgbClr val="D3DCF6"/>
          </a:solidFill>
          <a:ln w="6350">
            <a:solidFill>
              <a:srgbClr val="B9C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7638" y="4144367"/>
            <a:ext cx="5053382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P5 · Business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37638" y="4499273"/>
            <a:ext cx="5053382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Extension</a:t>
            </a:r>
            <a:endParaRPr lang="en-US" sz="1250" dirty="0"/>
          </a:p>
          <a:p>
            <a:pPr algn="ctr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Transaction revenue · SLO penalties · service-class tier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1908" y="5573415"/>
            <a:ext cx="10927878" cy="605830"/>
          </a:xfrm>
          <a:prstGeom prst="roundRect">
            <a:avLst>
              <a:gd name="adj" fmla="val 11265"/>
            </a:avLst>
          </a:prstGeom>
          <a:solidFill>
            <a:srgbClr val="D5DCF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25" y="5783064"/>
            <a:ext cx="203096" cy="16242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59838" y="5760145"/>
            <a:ext cx="10847116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Five-pillar extension is conceptual-architectural — not an ontological claim that P4 / P5 must constitute separate pillars.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87884"/>
            <a:ext cx="759997" cy="178098"/>
          </a:xfrm>
          <a:prstGeom prst="roundRect">
            <a:avLst>
              <a:gd name="adj" fmla="val 22140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723007"/>
            <a:ext cx="1228893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896441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Evaluation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1908" y="1396901"/>
            <a:ext cx="1153746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Pre-registered, ablation-first, controlled comparative experiment.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9913" y="1723231"/>
            <a:ext cx="12700" cy="3917156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7" name="Shape 5"/>
          <p:cNvSpPr/>
          <p:nvPr/>
        </p:nvSpPr>
        <p:spPr>
          <a:xfrm>
            <a:off x="707214" y="2129929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8" name="Shape 6"/>
          <p:cNvSpPr/>
          <p:nvPr/>
        </p:nvSpPr>
        <p:spPr>
          <a:xfrm>
            <a:off x="675911" y="2092275"/>
            <a:ext cx="88005" cy="88007"/>
          </a:xfrm>
          <a:prstGeom prst="ellipse">
            <a:avLst/>
          </a:prstGeom>
          <a:solidFill>
            <a:srgbClr val="1A2D7A"/>
          </a:solidFill>
          <a:ln/>
        </p:spPr>
      </p:sp>
      <p:sp>
        <p:nvSpPr>
          <p:cNvPr id="9" name="Shape 7"/>
          <p:cNvSpPr/>
          <p:nvPr/>
        </p:nvSpPr>
        <p:spPr>
          <a:xfrm>
            <a:off x="1071933" y="1723231"/>
            <a:ext cx="4992860" cy="826195"/>
          </a:xfrm>
          <a:prstGeom prst="roundRect">
            <a:avLst>
              <a:gd name="adj" fmla="val 5966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5556" y="1846858"/>
            <a:ext cx="474561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Corpus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5556" y="2116038"/>
            <a:ext cx="474561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 benchmarks · 174-fault confirmatory corpus · AIOpsLab concentration ~76% — scope condition · 4-tier structure · 16,000 ablation runs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7214" y="3108623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911" y="3070969"/>
            <a:ext cx="88005" cy="88007"/>
          </a:xfrm>
          <a:prstGeom prst="ellipse">
            <a:avLst/>
          </a:prstGeom>
          <a:solidFill>
            <a:srgbClr val="1A2D7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1933" y="2701925"/>
            <a:ext cx="4992860" cy="826195"/>
          </a:xfrm>
          <a:prstGeom prst="roundRect">
            <a:avLst>
              <a:gd name="adj" fmla="val 5966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5556" y="2825552"/>
            <a:ext cx="474561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Baselines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5556" y="3094732"/>
            <a:ext cx="474561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 priority-ranked AIOps systems · B-H1…B-H5: paired binary HR@3 (McNemar exact) · B-H6 log-MTTR · B-H7 log-Cost · B-H8 Avg@5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7214" y="4087316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911" y="4049663"/>
            <a:ext cx="88005" cy="88007"/>
          </a:xfrm>
          <a:prstGeom prst="ellipse">
            <a:avLst/>
          </a:prstGeom>
          <a:solidFill>
            <a:srgbClr val="1A2D7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1933" y="3680619"/>
            <a:ext cx="4992860" cy="826195"/>
          </a:xfrm>
          <a:prstGeom prst="roundRect">
            <a:avLst>
              <a:gd name="adj" fmla="val 5966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5556" y="3804245"/>
            <a:ext cx="474561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Primary Metrics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95556" y="4073426"/>
            <a:ext cx="474561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HR@3 — binding accuracy metric · log-MTTR · Cost-per-Resolution (5-component) · Time-to-Triage · Hallucination (H_struct, H_fact)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7214" y="5143500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23" name="Shape 21"/>
          <p:cNvSpPr/>
          <p:nvPr/>
        </p:nvSpPr>
        <p:spPr>
          <a:xfrm>
            <a:off x="675911" y="5105846"/>
            <a:ext cx="88005" cy="88007"/>
          </a:xfrm>
          <a:prstGeom prst="ellipse">
            <a:avLst/>
          </a:prstGeom>
          <a:solidFill>
            <a:srgbClr val="1A2D7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1933" y="4659313"/>
            <a:ext cx="4992860" cy="981075"/>
          </a:xfrm>
          <a:prstGeom prst="roundRect">
            <a:avLst>
              <a:gd name="adj" fmla="val 502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95556" y="4782939"/>
            <a:ext cx="474561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Statistical Commitments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5556" y="5052120"/>
            <a:ext cx="4745613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Paired Wilcoxon binding · McNemar paired-binary · Holm–Bonferroni separately within A &amp; B families · Min-detectable: Cohen's h ≥ 0.276 → 13 pp HR@3 · BCa bootstrap CI · Pre-registration with deviation log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7481" y="1713706"/>
            <a:ext cx="5208556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4-Tier Corpus Structure</a:t>
            </a:r>
            <a:endParaRPr lang="en-US" sz="12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7481" y="1992412"/>
            <a:ext cx="5208556" cy="83889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13647" y="2301875"/>
            <a:ext cx="17601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915771" y="2122388"/>
            <a:ext cx="45202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Tier 1 — AIOpsLab (Seeded)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15771" y="2391569"/>
            <a:ext cx="452029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Multiple seeded replicates per fault · Bulk confirmatory corpus · GLMM sensitivity check for pseudoreplication risk</a:t>
            </a:r>
            <a:endParaRPr lang="en-US" sz="9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7481" y="2907506"/>
            <a:ext cx="5208556" cy="7040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513647" y="3149501"/>
            <a:ext cx="17601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6915771" y="3037483"/>
            <a:ext cx="45202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Tier 2 — AIOpsLab (Parametric)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915771" y="3306663"/>
            <a:ext cx="45202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Parametric extension · Confirmatory · One observation per fault</a:t>
            </a:r>
            <a:endParaRPr lang="en-US" sz="9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7481" y="3687762"/>
            <a:ext cx="5208556" cy="83889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513647" y="3997226"/>
            <a:ext cx="17601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6915771" y="3817739"/>
            <a:ext cx="4520293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Tier 3 — External Benchmarks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915771" y="4086920"/>
            <a:ext cx="452029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Train-Ticket + DeathStarBench under ChaosBlade injection · External-validity probe, not confirmatory</a:t>
            </a:r>
            <a:endParaRPr lang="en-US" sz="9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7481" y="4602857"/>
            <a:ext cx="5208556" cy="84524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513647" y="4915495"/>
            <a:ext cx="17601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6915771" y="4732834"/>
            <a:ext cx="4520293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Tier 4 — Cognitive-Agentic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915771" y="5008364"/>
            <a:ext cx="452029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Synthetic NIKA-style faults on AIOpsLab · n=12 · Underpowered (below 73-fault minimum) · E-H1 demoted to exploratory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31908" y="5811838"/>
            <a:ext cx="10927878" cy="358180"/>
          </a:xfrm>
          <a:prstGeom prst="roundRect">
            <a:avLst>
              <a:gd name="adj" fmla="val 13761"/>
            </a:avLst>
          </a:prstGeom>
          <a:solidFill>
            <a:srgbClr val="D5DCF6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182" y="5922566"/>
            <a:ext cx="146642" cy="117277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013097" y="5917307"/>
            <a:ext cx="1103900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Static-policy commitment: LinUCB &amp; ACP frozen at the pre-warmed state established prior to OSF freeze — preserves within-pair independence.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84398"/>
            <a:ext cx="1053379" cy="246856"/>
          </a:xfrm>
          <a:prstGeom prst="roundRect">
            <a:avLst>
              <a:gd name="adj" fmla="val 22117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633115"/>
            <a:ext cx="146810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889695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Primary vs. Secondary Data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643459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Secondary data evaluates the artefact — primary data validates the problem and its real-world value.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054920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4382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Data Type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Source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Purpose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Detail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Secondary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AIOpsLab, Train-Ticket, DeathStarBench + 2 more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Technical / quantitative evaluation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174-fault confirmatory corpus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Primary — Academic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Independent RCA / AIOps researcher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Validate the technical-novelty claim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 structured questions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Primary — Business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Industry / business stakeholder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Validate the business-value claim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 structured questions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85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Primary — Practitioner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SRE / microservice on-call engineer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Validate real-world relevance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 structured questions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2492" marR="162492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420717"/>
            <a:ext cx="10927878" cy="852785"/>
          </a:xfrm>
          <a:prstGeom prst="roundRect">
            <a:avLst>
              <a:gd name="adj" fmla="val 8003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25" y="5630366"/>
            <a:ext cx="203096" cy="1624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9838" y="5607447"/>
            <a:ext cx="10237531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Secondary data evaluates technical performance; primary data provides stakeholder evidence on relevance and perceived value — both are needed.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11200"/>
            <a:ext cx="936105" cy="219373"/>
          </a:xfrm>
          <a:prstGeom prst="roundRect">
            <a:avLst>
              <a:gd name="adj" fmla="val 22123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18524" y="754459"/>
            <a:ext cx="1372459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908" y="976709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1F1E1E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Business Evaluation Layer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1908" y="1625005"/>
            <a:ext cx="11537463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Technical RCA outcomes map to organisational value after go-live — not a second confirmatory family.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962944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3623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HELIOS measures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After deployment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Who sees it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Bound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73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HR@3 / Avg@5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Fewer wrong first diagnoses; fewer repeat incidents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SRE / Incident commander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A-H1–4,6,8; B-H1–5,8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log-MTTR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Shorter impact; less SLO burn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Service owner / finance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B-H6 (confirmatory)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CpR / log-Cost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Lower incident cost (incl. LLM)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Platform owner / FinOps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A-H5, B-H7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573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TTT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Faster alert-to-cause hand-off; less on-call queueing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On-call rotation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B-H2 (exploratory)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Interpretation-trust · HITL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Act / escalate / reject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SRE, owner, reviewer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E-H7 user study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H_fact / H_struct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Fluent-but-wrong narrative risk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Risk / change-advisory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A-H7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5702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FGSV + HITL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No unsupervised production write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Engineering leadership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E-H4; Monitor Agent</a:t>
                      </a:r>
                      <a:endParaRPr lang="en-US" sz="11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44438" marR="144438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647333"/>
            <a:ext cx="10927878" cy="499467"/>
          </a:xfrm>
          <a:prstGeom prst="roundRect">
            <a:avLst>
              <a:gd name="adj" fmla="val 12146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68" y="5812135"/>
            <a:ext cx="180474" cy="1443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1102" y="5798840"/>
            <a:ext cx="10923910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Lab results may support cheaper / faster / more accurate. They do not invent a firm-level saving. Industrial replication is that last step.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86805"/>
            <a:ext cx="1002580" cy="233164"/>
          </a:xfrm>
          <a:prstGeom prst="roundRect">
            <a:avLst>
              <a:gd name="adj" fmla="val 22115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3981" y="832842"/>
            <a:ext cx="142802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1072059"/>
            <a:ext cx="10927878" cy="5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Theoretical &amp; Methodological Foundations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31908" y="1772444"/>
            <a:ext cx="1153746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DSR, philosophy, statistics, and the IT-business-value claim.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146300"/>
          <a:ext cx="9143771" cy="914400"/>
        </p:xfrm>
        <a:graphic>
          <a:graphicData uri="http://schemas.openxmlformats.org/drawingml/2006/table">
            <a:tbl>
              <a:tblPr/>
              <a:tblGrid>
                <a:gridCol w="2185576"/>
                <a:gridCol w="3278364"/>
                <a:gridCol w="3278364"/>
                <a:gridCol w="2185576"/>
              </a:tblGrid>
              <a:tr h="399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Category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Source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it supports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Year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DSR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Hevner, March, Park &amp; Ram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Design science in IS research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2004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DSR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Hevner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Three-cycle view of DSR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2007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DSR method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Peffers et al.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DSR methodology (IS)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2007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Contribution types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Gregor &amp; Hevner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DSR contribution types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2013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Philosophy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Mingers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Critical realism in IS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2004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Routing / cost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Chen, Zaharia &amp; Zou — FrugalGPT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LLM cost cascading (D6)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2023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99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Bandits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Li, Chu, Langford &amp; Schapire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LinUCB (DRAR substrate)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2010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519638"/>
            <a:ext cx="10927878" cy="551458"/>
          </a:xfrm>
          <a:prstGeom prst="roundRect">
            <a:avLst>
              <a:gd name="adj" fmla="val 11688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97" y="5706467"/>
            <a:ext cx="191785" cy="1533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0470" y="5688310"/>
            <a:ext cx="1088551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Author–year on slides; full APA 7 list is in the dissertation reference chapter.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73298"/>
            <a:ext cx="1002580" cy="233164"/>
          </a:xfrm>
          <a:prstGeom prst="roundRect">
            <a:avLst>
              <a:gd name="adj" fmla="val 22115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3981" y="719336"/>
            <a:ext cx="142802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958552"/>
            <a:ext cx="10927878" cy="5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Benchmarks, Comparators &amp; Prior RCA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31908" y="1658938"/>
            <a:ext cx="1153746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Datasets and systems that the evaluation and gap analysis rest on.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032794"/>
          <a:ext cx="9143771" cy="914400"/>
        </p:xfrm>
        <a:graphic>
          <a:graphicData uri="http://schemas.openxmlformats.org/drawingml/2006/table">
            <a:tbl>
              <a:tblPr/>
              <a:tblGrid>
                <a:gridCol w="2731970"/>
                <a:gridCol w="2731970"/>
                <a:gridCol w="2731970"/>
                <a:gridCol w="2731970"/>
              </a:tblGrid>
              <a:tr h="399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Category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Source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What it supports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Year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Benchmark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Chen et al. — AIOpsLab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Primary corpus (~76%)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2025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Benchmark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Gäri et al. — DeathStarBench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Tier 3 external-validity probe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2019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Benchmark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PetShop; OpsEval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Cross-benchmark probes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2024 / 2025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62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Comparator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Zhao et al. — CHASE; Yu et al. — Nezha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Graph / multimodal RCA (D1, C2)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2025 / 2023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Comparator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TAMO; mABC; Flow-of-Action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LLM / multi-agent RCA families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2025 / 2024 / 2025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402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Economics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Pham; Chakraborty; Soldani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Outage cost; failure survey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2024 / 2024 / 2023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  <a:tr h="399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Methods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BARO; Wang &amp; Qi RCA survey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Causal RCA; Ch. 2 synthesis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2024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53466" marR="153466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1908" y="5633244"/>
            <a:ext cx="10927878" cy="551458"/>
          </a:xfrm>
          <a:prstGeom prst="roundRect">
            <a:avLst>
              <a:gd name="adj" fmla="val 11688"/>
            </a:avLst>
          </a:prstGeom>
          <a:solidFill>
            <a:srgbClr val="D5D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97" y="5820073"/>
            <a:ext cx="191785" cy="1533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0470" y="5801916"/>
            <a:ext cx="10885513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Author–year on slides; full APA 7 list is in the dissertation reference chapter.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87102"/>
            <a:ext cx="985416" cy="246856"/>
          </a:xfrm>
          <a:prstGeom prst="roundRect">
            <a:avLst>
              <a:gd name="adj" fmla="val 22117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835819"/>
            <a:ext cx="140014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1092398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Validity Threats Acknowledged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846163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threat is a scope condition explicitly surfaced — not a flaw concealed.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1908" y="2257623"/>
            <a:ext cx="5390817" cy="1833563"/>
          </a:xfrm>
          <a:prstGeom prst="roundRect">
            <a:avLst>
              <a:gd name="adj" fmla="val 3722"/>
            </a:avLst>
          </a:prstGeom>
          <a:solidFill>
            <a:srgbClr val="E8F0FB"/>
          </a:solidFill>
          <a:ln w="6350">
            <a:solidFill>
              <a:srgbClr val="CED6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675" y="2426395"/>
            <a:ext cx="5053283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Internal Validity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0675" y="2781300"/>
            <a:ext cx="5053283" cy="114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Input drift → Snapshot Hash Registry (C1)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Cross-incident learning → STATIC-POLICY freeze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Hallucination → 3-layer (P4 → Sentinel → MAHC)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Threat 8 (pre-warming) — bounded, not dissolved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8871" y="2257623"/>
            <a:ext cx="5390916" cy="1833563"/>
          </a:xfrm>
          <a:prstGeom prst="roundRect">
            <a:avLst>
              <a:gd name="adj" fmla="val 3722"/>
            </a:avLst>
          </a:prstGeom>
          <a:solidFill>
            <a:srgbClr val="F0F8E8"/>
          </a:solidFill>
          <a:ln w="6350">
            <a:solidFill>
              <a:srgbClr val="D6DE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7638" y="2426395"/>
            <a:ext cx="5053382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Construct Validity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37638" y="2781300"/>
            <a:ext cx="5053382" cy="1090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FAE-Score judges → 3-judge ensemble + 10% human anchor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SRE Likert trust bias → triangulated with HITL counter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Tier 4 NIKA → motivates E-H1 exploratory demotion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1908" y="4237335"/>
            <a:ext cx="5390817" cy="1833563"/>
          </a:xfrm>
          <a:prstGeom prst="roundRect">
            <a:avLst>
              <a:gd name="adj" fmla="val 3722"/>
            </a:avLst>
          </a:prstGeom>
          <a:solidFill>
            <a:srgbClr val="FFF8E1"/>
          </a:solidFill>
          <a:ln w="6350">
            <a:solidFill>
              <a:srgbClr val="E5DE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675" y="4406106"/>
            <a:ext cx="5053283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External Validity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00675" y="4761012"/>
            <a:ext cx="5053283" cy="1090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Confirmatory bounded to AIOpsLab + parametric extension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Tiers 3–4 are external-validity probes only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Industrial replication = priority follow-on (§3.11.5)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68871" y="4237335"/>
            <a:ext cx="5390916" cy="1833563"/>
          </a:xfrm>
          <a:prstGeom prst="roundRect">
            <a:avLst>
              <a:gd name="adj" fmla="val 3722"/>
            </a:avLst>
          </a:prstGeom>
          <a:solidFill>
            <a:srgbClr val="DBEAFE"/>
          </a:solidFill>
          <a:ln w="6350">
            <a:solidFill>
              <a:srgbClr val="C1D0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7638" y="4406106"/>
            <a:ext cx="5053382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Statistical Validity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37638" y="4761012"/>
            <a:ext cx="5053382" cy="114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FWER per family · Min-detectable-effect framing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BCa bootstrap CI per cell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Pre-registration with deviation log as binding instrument</a:t>
            </a:r>
            <a:endParaRPr lang="en-US" sz="1250" dirty="0"/>
          </a:p>
          <a:p>
            <a:pPr algn="l" marL="254000" indent="-2540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Asymmetric rule for A-H4, A-H8 (rejection = support)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06028"/>
            <a:ext cx="820717" cy="205680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13067" y="646609"/>
            <a:ext cx="1267984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OUTCOMES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852289"/>
            <a:ext cx="10927878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Risks, Mitigations &amp; Contributions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1908" y="1450082"/>
            <a:ext cx="1153746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Risks acknowledged; contributions stratified across academic, industrial, methodological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1908" y="1855391"/>
            <a:ext cx="5298744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Early-Stage Risks → Mitigations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2192338"/>
          <a:ext cx="9143771" cy="914400"/>
        </p:xfrm>
        <a:graphic>
          <a:graphicData uri="http://schemas.openxmlformats.org/drawingml/2006/table">
            <a:tbl>
              <a:tblPr/>
              <a:tblGrid>
                <a:gridCol w="2649372"/>
                <a:gridCol w="2649372"/>
              </a:tblGrid>
              <a:tr h="327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Risk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Mitigation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096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LLM hallucination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P4 telemetry → Cognitive Sentinel → MAHC entropy regulariser → HITL escalation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20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Data quality / concept drift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Metric integrity gate · Exclusion ledger · ORAR drift mitigation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96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Scalability beyond 100 services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Explicit scope; 500–5000-service scaling = separate pre-registered experiment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096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Multimodal integration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UEG-C typed-edge composition · Subgraph-aware training under identical pruning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5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Evaluation bias / no ground truth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Pre-registered seed register · SHA-256 corpus · Independent-rater protocols</a:t>
                      </a:r>
                      <a:endParaRPr lang="en-US" sz="10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5410" marR="135410" marT="6350" marB="6350" anchor="ctr">
                    <a:lnL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7392" y="1855391"/>
            <a:ext cx="5298744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Contributions · Three Layers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7392" y="2192338"/>
            <a:ext cx="5298744" cy="1247477"/>
          </a:xfrm>
          <a:prstGeom prst="roundRect">
            <a:avLst>
              <a:gd name="adj" fmla="val 455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9073" y="2334022"/>
            <a:ext cx="5015382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Academic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9073" y="2658269"/>
            <a:ext cx="5015382" cy="63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6 contributions in Gregor &amp; Hevner (2013) taxonomy</a:t>
            </a:r>
            <a:endParaRPr lang="en-US" sz="1050" dirty="0"/>
          </a:p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 transferable design principles</a:t>
            </a:r>
            <a:endParaRPr lang="en-US" sz="1050" dirty="0"/>
          </a:p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Asymmetric inferential rule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7392" y="3541316"/>
            <a:ext cx="5298744" cy="1247477"/>
          </a:xfrm>
          <a:prstGeom prst="roundRect">
            <a:avLst>
              <a:gd name="adj" fmla="val 455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073" y="3683000"/>
            <a:ext cx="5015382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Industrial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9073" y="4007247"/>
            <a:ext cx="5015382" cy="63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MTTR &amp; CpR evaluation targets</a:t>
            </a:r>
            <a:endParaRPr lang="en-US" sz="1050" dirty="0"/>
          </a:p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FGSV + HITL + ARM safety patterns</a:t>
            </a:r>
            <a:endParaRPr lang="en-US" sz="1050" dirty="0"/>
          </a:p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Runtime-enforcement apparatus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7392" y="4890294"/>
            <a:ext cx="5298744" cy="1247477"/>
          </a:xfrm>
          <a:prstGeom prst="roundRect">
            <a:avLst>
              <a:gd name="adj" fmla="val 455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9073" y="5031978"/>
            <a:ext cx="5015382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Methodological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9073" y="5356225"/>
            <a:ext cx="5015382" cy="63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Pre-registration as runtime invariant (C1)</a:t>
            </a:r>
            <a:endParaRPr lang="en-US" sz="1050" dirty="0"/>
          </a:p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Potential transfer to AIOps research-method practice</a:t>
            </a:r>
            <a:endParaRPr lang="en-US" sz="1050" dirty="0"/>
          </a:p>
          <a:p>
            <a:pPr algn="l" marL="213360" indent="-213360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Broader DSR transferability identified as future research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19807"/>
            <a:ext cx="710984" cy="178098"/>
          </a:xfrm>
          <a:prstGeom prst="roundRect">
            <a:avLst>
              <a:gd name="adj" fmla="val 22140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554930"/>
            <a:ext cx="1179880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OUTCOMES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728365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Timeline to Viva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1908" y="1228824"/>
            <a:ext cx="1153746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Six milestones — largest schedule risk lies in the confirmatory ablation runs.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9498" y="1469430"/>
            <a:ext cx="12700" cy="3864372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7" name="Shape 5"/>
          <p:cNvSpPr/>
          <p:nvPr/>
        </p:nvSpPr>
        <p:spPr>
          <a:xfrm>
            <a:off x="5624521" y="1595041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8" name="Shape 6"/>
          <p:cNvSpPr/>
          <p:nvPr/>
        </p:nvSpPr>
        <p:spPr>
          <a:xfrm>
            <a:off x="5963840" y="1469430"/>
            <a:ext cx="264014" cy="2640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3180" y="1485602"/>
            <a:ext cx="18523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1908" y="1509713"/>
            <a:ext cx="487717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Pre-Warming (LinUCB/ACP)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1908" y="1748433"/>
            <a:ext cx="487717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(</a:t>
            </a:r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1,200-incident synthetic corpus · freezes routing parameters prior to freeze</a:t>
            </a:r>
            <a:pPr algn="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5155" y="2216944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5963840" y="2091333"/>
            <a:ext cx="264014" cy="2640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3180" y="2107505"/>
            <a:ext cx="18523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82613" y="2131616"/>
            <a:ext cx="487717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OSF Pre-Registration Freeze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82613" y="2370336"/>
            <a:ext cx="487717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Imminent · locks pre-warmed state + protocol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4521" y="2782689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63840" y="2657078"/>
            <a:ext cx="264014" cy="2640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3180" y="2673251"/>
            <a:ext cx="18523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1908" y="2697361"/>
            <a:ext cx="487717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Confirmatory Ablation Runs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908" y="2936081"/>
            <a:ext cx="487717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16,000 runs · static-policy (frozen LinUCB/ACP)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5155" y="3348534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963840" y="3222923"/>
            <a:ext cx="264014" cy="2640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3180" y="3239095"/>
            <a:ext cx="18523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82613" y="3263205"/>
            <a:ext cx="487717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Baseline-Comparison Runs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82613" y="3501926"/>
            <a:ext cx="487717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174 × 5 systems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4521" y="3914378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28" name="Shape 26"/>
          <p:cNvSpPr/>
          <p:nvPr/>
        </p:nvSpPr>
        <p:spPr>
          <a:xfrm>
            <a:off x="5963840" y="3788767"/>
            <a:ext cx="264014" cy="2640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3180" y="3804940"/>
            <a:ext cx="18523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31908" y="3829050"/>
            <a:ext cx="487717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User Study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908" y="4067770"/>
            <a:ext cx="487717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IRB · counterbalanced within-subjects · n = 24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5155" y="4480223"/>
            <a:ext cx="352019" cy="12700"/>
          </a:xfrm>
          <a:prstGeom prst="roundRect">
            <a:avLst>
              <a:gd name="adj" fmla="val 49999"/>
            </a:avLst>
          </a:prstGeom>
          <a:solidFill>
            <a:srgbClr val="BBC2D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63840" y="4354612"/>
            <a:ext cx="264014" cy="264021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03180" y="4370784"/>
            <a:ext cx="18523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82613" y="4394895"/>
            <a:ext cx="4877174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Chapter 4 + Viva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82613" y="4633615"/>
            <a:ext cx="487717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ε-probe (200-prompt logit-variance pass) · final submission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1908" y="5448796"/>
            <a:ext cx="10927878" cy="127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1908" y="5605165"/>
            <a:ext cx="1092787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Thank you.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31908" y="6028333"/>
            <a:ext cx="10927878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 look forward to your questions.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Pre-registration enforced as runtime invariant · Deviation log binding from OSF freeze · Open Science Framework deposit forthcoming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2026-09-22T05:45:01Z</dcterms:created>
  <dcterms:modified xsi:type="dcterms:W3CDTF">2026-09-22T05:45:01Z</dcterms:modified>
</cp:coreProperties>
</file>