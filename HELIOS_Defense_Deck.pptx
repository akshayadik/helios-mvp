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21.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7.png" ContentType="image/png"/>
  <Override PartName="/ppt/media/image8.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800" spc="-1" strike="noStrike">
                <a:solidFill>
                  <a:srgbClr val="000000"/>
                </a:solidFill>
                <a:latin typeface="Calibri"/>
              </a:rPr>
              <a:t>Click to move the slide</a:t>
            </a:r>
            <a:endParaRPr b="0" lang="en-IN"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Click to edit the notes format</a:t>
            </a:r>
            <a:endParaRPr b="0" lang="en-IN"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C227C391-1CEA-4607-AFE0-28D6C0F47D74}"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PlaceHolder 1"/>
          <p:cNvSpPr>
            <a:spLocks noGrp="1"/>
          </p:cNvSpPr>
          <p:nvPr>
            <p:ph type="sldImg"/>
          </p:nvPr>
        </p:nvSpPr>
        <p:spPr>
          <a:xfrm>
            <a:off x="685800" y="1143000"/>
            <a:ext cx="5486040" cy="3085920"/>
          </a:xfrm>
          <a:prstGeom prst="rect">
            <a:avLst/>
          </a:prstGeom>
          <a:ln w="0">
            <a:noFill/>
          </a:ln>
        </p:spPr>
      </p:sp>
      <p:sp>
        <p:nvSpPr>
          <p:cNvPr id="86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Thank you, Chair, and thank you to the committee for the time. The work I am defending today specifies and operationalises HELIOS — a hybrid AI artefact for root cause analysis in cloud-native microservice environments — and the methodological discipline under which its individual contributions can be falsified. I will spend roughly thirty minutes on the proposal, structured in four parts: the problem and gap, the artefact, the evaluation design, and the contributions. I will reserve the bulk of the remaining time for your questions.</a:t>
            </a:r>
            <a:endParaRPr b="0" lang="en-IN" sz="2000" spc="-1" strike="noStrike">
              <a:latin typeface="Arial"/>
            </a:endParaRPr>
          </a:p>
        </p:txBody>
      </p:sp>
      <p:sp>
        <p:nvSpPr>
          <p:cNvPr id="861"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96F0F3B-E3A7-4BB3-A97F-F9CA3FCD810A}"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PlaceHolder 1"/>
          <p:cNvSpPr>
            <a:spLocks noGrp="1"/>
          </p:cNvSpPr>
          <p:nvPr>
            <p:ph type="sldImg"/>
          </p:nvPr>
        </p:nvSpPr>
        <p:spPr>
          <a:xfrm>
            <a:off x="685800" y="1143000"/>
            <a:ext cx="5486040" cy="3085920"/>
          </a:xfrm>
          <a:prstGeom prst="rect">
            <a:avLst/>
          </a:prstGeom>
          <a:ln w="0">
            <a:noFill/>
          </a:ln>
        </p:spPr>
      </p:sp>
      <p:sp>
        <p:nvSpPr>
          <p:cNvPr id="86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talk is organised around four substantive blocks. I will spend the largest share of time on the artefact and the evaluation design, because that is where the doctoral contribution lives. The methodology section is short but consequential — it explains why I am calling this Design Science Research with embedded controlled comparison rather than a hypothesis-confirmation experiment, and why pre-registration is enforced through the artefact's own architecture rather than through a reporting convention. I will close with the contribution structure, the principal risks, and the timeline to viva. Throughout, I will be explicit about what the work bounds rather than dissolves — the limitations are scope conditions, not afterthoughts.</a:t>
            </a:r>
            <a:endParaRPr b="0" lang="en-IN" sz="2000" spc="-1" strike="noStrike">
              <a:latin typeface="Arial"/>
            </a:endParaRPr>
          </a:p>
        </p:txBody>
      </p:sp>
      <p:sp>
        <p:nvSpPr>
          <p:cNvPr id="864"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324A508-9183-4ABF-B6BD-FF678FFAA378}"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sldImg"/>
          </p:nvPr>
        </p:nvSpPr>
        <p:spPr>
          <a:xfrm>
            <a:off x="685800" y="1143000"/>
            <a:ext cx="5486040" cy="3085920"/>
          </a:xfrm>
          <a:prstGeom prst="rect">
            <a:avLst/>
          </a:prstGeom>
          <a:ln w="0">
            <a:noFill/>
          </a:ln>
        </p:spPr>
      </p:sp>
      <p:sp>
        <p:nvSpPr>
          <p:cNvPr id="86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Modern enterprise applications run on microservice architectures — a single user request might traverse twenty, thirty, sometimes more services. This decomposition delivers scalability, but it shifts the operational burden. When a service fails, the failure does not stay local. It propagates through API chains, often surfacing as latency spikes or error rates several hops downstream from where the fault originated. In the diagram, the red front-facing service S1 is where the SRE first notices something wrong; the orange service S7 is where the fault is introduced. The dashed path is the inference problem. The bottleneck is no longer telemetry collection — modern stacks instrument OpenTelemetry, Prometheus, structured logs. The bottleneck is causal inference. Continuous deployment makes this harder still: fault signatures shift between releases.</a:t>
            </a:r>
            <a:endParaRPr b="0" lang="en-IN" sz="2000" spc="-1" strike="noStrike">
              <a:latin typeface="Arial"/>
            </a:endParaRPr>
          </a:p>
        </p:txBody>
      </p:sp>
      <p:sp>
        <p:nvSpPr>
          <p:cNvPr id="867"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311F151-8EA5-47AF-B967-EA53F1E3BA62}"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type="sldImg"/>
          </p:nvPr>
        </p:nvSpPr>
        <p:spPr>
          <a:xfrm>
            <a:off x="685800" y="1143000"/>
            <a:ext cx="5486040" cy="3085920"/>
          </a:xfrm>
          <a:prstGeom prst="rect">
            <a:avLst/>
          </a:prstGeom>
          <a:ln w="0">
            <a:noFill/>
          </a:ln>
        </p:spPr>
      </p:sp>
      <p:sp>
        <p:nvSpPr>
          <p:cNvPr id="86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economics are severe. Industrial retrospectives place outage costs at tens of millions of dollars per hour in high-traffic financial-sector and e-commerce deployments. Even mid-sized deployments routinely lose thousands of dollars per minute. Beyond direct revenue loss, prolonged MTTR erodes SLO compliance, contractual penalties accrue, customer trust degrades. The economic case for automation is unambiguous. The question this dissertation addresses is not whether to automate, but whether automation can be made trustworthy — accurate, cost-efficient, and explainable enough for industrial adoption.</a:t>
            </a:r>
            <a:endParaRPr b="0" lang="en-IN" sz="2000" spc="-1" strike="noStrike">
              <a:latin typeface="Arial"/>
            </a:endParaRPr>
          </a:p>
        </p:txBody>
      </p:sp>
      <p:sp>
        <p:nvSpPr>
          <p:cNvPr id="870"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EA091BB-8AEB-413B-AA5A-5BB2689E37BD}"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sldImg"/>
          </p:nvPr>
        </p:nvSpPr>
        <p:spPr>
          <a:xfrm>
            <a:off x="685800" y="1143000"/>
            <a:ext cx="5486040" cy="3085920"/>
          </a:xfrm>
          <a:prstGeom prst="rect">
            <a:avLst/>
          </a:prstGeom>
          <a:ln w="0">
            <a:noFill/>
          </a:ln>
        </p:spPr>
      </p:sp>
      <p:sp>
        <p:nvSpPr>
          <p:cNvPr id="87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literature partitions broadly into four families. Statistical methods are cheap and scale well but assume regularity and cannot reason causally. Classical ML improves on this but degrades under concept drift and struggles with imbalanced labels. Deep and graph-ML approaches handle topology and produce strong benchmark numbers but suffer from opacity, blocking SRE trust. LLM-based approaches offer explanations and generalisation but face cost (about four cents per fault for GPT-4), hallucination, and context limits. Each family is right for a subset of fault classes; none is universally adequate. The architectural response is not to pick a winner but to co-deploy paradigms under conditions admitting causal identifiability of each one's contribution.</a:t>
            </a:r>
            <a:endParaRPr b="0" lang="en-IN" sz="2000" spc="-1" strike="noStrike">
              <a:latin typeface="Arial"/>
            </a:endParaRPr>
          </a:p>
        </p:txBody>
      </p:sp>
      <p:sp>
        <p:nvSpPr>
          <p:cNvPr id="873"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2E33D7B-512B-4BBC-932C-71EDDE4D500F}"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sldImg"/>
          </p:nvPr>
        </p:nvSpPr>
        <p:spPr>
          <a:xfrm>
            <a:off x="685800" y="1143000"/>
            <a:ext cx="5486040" cy="3085920"/>
          </a:xfrm>
          <a:prstGeom prst="rect">
            <a:avLst/>
          </a:prstGeom>
          <a:ln w="0">
            <a:noFill/>
          </a:ln>
        </p:spPr>
      </p:sp>
      <p:sp>
        <p:nvSpPr>
          <p:cNvPr id="87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A point that often gets lost: LLM cost is not merely a research-stage concern — it has become a material operational expense. A single GPT-4 diagnosis runs around four cents; at enterprise rates of hundreds to thousands of incidents per day, the annualised cost is substantial and grows superlinearly when multimodal context is added. Comparator systems treat this as an engineering parameter to be minimised after the fact. HELIOS treats it as a first-class architectural concern: the cost-aware adaptive routing mechanism — contribution C6 — selects which reasoning pipeline executes per incident based on incident features, accuracy priors, and a frozen cost-versus-accuracy trade-off.</a:t>
            </a:r>
            <a:endParaRPr b="0" lang="en-IN" sz="2000" spc="-1" strike="noStrike">
              <a:latin typeface="Arial"/>
            </a:endParaRPr>
          </a:p>
        </p:txBody>
      </p:sp>
      <p:sp>
        <p:nvSpPr>
          <p:cNvPr id="876"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8D4D205-5EF0-40D9-B091-3B9DF0D72E10}"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sldImg"/>
          </p:nvPr>
        </p:nvSpPr>
        <p:spPr>
          <a:xfrm>
            <a:off x="685800" y="1143000"/>
            <a:ext cx="5486040" cy="3085920"/>
          </a:xfrm>
          <a:prstGeom prst="rect">
            <a:avLst/>
          </a:prstGeom>
          <a:ln w="0">
            <a:noFill/>
          </a:ln>
        </p:spPr>
      </p:sp>
      <p:sp>
        <p:nvSpPr>
          <p:cNvPr id="87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This is the central gap argument. From systematic review of the AIOps comparator literature, I derive five methodological desiderata necessary for causally identifiable evaluation of AI-driven RCA. D1: peer-pipeline co-deployment of statistical, graph-ML, and LLM reasoning under identical inputs — the minimum structural commitment for per-paradigm causal identifiability. D2: first-class observability for LLM agent reasoning failures. D3: economic arbitration through cost-aware routing grounded in observed accuracy priors. D4: deferred two-stage reward reconciliation. D5: ablation-first architectural discipline producing variant equivalence at the binary level. The matrix shows the systematic gap. Every comparator satisfies some subset of D1 to D5. None satisfies all five. HELIOS is one artefact that satisfies all five by design. I do not claim HELIOS is the only such artefact; I claim the desiderata are jointly necessary and not collectively met by the comparator landscape.</a:t>
            </a:r>
            <a:endParaRPr b="0" lang="en-IN" sz="2000" spc="-1" strike="noStrike">
              <a:latin typeface="Arial"/>
            </a:endParaRPr>
          </a:p>
        </p:txBody>
      </p:sp>
      <p:sp>
        <p:nvSpPr>
          <p:cNvPr id="879"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3816975-6C59-4C9E-8001-C6FA064F5300}"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sldImg"/>
          </p:nvPr>
        </p:nvSpPr>
        <p:spPr>
          <a:xfrm>
            <a:off x="685800" y="1143000"/>
            <a:ext cx="5486040" cy="3085920"/>
          </a:xfrm>
          <a:prstGeom prst="rect">
            <a:avLst/>
          </a:prstGeom>
          <a:ln w="0">
            <a:noFill/>
          </a:ln>
        </p:spPr>
      </p:sp>
      <p:sp>
        <p:nvSpPr>
          <p:cNvPr id="88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Four research questions, each targeting a different inferential layer. RQ1 is the artefact-level claim. RQ2 targets meta-observability — Contribution C5. RQ3 is the per-mechanism claim and is the inferential heart of the dissertation. RQ4 targets explainability and trust through a within-subjects user study with twenty-four SREs. The questions are intentionally separable: rejecting one does not commit you to the others, and each RQ is bound to a distinct combination of architectural components and statistical procedures, made explicit in the binding mapping in Section 3.8.2 of the proposal.</a:t>
            </a:r>
            <a:endParaRPr b="0" lang="en-IN" sz="2000" spc="-1" strike="noStrike">
              <a:latin typeface="Arial"/>
            </a:endParaRPr>
          </a:p>
        </p:txBody>
      </p:sp>
      <p:sp>
        <p:nvSpPr>
          <p:cNvPr id="882"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5E06056-8141-4CBB-A141-DC3F37DDCCA7}"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sldImg"/>
          </p:nvPr>
        </p:nvSpPr>
        <p:spPr>
          <a:xfrm>
            <a:off x="685800" y="1143000"/>
            <a:ext cx="5486040" cy="3085920"/>
          </a:xfrm>
          <a:prstGeom prst="rect">
            <a:avLst/>
          </a:prstGeom>
          <a:ln w="0">
            <a:noFill/>
          </a:ln>
        </p:spPr>
      </p:sp>
      <p:sp>
        <p:nvSpPr>
          <p:cNvPr id="88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Three pre-registered hypothesis families. The Ablation family A-H1 through A-H8 tests the internal contribution of each architectural mechanism. The Baseline-comparison family B-H1 through B-H8 tests external comparative advantage. The Exploratory family E-H1 through E-H10 covers hypotheses that the corpus does not adequately power for confirmatory inference — including the cognitive-agentic test on n=12, the user study, FGSV and IOL synthetic-perturbation tests. The two confirmatory families are corrected separately under Holm–Bonferroni with rank-1 alpha of 0.00625 each. I want to address head-on the question of whether this split is alpha-padding. It is not. The two families test different inferential targets and combining them under a single FWER family would conflate two questions and violate the inferential logic of FWER control as it is applied in clinical-trial multi-endpoint analysis. The split is pre-registered at OSF freeze, not constructed post-hoc.</a:t>
            </a:r>
            <a:endParaRPr b="0" lang="en-IN" sz="2000" spc="-1" strike="noStrike">
              <a:latin typeface="Arial"/>
            </a:endParaRPr>
          </a:p>
        </p:txBody>
      </p:sp>
      <p:sp>
        <p:nvSpPr>
          <p:cNvPr id="885"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C103B44-BC94-4297-A33C-D8553308ED5F}"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type="sldImg"/>
          </p:nvPr>
        </p:nvSpPr>
        <p:spPr>
          <a:xfrm>
            <a:off x="685800" y="1143000"/>
            <a:ext cx="5486040" cy="3085920"/>
          </a:xfrm>
          <a:prstGeom prst="rect">
            <a:avLst/>
          </a:prstGeom>
          <a:ln w="0">
            <a:noFill/>
          </a:ln>
        </p:spPr>
      </p:sp>
      <p:sp>
        <p:nvSpPr>
          <p:cNvPr id="88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A point of potential confusion that I want to dissolve up front. The proposal contains two layers of hypotheses: the four conceptual hypotheses in Chapter One and the twenty-six formal hypotheses across A, B, and E families in Chapter Three. The two layers are intentional and complementary, not redundant or conflicting. The conceptual hypotheses orient the research. The formal hypotheses operationalise those claims as falsifiable propositions tied to specific architectural mechanisms and statistical tests. Conceptual H1 is operationalised as B-H6 plus the three ablation hypotheses A-H1, A-H2, A-H3 that decompose the contribution. Conceptual H2 is operationalised as B-H1 through B-H5 plus the bundle-level test A-H8. Conceptual H3 is operationalised as E-H7 in the user study. Conceptual H4 — hybrid scales — is partly out of scope for the confirmatory protocol and is reserved for the pre-registered separate scalability experiment in Section 3.11.5. The Chapter 3 hypotheses are the binding pre-registered tests.</a:t>
            </a:r>
            <a:endParaRPr b="0" lang="en-IN" sz="2000" spc="-1" strike="noStrike">
              <a:latin typeface="Arial"/>
            </a:endParaRPr>
          </a:p>
        </p:txBody>
      </p:sp>
      <p:sp>
        <p:nvSpPr>
          <p:cNvPr id="888"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4B875A7-951A-4D09-89F5-457C82DE5025}"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PlaceHolder 1"/>
          <p:cNvSpPr>
            <a:spLocks noGrp="1"/>
          </p:cNvSpPr>
          <p:nvPr>
            <p:ph type="sldImg"/>
          </p:nvPr>
        </p:nvSpPr>
        <p:spPr>
          <a:xfrm>
            <a:off x="685800" y="1143000"/>
            <a:ext cx="5486040" cy="3085920"/>
          </a:xfrm>
          <a:prstGeom prst="rect">
            <a:avLst/>
          </a:prstGeom>
          <a:ln w="0">
            <a:noFill/>
          </a:ln>
        </p:spPr>
      </p:sp>
      <p:sp>
        <p:nvSpPr>
          <p:cNvPr id="89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Why DSR rather than a hypothesis-confirmation experimental design or a case study? Because the dissertation's intended output is a purposeful, novel artefact, not a theoretical generalisation about a pre-existing phenomenon. DSR — in Hevner's three-cycle formulation and Peffers's six-activity formulation — is the methodological framework that explicitly accommodates artefact construction as a research contribution. The relevance cycle is instantiated through microservice failure economics and the emerging class of agentic-AI fault classes. The rigour cycle is instantiated through systematic comparator differentiation per contribution and through the runtime-enforced evaluation-rigour discipline that I will introduce in two slides. I want to address one point pre-emptively: DSR does not preclude statistical evaluation. Hevner's framework explicitly includes empirical evaluation including controlled experiments. The dissertation's classification is DSR with embedded controlled quantitative comparison.</a:t>
            </a:r>
            <a:endParaRPr b="0" lang="en-IN" sz="2000" spc="-1" strike="noStrike">
              <a:latin typeface="Arial"/>
            </a:endParaRPr>
          </a:p>
        </p:txBody>
      </p:sp>
      <p:sp>
        <p:nvSpPr>
          <p:cNvPr id="891"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C561A6F-175B-4718-90B7-EFECAB51459C}"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2" name="PlaceHolder 1"/>
          <p:cNvSpPr>
            <a:spLocks noGrp="1"/>
          </p:cNvSpPr>
          <p:nvPr>
            <p:ph type="sldImg"/>
          </p:nvPr>
        </p:nvSpPr>
        <p:spPr>
          <a:xfrm>
            <a:off x="685800" y="1143000"/>
            <a:ext cx="5486040" cy="3085920"/>
          </a:xfrm>
          <a:prstGeom prst="rect">
            <a:avLst/>
          </a:prstGeom>
          <a:ln w="0">
            <a:noFill/>
          </a:ln>
        </p:spPr>
      </p:sp>
      <p:sp>
        <p:nvSpPr>
          <p:cNvPr id="89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Briefly on philosophy because it shapes the design choices. The work is grounded in critical realism with a pragmatist orientation toward artefact evaluation. The realist commitment: microservice failures are produced by real, structural generative mechanisms. These exist independently of how an SRE interprets them. The fallibilist commitment: those mechanisms are only partially observable through telemetry, so RCA is inference under partial observation, not direct measurement. The pragmatist commitment is at evaluation: HELIOS is validated by demonstrated utility under pre-registered protocol, not by correspondence with a hypothetical true causal graph. Falsifiability lives at the contribution level — every contribution C1 through C6 is ablatable, every ablation corresponds to a pre-registered hypothesis, every confirmatory hypothesis is powered on a minimum-detectable-effect target.</a:t>
            </a:r>
            <a:endParaRPr b="0" lang="en-IN" sz="2000" spc="-1" strike="noStrike">
              <a:latin typeface="Arial"/>
            </a:endParaRPr>
          </a:p>
        </p:txBody>
      </p:sp>
      <p:sp>
        <p:nvSpPr>
          <p:cNvPr id="894"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33FA1B9-52DD-4173-8138-E3BAD75AF213}"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5" name="PlaceHolder 1"/>
          <p:cNvSpPr>
            <a:spLocks noGrp="1"/>
          </p:cNvSpPr>
          <p:nvPr>
            <p:ph type="sldImg"/>
          </p:nvPr>
        </p:nvSpPr>
        <p:spPr>
          <a:xfrm>
            <a:off x="685800" y="1143000"/>
            <a:ext cx="5486040" cy="3085920"/>
          </a:xfrm>
          <a:prstGeom prst="rect">
            <a:avLst/>
          </a:prstGeom>
          <a:ln w="0">
            <a:noFill/>
          </a:ln>
        </p:spPr>
      </p:sp>
      <p:sp>
        <p:nvSpPr>
          <p:cNvPr id="896"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This is the dissertation's primary methodological contribution. Pre-registration in social-science and clinical-trial research is typically a reporting convention — researchers commit to a plan, deposit it, and then on completion describe deviations. The dissertation's move is to enforce pre-registration discipline through the artefact's own architecture. Six components together. The Variant Control Layer reads a content-hashed feature-flag manifest at process start — a flag flip at runtime is impossible because the manifest is hash-verified. The Snapshot Hash Registry verifies the content hash of every UEG-C snapshot consumed. The Metric Integrity Gate refuses runs with missing measurements rather than zero-imputing — silent missingness is structurally impossible. The Exclusion Ledger logs every excluded run cryptographically and append-only. The Deviation Log logs every protocol change with timestamp, clause, change, reason, and analytic consequence. The Reconciliation Ledger audits two-stage reward correspondence. Together these convert DSR evaluation rigour from a reporting convention into a runtime invariant. C1 does not improve diagnostic accuracy by any pipeline mechanism; it makes the falsifiability of every other contribution operationally enforceable.</a:t>
            </a:r>
            <a:endParaRPr b="0" lang="en-IN" sz="2000" spc="-1" strike="noStrike">
              <a:latin typeface="Arial"/>
            </a:endParaRPr>
          </a:p>
        </p:txBody>
      </p:sp>
      <p:sp>
        <p:nvSpPr>
          <p:cNvPr id="897"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AEC13E1-4A76-4B8F-9958-A7A11F17EAC1}"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sldImg"/>
          </p:nvPr>
        </p:nvSpPr>
        <p:spPr>
          <a:xfrm>
            <a:off x="685800" y="1143000"/>
            <a:ext cx="5486040" cy="3085920"/>
          </a:xfrm>
          <a:prstGeom prst="rect">
            <a:avLst/>
          </a:prstGeom>
          <a:ln w="0">
            <a:noFill/>
          </a:ln>
        </p:spPr>
      </p:sp>
      <p:sp>
        <p:nvSpPr>
          <p:cNvPr id="899"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This is the artefact in one diagram. Five layers vertically, five governance planes orthogonally, the Evaluation plane spans all five layers. Bottom up. Layer 0 — telemetry ingress: five pillars, the canonical metrics, traces, logs, plus cognitive telemetry capturing LLM agent reasoning steps and business telemetry capturing transaction-level revenue signals. Privacy Gateway and Adversarial Robustness Monitor inspect ingress. Layer 1 — UEG-C: four typed edge classes admit formal composition rules so cross-domain queries are first-class. K-hop Pruner extracts incident-local subgraphs and content-hashes them. Layer 2 — the architectural heart: three peer pipelines execute concurrently on the same content-hashed UEG-C snapshot and emit typed verdicts of the form ranked-list, mu, sigma, cost, latency. Layer 3 — coordination: ACP, ORAR routing, MAHC consensus with hierarchical priors, CoE ledger, Narrative Engine. Layer 4 — action: FGSV validates the proposed remediation in a KS-gated digital twin only when twin telemetry is statistically close to production. HITL gate stratifies by dynamic alpha. Reconciliation ledger receives provisional and terminal rewards.</a:t>
            </a:r>
            <a:endParaRPr b="0" lang="en-IN" sz="2000" spc="-1" strike="noStrike">
              <a:latin typeface="Arial"/>
            </a:endParaRPr>
          </a:p>
        </p:txBody>
      </p:sp>
      <p:sp>
        <p:nvSpPr>
          <p:cNvPr id="900"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2BA51E0-0DEA-43CC-901C-BF9DE07F6224}"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type="sldImg"/>
          </p:nvPr>
        </p:nvSpPr>
        <p:spPr>
          <a:xfrm>
            <a:off x="685800" y="1143000"/>
            <a:ext cx="5486040" cy="3085920"/>
          </a:xfrm>
          <a:prstGeom prst="rect">
            <a:avLst/>
          </a:prstGeom>
          <a:ln w="0">
            <a:noFill/>
          </a:ln>
        </p:spPr>
      </p:sp>
      <p:sp>
        <p:nvSpPr>
          <p:cNvPr id="902"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What is genuinely new is not any single reasoning modality — each has precedent in the literature — but the structural commitment to co-deploy all three under identical inputs with cost-aware arbitration. The diagram makes the commitment concrete: one content-hashed UEG-C snapshot, three peer pipelines reading the same input, three typed verdicts with uncertainty, one consensus rule. The pipelines share no runtime state. Any subset can be disabled by feature flag without affecting the operation of the others. This is the minimum structural commitment that admits causal identifiability of each paradigm's contribution. Compare with the comparator landscape. mABC uses multi-agent voting with scalar weights — no uncertainty propagation, no paradigm separation. TAMO uses tool-augmented LLM reasoning with a single synthesising agent. Flow-of-Action orchestrates sub-agents sequentially through a MainAgent — sequential cascade directly confounds later-stage contributions. CHASE is a single-mode causal hypergraph approach. None admits per-mechanism causal identifiability. HELIOS does, by design.</a:t>
            </a:r>
            <a:endParaRPr b="0" lang="en-IN" sz="2000" spc="-1" strike="noStrike">
              <a:latin typeface="Arial"/>
            </a:endParaRPr>
          </a:p>
        </p:txBody>
      </p:sp>
      <p:sp>
        <p:nvSpPr>
          <p:cNvPr id="903"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F56B864-50D6-4F2E-A707-E24774792216}"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4" name="PlaceHolder 1"/>
          <p:cNvSpPr>
            <a:spLocks noGrp="1"/>
          </p:cNvSpPr>
          <p:nvPr>
            <p:ph type="sldImg"/>
          </p:nvPr>
        </p:nvSpPr>
        <p:spPr>
          <a:xfrm>
            <a:off x="685800" y="1143000"/>
            <a:ext cx="5486040" cy="3085920"/>
          </a:xfrm>
          <a:prstGeom prst="rect">
            <a:avLst/>
          </a:prstGeom>
          <a:ln w="0">
            <a:noFill/>
          </a:ln>
        </p:spPr>
      </p:sp>
      <p:sp>
        <p:nvSpPr>
          <p:cNvPr id="905"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Contribution C2 is the dissertation's constructs-and-models contribution. The graph contains four node types: service nodes, infrastructure nodes, transaction-or-KPI nodes, and the novel Agent-Reasoning-Step nodes capturing intermediate state of LLM agent reasoning. Four typed edge classes admit formal composition rules so cross-domain queries become first-class. C2 has two empirical claims with separate evidential pathways. The structural-and-integration claim is tested confirmatorily through HELIOS-noStructural under A-H8. The cognitive-agentic-accuracy claim is demoted to exploratory under E-H1, because the agentic-AI fault corpus of n=12 is below the 73-fault statistical minimum. This is discipline, not defect. A less-careful researcher would have run the confirmatory test on n=12; I refused. The priority follow-on is an externally constructed cognitive-agentic fault corpus on a non-AIOpsLab substrate, which would upgrade E-H1 to confirmatory status.</a:t>
            </a:r>
            <a:endParaRPr b="0" lang="en-IN" sz="2000" spc="-1" strike="noStrike">
              <a:latin typeface="Arial"/>
            </a:endParaRPr>
          </a:p>
        </p:txBody>
      </p:sp>
      <p:sp>
        <p:nvSpPr>
          <p:cNvPr id="906"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C5A2580-D19B-49B2-B322-9F1FCABCD9D0}"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sldImg"/>
          </p:nvPr>
        </p:nvSpPr>
        <p:spPr>
          <a:xfrm>
            <a:off x="685800" y="1143000"/>
            <a:ext cx="5486040" cy="3085920"/>
          </a:xfrm>
          <a:prstGeom prst="rect">
            <a:avLst/>
          </a:prstGeom>
          <a:ln w="0">
            <a:noFill/>
          </a:ln>
        </p:spPr>
      </p:sp>
      <p:sp>
        <p:nvSpPr>
          <p:cNvPr id="908"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Six named contributions, each classified under the Gregor and Hevner 2013 design-science taxonomy. C1 is methodological-discipline, evidenced descriptively, generalisable beyond HELIOS. C2 is constructs and models with two distinct empirical claims. C3-prime is evaluation-infrastructure-discipline, exploratory empirical status. C4 is method — Multi-Agent Hybrid Consensus with mu-sigma vote representation, tested confirmatorily under A-H4 and A-H7. C5 is architectural-pattern — Internal Observability Loop, exploratory status pending injected control-plane degradation. C6 is method with cross-field-transfer profile from delayed-feedback bandit literature, with a static-routing confirmatory pathway and an online-learning exploratory pathway. For each contribution, the most proximate comparator is named explicitly — the dissertation does not claim the contributions are novel in isolation; it claims they are novel as integrated mechanisms differentiated from named comparators.</a:t>
            </a:r>
            <a:endParaRPr b="0" lang="en-IN" sz="2000" spc="-1" strike="noStrike">
              <a:latin typeface="Arial"/>
            </a:endParaRPr>
          </a:p>
        </p:txBody>
      </p:sp>
      <p:sp>
        <p:nvSpPr>
          <p:cNvPr id="909"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F842B3C-610C-4F0D-9735-5D30F8821DE5}"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0" name="PlaceHolder 1"/>
          <p:cNvSpPr>
            <a:spLocks noGrp="1"/>
          </p:cNvSpPr>
          <p:nvPr>
            <p:ph type="sldImg"/>
          </p:nvPr>
        </p:nvSpPr>
        <p:spPr>
          <a:xfrm>
            <a:off x="685800" y="1143000"/>
            <a:ext cx="5486040" cy="3085920"/>
          </a:xfrm>
          <a:prstGeom prst="rect">
            <a:avLst/>
          </a:prstGeom>
          <a:ln w="0">
            <a:noFill/>
          </a:ln>
        </p:spPr>
      </p:sp>
      <p:sp>
        <p:nvSpPr>
          <p:cNvPr id="911"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HELIOS consumes five pillars of telemetry. The first three are the canonical observability triad: metrics, traces, and logs. The dissertation extends this with two additional first-class signals. P4 — cognitive telemetry — captures agent reasoning-step spans, tool-call schema-validation records, goal-drift cosine-distance measurements, and loop-depth counters. P5 — business telemetry — captures transaction-level revenue signals, SLO breach penalty coefficients, and service-class tier assignments. The five-pillar extension is presented as a conceptual-architectural contribution, not as an ontological claim that P4 and P5 must be separate pillars. The substantive content is the integrated UEG-C treatment with formal composition rules across all five signal classes. Whether the integration carries empirical advantage is what HELIOS-noStructural under A-H8 is designed to test.</a:t>
            </a:r>
            <a:endParaRPr b="0" lang="en-IN" sz="2000" spc="-1" strike="noStrike">
              <a:latin typeface="Arial"/>
            </a:endParaRPr>
          </a:p>
        </p:txBody>
      </p:sp>
      <p:sp>
        <p:nvSpPr>
          <p:cNvPr id="912"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FD9C0A9-52D8-4CEE-8293-F5F7C16E3471}"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type="sldImg"/>
          </p:nvPr>
        </p:nvSpPr>
        <p:spPr>
          <a:xfrm>
            <a:off x="685800" y="1143000"/>
            <a:ext cx="5486040" cy="3085920"/>
          </a:xfrm>
          <a:prstGeom prst="rect">
            <a:avLst/>
          </a:prstGeom>
          <a:ln w="0">
            <a:noFill/>
          </a:ln>
        </p:spPr>
      </p:sp>
      <p:sp>
        <p:nvSpPr>
          <p:cNvPr id="914"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evaluation strategy in one slide. Five public benchmarks with a 174-fault confirmatory corpus and a four-tier structure. AIOpsLab concentration is approximately 76 percent — a deliberate scope condition. Confirmatory external validity is bounded to AIOpsLab and its parametric extension. The metrics: HR@3 as the binding accuracy outcome; log-MTTR; CpR as a five-component sum; Time-to-Triage; hallucination decomposed into structural and factual components with Cohen's kappa of 0.7 inter-rater requirement. Statistical commitments: paired Wilcoxon as binding test; McNemar's exact for paired binary HR@3 in B-family; Holm–Bonferroni separately within A and B families. The binding effect size is the minimum detectable effect at delivered power — Cohen's h of 0.276, which translates to 13 percentage points HR@3 against the AIOpsLab-equivalent CHASE baseline of 0.60. BCa bootstrap CI for every cell. Baselines: five priority-ranked AIOps comparators.</a:t>
            </a:r>
            <a:endParaRPr b="0" lang="en-IN" sz="2000" spc="-1" strike="noStrike">
              <a:latin typeface="Arial"/>
            </a:endParaRPr>
          </a:p>
        </p:txBody>
      </p:sp>
      <p:sp>
        <p:nvSpPr>
          <p:cNvPr id="915"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598A273-510B-447F-AF4D-9BB2EC999FDF}"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sldImg"/>
          </p:nvPr>
        </p:nvSpPr>
        <p:spPr>
          <a:xfrm>
            <a:off x="685800" y="1143000"/>
            <a:ext cx="5486040" cy="3085920"/>
          </a:xfrm>
          <a:prstGeom prst="rect">
            <a:avLst/>
          </a:prstGeom>
          <a:ln w="0">
            <a:noFill/>
          </a:ln>
        </p:spPr>
      </p:sp>
      <p:sp>
        <p:nvSpPr>
          <p:cNvPr id="917"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Validity is treated as a structured discipline. Eight internal threats are named in §3.9.1, each with a paired mitigation. The strongest threats are worth flagging directly. Threat 3 — cross-incident learning dependency in ORAR — is mitigated by the static-policy commitment: LinUCB and ACP parameters are frozen at the pre-warmed state for the entire confirmatory protocol. Threat 8 — opacity of the pre-warmed state — is bounded by four protections: pre-registration of construction parameters, SHA-256 hash of construction script, hash-verified disjointness at the fault-instance level, and the static-policy freeze. The residual exposure is structural similarity at the conceptual level. I do not claim to have dissolved it. The only intervention that fully neutralises the threat at the process level is external replication on a structurally distinct microservice paradigm.</a:t>
            </a:r>
            <a:endParaRPr b="0" lang="en-IN" sz="2000" spc="-1" strike="noStrike">
              <a:latin typeface="Arial"/>
            </a:endParaRPr>
          </a:p>
        </p:txBody>
      </p:sp>
      <p:sp>
        <p:nvSpPr>
          <p:cNvPr id="918"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242389C-B997-4A4C-B6FD-C4735048487C}"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9" name="PlaceHolder 1"/>
          <p:cNvSpPr>
            <a:spLocks noGrp="1"/>
          </p:cNvSpPr>
          <p:nvPr>
            <p:ph type="sldImg"/>
          </p:nvPr>
        </p:nvSpPr>
        <p:spPr>
          <a:xfrm>
            <a:off x="685800" y="1143000"/>
            <a:ext cx="5486040" cy="3085920"/>
          </a:xfrm>
          <a:prstGeom prst="rect">
            <a:avLst/>
          </a:prstGeom>
          <a:ln w="0">
            <a:noFill/>
          </a:ln>
        </p:spPr>
      </p:sp>
      <p:sp>
        <p:nvSpPr>
          <p:cNvPr id="920"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Risks: hallucination addressed at three architectural layers. Data quality and concept drift addressed by metric integrity gate and exclusion ledger. Scalability beyond 100 services acknowledged as scope condition. Multimodal integration via UEG-C with typed-edge composition. Evaluation bias addressed by pre-registration discipline and independent-rater protocols. Contributions stratified: academic — six contributions in the Gregor and Hevner taxonomy plus five transferable design principles plus the asymmetric inferential rule. Industrial — MTTR and CpR reduction targets, plus FGSV+HITL+ARM safety patterns. Methodological — the pre-registration runtime invariant, generalisable to AIOps research-method practice and arguably to DSR research-method practice more broadly.</a:t>
            </a:r>
            <a:endParaRPr b="0" lang="en-IN" sz="2000" spc="-1" strike="noStrike">
              <a:latin typeface="Arial"/>
            </a:endParaRPr>
          </a:p>
        </p:txBody>
      </p:sp>
      <p:sp>
        <p:nvSpPr>
          <p:cNvPr id="921"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B70E7AB-A9A0-4CED-B66D-CE4D59B44826}"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type="sldImg"/>
          </p:nvPr>
        </p:nvSpPr>
        <p:spPr>
          <a:xfrm>
            <a:off x="685800" y="1143000"/>
            <a:ext cx="5486040" cy="3085920"/>
          </a:xfrm>
          <a:prstGeom prst="rect">
            <a:avLst/>
          </a:prstGeom>
          <a:ln w="0">
            <a:noFill/>
          </a:ln>
        </p:spPr>
      </p:sp>
      <p:sp>
        <p:nvSpPr>
          <p:cNvPr id="923" name="PlaceHolder 2"/>
          <p:cNvSpPr>
            <a:spLocks noGrp="1"/>
          </p:cNvSpPr>
          <p:nvPr>
            <p:ph type="body"/>
          </p:nvPr>
        </p:nvSpPr>
        <p:spPr>
          <a:xfrm>
            <a:off x="685800" y="4400640"/>
            <a:ext cx="5486040" cy="3600000"/>
          </a:xfrm>
          <a:prstGeom prst="rect">
            <a:avLst/>
          </a:prstGeom>
          <a:noFill/>
          <a:ln w="0">
            <a:noFill/>
          </a:ln>
        </p:spPr>
        <p:txBody>
          <a:bodyPr anchor="t">
            <a:noAutofit/>
          </a:bodyPr>
          <a:p>
            <a:pPr marL="216000" indent="-216000">
              <a:lnSpc>
                <a:spcPct val="100000"/>
              </a:lnSpc>
              <a:buNone/>
            </a:pPr>
            <a:r>
              <a:rPr b="0" lang="en-US" sz="2000" spc="-1" strike="noStrike">
                <a:latin typeface="Arial"/>
              </a:rPr>
              <a:t>The timeline. OSF pre-registration freeze is imminent and locks the seed register, the SHA-256-hashed fault corpus, the variant feature-flag matrix, the price book, and the Holm–Bonferroni rank ordering. Pre-warming and the epsilon probe measurement on the 200-prompt probe set follow. The confirmatory ablation runs are the largest schedule risk — sixteen thousand runs total. Baseline-comparison runs are sequenced after ablation. The user study with twenty-four SREs requires IRB approval. Chapter Four write-up and viva close the schedule. The methodological discipline is binding from OSF freeze forward; deviations enter the cryptographically signed deviation log with timestamp, clause, change, reason, and analytic consequence. Thank you, and I look forward to your questions.</a:t>
            </a:r>
            <a:endParaRPr b="0" lang="en-IN" sz="2000" spc="-1" strike="noStrike">
              <a:latin typeface="Arial"/>
            </a:endParaRPr>
          </a:p>
        </p:txBody>
      </p:sp>
      <p:sp>
        <p:nvSpPr>
          <p:cNvPr id="924"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85A1A3E-DCD4-4D39-8094-814D3A39B2BB}"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IN" sz="1800" spc="-1" strike="noStrike">
                <a:solidFill>
                  <a:srgbClr val="000000"/>
                </a:solidFill>
                <a:latin typeface="Calibri"/>
              </a:rPr>
              <a:t>Click to edit the title text format</a:t>
            </a:r>
            <a:endParaRPr b="0" lang="en-IN"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slideLayout" Target="../slideLayouts/slideLayout1.xml"/><Relationship Id="rId8"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4" name="Shape 0"/>
          <p:cNvSpPr/>
          <p:nvPr/>
        </p:nvSpPr>
        <p:spPr>
          <a:xfrm flipV="1">
            <a:off x="7635240" y="548640"/>
            <a:ext cx="548640" cy="137160"/>
          </a:xfrm>
          <a:prstGeom prst="line">
            <a:avLst/>
          </a:prstGeom>
          <a:ln w="12700">
            <a:solidFill>
              <a:srgbClr val="0891b2"/>
            </a:solidFill>
            <a:round/>
          </a:ln>
        </p:spPr>
        <p:style>
          <a:lnRef idx="0"/>
          <a:fillRef idx="0"/>
          <a:effectRef idx="0"/>
          <a:fontRef idx="minor"/>
        </p:style>
      </p:sp>
      <p:sp>
        <p:nvSpPr>
          <p:cNvPr id="45" name="Shape 1"/>
          <p:cNvSpPr/>
          <p:nvPr/>
        </p:nvSpPr>
        <p:spPr>
          <a:xfrm>
            <a:off x="8174520" y="539280"/>
            <a:ext cx="457200" cy="274320"/>
          </a:xfrm>
          <a:prstGeom prst="line">
            <a:avLst/>
          </a:prstGeom>
          <a:ln w="12700">
            <a:solidFill>
              <a:srgbClr val="0891b2"/>
            </a:solidFill>
            <a:round/>
          </a:ln>
        </p:spPr>
        <p:style>
          <a:lnRef idx="0"/>
          <a:fillRef idx="0"/>
          <a:effectRef idx="0"/>
          <a:fontRef idx="minor"/>
        </p:style>
      </p:sp>
      <p:sp>
        <p:nvSpPr>
          <p:cNvPr id="46" name="Shape 2"/>
          <p:cNvSpPr/>
          <p:nvPr/>
        </p:nvSpPr>
        <p:spPr>
          <a:xfrm>
            <a:off x="7635240" y="685800"/>
            <a:ext cx="365760" cy="411480"/>
          </a:xfrm>
          <a:prstGeom prst="line">
            <a:avLst/>
          </a:prstGeom>
          <a:ln w="12700">
            <a:solidFill>
              <a:srgbClr val="0891b2"/>
            </a:solidFill>
            <a:round/>
          </a:ln>
        </p:spPr>
        <p:style>
          <a:lnRef idx="0"/>
          <a:fillRef idx="0"/>
          <a:effectRef idx="0"/>
          <a:fontRef idx="minor"/>
        </p:style>
      </p:sp>
      <p:sp>
        <p:nvSpPr>
          <p:cNvPr id="47" name="Shape 3"/>
          <p:cNvSpPr/>
          <p:nvPr/>
        </p:nvSpPr>
        <p:spPr>
          <a:xfrm>
            <a:off x="7991640" y="1087920"/>
            <a:ext cx="457200" cy="274320"/>
          </a:xfrm>
          <a:prstGeom prst="line">
            <a:avLst/>
          </a:prstGeom>
          <a:ln w="12700">
            <a:solidFill>
              <a:srgbClr val="0891b2"/>
            </a:solidFill>
            <a:round/>
          </a:ln>
        </p:spPr>
        <p:style>
          <a:lnRef idx="0"/>
          <a:fillRef idx="0"/>
          <a:effectRef idx="0"/>
          <a:fontRef idx="minor"/>
        </p:style>
      </p:sp>
      <p:sp>
        <p:nvSpPr>
          <p:cNvPr id="48" name="Shape 4"/>
          <p:cNvSpPr/>
          <p:nvPr/>
        </p:nvSpPr>
        <p:spPr>
          <a:xfrm flipH="1">
            <a:off x="8458200" y="822960"/>
            <a:ext cx="182880" cy="548640"/>
          </a:xfrm>
          <a:prstGeom prst="line">
            <a:avLst/>
          </a:prstGeom>
          <a:ln w="12700">
            <a:solidFill>
              <a:srgbClr val="0891b2"/>
            </a:solidFill>
            <a:round/>
          </a:ln>
        </p:spPr>
        <p:style>
          <a:lnRef idx="0"/>
          <a:fillRef idx="0"/>
          <a:effectRef idx="0"/>
          <a:fontRef idx="minor"/>
        </p:style>
      </p:sp>
      <p:sp>
        <p:nvSpPr>
          <p:cNvPr id="49" name="Shape 5"/>
          <p:cNvSpPr/>
          <p:nvPr/>
        </p:nvSpPr>
        <p:spPr>
          <a:xfrm>
            <a:off x="7589520" y="640080"/>
            <a:ext cx="91080" cy="91080"/>
          </a:xfrm>
          <a:prstGeom prst="ellipse">
            <a:avLst/>
          </a:prstGeom>
          <a:solidFill>
            <a:srgbClr val="06b6d4"/>
          </a:solidFill>
          <a:ln w="12700">
            <a:solidFill>
              <a:srgbClr val="0d1b2a"/>
            </a:solidFill>
            <a:round/>
          </a:ln>
        </p:spPr>
        <p:style>
          <a:lnRef idx="0"/>
          <a:fillRef idx="0"/>
          <a:effectRef idx="0"/>
          <a:fontRef idx="minor"/>
        </p:style>
      </p:sp>
      <p:sp>
        <p:nvSpPr>
          <p:cNvPr id="50" name="Shape 6"/>
          <p:cNvSpPr/>
          <p:nvPr/>
        </p:nvSpPr>
        <p:spPr>
          <a:xfrm>
            <a:off x="8138160" y="502920"/>
            <a:ext cx="72720" cy="72720"/>
          </a:xfrm>
          <a:prstGeom prst="ellipse">
            <a:avLst/>
          </a:prstGeom>
          <a:solidFill>
            <a:srgbClr val="06b6d4"/>
          </a:solidFill>
          <a:ln w="12700">
            <a:solidFill>
              <a:srgbClr val="0d1b2a"/>
            </a:solidFill>
            <a:round/>
          </a:ln>
        </p:spPr>
        <p:style>
          <a:lnRef idx="0"/>
          <a:fillRef idx="0"/>
          <a:effectRef idx="0"/>
          <a:fontRef idx="minor"/>
        </p:style>
      </p:sp>
      <p:sp>
        <p:nvSpPr>
          <p:cNvPr id="51" name="Shape 7"/>
          <p:cNvSpPr/>
          <p:nvPr/>
        </p:nvSpPr>
        <p:spPr>
          <a:xfrm>
            <a:off x="8595360" y="777240"/>
            <a:ext cx="91080" cy="91080"/>
          </a:xfrm>
          <a:prstGeom prst="ellipse">
            <a:avLst/>
          </a:prstGeom>
          <a:solidFill>
            <a:srgbClr val="06b6d4"/>
          </a:solidFill>
          <a:ln w="12700">
            <a:solidFill>
              <a:srgbClr val="0d1b2a"/>
            </a:solidFill>
            <a:round/>
          </a:ln>
        </p:spPr>
        <p:style>
          <a:lnRef idx="0"/>
          <a:fillRef idx="0"/>
          <a:effectRef idx="0"/>
          <a:fontRef idx="minor"/>
        </p:style>
      </p:sp>
      <p:sp>
        <p:nvSpPr>
          <p:cNvPr id="52" name="Shape 8"/>
          <p:cNvSpPr/>
          <p:nvPr/>
        </p:nvSpPr>
        <p:spPr>
          <a:xfrm>
            <a:off x="7955280" y="1051560"/>
            <a:ext cx="72720" cy="72720"/>
          </a:xfrm>
          <a:prstGeom prst="ellipse">
            <a:avLst/>
          </a:prstGeom>
          <a:solidFill>
            <a:srgbClr val="06b6d4"/>
          </a:solidFill>
          <a:ln w="12700">
            <a:solidFill>
              <a:srgbClr val="0d1b2a"/>
            </a:solidFill>
            <a:round/>
          </a:ln>
        </p:spPr>
        <p:style>
          <a:lnRef idx="0"/>
          <a:fillRef idx="0"/>
          <a:effectRef idx="0"/>
          <a:fontRef idx="minor"/>
        </p:style>
      </p:sp>
      <p:sp>
        <p:nvSpPr>
          <p:cNvPr id="53" name="Shape 9"/>
          <p:cNvSpPr/>
          <p:nvPr/>
        </p:nvSpPr>
        <p:spPr>
          <a:xfrm>
            <a:off x="8412480" y="1325880"/>
            <a:ext cx="91080" cy="91080"/>
          </a:xfrm>
          <a:prstGeom prst="ellipse">
            <a:avLst/>
          </a:prstGeom>
          <a:solidFill>
            <a:srgbClr val="f97316"/>
          </a:solidFill>
          <a:ln w="12700">
            <a:solidFill>
              <a:srgbClr val="0d1b2a"/>
            </a:solidFill>
            <a:round/>
          </a:ln>
        </p:spPr>
        <p:style>
          <a:lnRef idx="0"/>
          <a:fillRef idx="0"/>
          <a:effectRef idx="0"/>
          <a:fontRef idx="minor"/>
        </p:style>
      </p:sp>
      <p:sp>
        <p:nvSpPr>
          <p:cNvPr id="54" name="Text 10"/>
          <p:cNvSpPr/>
          <p:nvPr/>
        </p:nvSpPr>
        <p:spPr>
          <a:xfrm>
            <a:off x="548640" y="1097280"/>
            <a:ext cx="8229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599" strike="noStrike">
                <a:solidFill>
                  <a:srgbClr val="06b6d4"/>
                </a:solidFill>
                <a:latin typeface="Calibri"/>
                <a:ea typeface="Calibri"/>
              </a:rPr>
              <a:t>DOCTORAL PROPOSAL DEFENSE</a:t>
            </a:r>
            <a:endParaRPr b="0" lang="en-IN" sz="1100" spc="-1" strike="noStrike">
              <a:latin typeface="Arial"/>
            </a:endParaRPr>
          </a:p>
        </p:txBody>
      </p:sp>
      <p:sp>
        <p:nvSpPr>
          <p:cNvPr id="55" name="Text 11"/>
          <p:cNvSpPr/>
          <p:nvPr/>
        </p:nvSpPr>
        <p:spPr>
          <a:xfrm>
            <a:off x="548640" y="1554480"/>
            <a:ext cx="8229240" cy="1371240"/>
          </a:xfrm>
          <a:prstGeom prst="rect">
            <a:avLst/>
          </a:prstGeom>
          <a:noFill/>
          <a:ln w="0">
            <a:noFill/>
          </a:ln>
        </p:spPr>
        <p:style>
          <a:lnRef idx="0"/>
          <a:fillRef idx="0"/>
          <a:effectRef idx="0"/>
          <a:fontRef idx="minor"/>
        </p:style>
        <p:txBody>
          <a:bodyPr lIns="0" rIns="0" tIns="0" bIns="0" anchor="ctr">
            <a:noAutofit/>
          </a:bodyPr>
          <a:p>
            <a:pPr>
              <a:lnSpc>
                <a:spcPct val="100000"/>
              </a:lnSpc>
              <a:spcAft>
                <a:spcPts val="400"/>
              </a:spcAft>
              <a:buNone/>
              <a:tabLst>
                <a:tab algn="l" pos="0"/>
              </a:tabLst>
            </a:pPr>
            <a:r>
              <a:rPr b="1" lang="en-US" sz="3600" spc="-1" strike="noStrike">
                <a:solidFill>
                  <a:srgbClr val="f8fafc"/>
                </a:solidFill>
                <a:latin typeface="Calibri"/>
                <a:ea typeface="Calibri"/>
              </a:rPr>
              <a:t>Optimizing Software Defect Management,</a:t>
            </a:r>
            <a:endParaRPr b="0" lang="en-IN" sz="3600" spc="-1" strike="noStrike">
              <a:latin typeface="Arial"/>
            </a:endParaRPr>
          </a:p>
          <a:p>
            <a:pPr>
              <a:lnSpc>
                <a:spcPct val="100000"/>
              </a:lnSpc>
              <a:spcAft>
                <a:spcPts val="400"/>
              </a:spcAft>
              <a:buNone/>
              <a:tabLst>
                <a:tab algn="l" pos="0"/>
              </a:tabLst>
            </a:pPr>
            <a:r>
              <a:rPr b="1" lang="en-US" sz="3600" spc="-1" strike="noStrike">
                <a:solidFill>
                  <a:srgbClr val="f8fafc"/>
                </a:solidFill>
                <a:latin typeface="Calibri"/>
                <a:ea typeface="Calibri"/>
              </a:rPr>
              <a:t>Costs and Operational Efficiency</a:t>
            </a:r>
            <a:endParaRPr b="0" lang="en-IN" sz="3600" spc="-1" strike="noStrike">
              <a:latin typeface="Arial"/>
            </a:endParaRPr>
          </a:p>
        </p:txBody>
      </p:sp>
      <p:sp>
        <p:nvSpPr>
          <p:cNvPr id="56" name="Text 12"/>
          <p:cNvSpPr/>
          <p:nvPr/>
        </p:nvSpPr>
        <p:spPr>
          <a:xfrm>
            <a:off x="548640" y="2834640"/>
            <a:ext cx="82292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700" spc="-1" strike="noStrike">
                <a:solidFill>
                  <a:srgbClr val="06b6d4"/>
                </a:solidFill>
                <a:latin typeface="Calibri"/>
                <a:ea typeface="Calibri"/>
              </a:rPr>
              <a:t>AI-Driven Root Cause Analysis and Automated Triage in Microservice Environments</a:t>
            </a:r>
            <a:endParaRPr b="0" lang="en-IN" sz="1700" spc="-1" strike="noStrike">
              <a:latin typeface="Arial"/>
            </a:endParaRPr>
          </a:p>
        </p:txBody>
      </p:sp>
      <p:sp>
        <p:nvSpPr>
          <p:cNvPr id="57" name="Shape 13"/>
          <p:cNvSpPr/>
          <p:nvPr/>
        </p:nvSpPr>
        <p:spPr>
          <a:xfrm>
            <a:off x="548640" y="3566160"/>
            <a:ext cx="54360" cy="822600"/>
          </a:xfrm>
          <a:prstGeom prst="rect">
            <a:avLst/>
          </a:prstGeom>
          <a:solidFill>
            <a:srgbClr val="f97316"/>
          </a:solidFill>
          <a:ln w="12700">
            <a:solidFill>
              <a:srgbClr val="f97316"/>
            </a:solidFill>
            <a:round/>
          </a:ln>
        </p:spPr>
        <p:style>
          <a:lnRef idx="0"/>
          <a:fillRef idx="0"/>
          <a:effectRef idx="0"/>
          <a:fontRef idx="minor"/>
        </p:style>
      </p:sp>
      <p:sp>
        <p:nvSpPr>
          <p:cNvPr id="58" name="Text 14"/>
          <p:cNvSpPr/>
          <p:nvPr/>
        </p:nvSpPr>
        <p:spPr>
          <a:xfrm>
            <a:off x="777240" y="3566160"/>
            <a:ext cx="7772040" cy="914040"/>
          </a:xfrm>
          <a:prstGeom prst="rect">
            <a:avLst/>
          </a:prstGeom>
          <a:noFill/>
          <a:ln w="0">
            <a:noFill/>
          </a:ln>
        </p:spPr>
        <p:style>
          <a:lnRef idx="0"/>
          <a:fillRef idx="0"/>
          <a:effectRef idx="0"/>
          <a:fontRef idx="minor"/>
        </p:style>
        <p:txBody>
          <a:bodyPr lIns="0" rIns="0" tIns="0" bIns="0" anchor="t">
            <a:noAutofit/>
          </a:bodyPr>
          <a:p>
            <a:r>
              <a:rPr b="1" lang="en-US" sz="1800" spc="-1" strike="noStrike">
                <a:solidFill>
                  <a:srgbClr val="f8fafc"/>
                </a:solidFill>
                <a:latin typeface="Calibri"/>
                <a:ea typeface="Calibri"/>
              </a:rPr>
              <a:t>Akshay Adik</a:t>
            </a:r>
            <a:endParaRPr b="0" lang="en-IN" sz="1800" spc="-1" strike="noStrike">
              <a:latin typeface="Arial"/>
            </a:endParaRPr>
          </a:p>
          <a:p>
            <a:r>
              <a:rPr b="0" lang="en-US" sz="1200" spc="-1" strike="noStrike">
                <a:solidFill>
                  <a:srgbClr val="94a3b8"/>
                </a:solidFill>
                <a:latin typeface="Calibri"/>
                <a:ea typeface="Calibri"/>
              </a:rPr>
              <a:t>Doctor of Business Administration  ·  Golden Gate University</a:t>
            </a:r>
            <a:endParaRPr b="0" lang="en-IN" sz="1200" spc="-1" strike="noStrike">
              <a:latin typeface="Arial"/>
            </a:endParaRPr>
          </a:p>
          <a:p>
            <a:pPr>
              <a:lnSpc>
                <a:spcPct val="100000"/>
              </a:lnSpc>
              <a:buNone/>
              <a:tabLst>
                <a:tab algn="l" pos="0"/>
              </a:tabLst>
            </a:pPr>
            <a:r>
              <a:rPr b="0" lang="en-US" sz="1200" spc="-1" strike="noStrike">
                <a:solidFill>
                  <a:srgbClr val="94a3b8"/>
                </a:solidFill>
                <a:latin typeface="Calibri"/>
                <a:ea typeface="Calibri"/>
              </a:rPr>
              <a:t>Chair: Dr. Anil Kumar Vuppala  ·  May 2026</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59"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ROADMAP</a:t>
            </a:r>
            <a:endParaRPr b="0" lang="en-IN" sz="1000" spc="-1" strike="noStrike">
              <a:latin typeface="Arial"/>
            </a:endParaRPr>
          </a:p>
        </p:txBody>
      </p:sp>
      <p:sp>
        <p:nvSpPr>
          <p:cNvPr id="60"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Four parts, ~30 minutes — questions throughout welcome</a:t>
            </a:r>
            <a:endParaRPr b="0" lang="en-IN" sz="2200" spc="-1" strike="noStrike">
              <a:latin typeface="Arial"/>
            </a:endParaRPr>
          </a:p>
        </p:txBody>
      </p:sp>
      <p:sp>
        <p:nvSpPr>
          <p:cNvPr id="61" name="Shape 2"/>
          <p:cNvSpPr/>
          <p:nvPr/>
        </p:nvSpPr>
        <p:spPr>
          <a:xfrm>
            <a:off x="576000" y="1691640"/>
            <a:ext cx="1874160" cy="2194200"/>
          </a:xfrm>
          <a:prstGeom prst="rect">
            <a:avLst/>
          </a:prstGeom>
          <a:solidFill>
            <a:srgbClr val="1b263b"/>
          </a:solidFill>
          <a:ln w="9525">
            <a:solidFill>
              <a:srgbClr val="334155"/>
            </a:solidFill>
            <a:round/>
          </a:ln>
        </p:spPr>
        <p:style>
          <a:lnRef idx="0"/>
          <a:fillRef idx="0"/>
          <a:effectRef idx="0"/>
          <a:fontRef idx="minor"/>
        </p:style>
      </p:sp>
      <p:sp>
        <p:nvSpPr>
          <p:cNvPr id="62" name="Shape 3"/>
          <p:cNvSpPr/>
          <p:nvPr/>
        </p:nvSpPr>
        <p:spPr>
          <a:xfrm>
            <a:off x="1220760" y="1965960"/>
            <a:ext cx="585000" cy="585000"/>
          </a:xfrm>
          <a:prstGeom prst="ellipse">
            <a:avLst/>
          </a:prstGeom>
          <a:solidFill>
            <a:srgbClr val="164e63"/>
          </a:solidFill>
          <a:ln w="19050">
            <a:solidFill>
              <a:srgbClr val="06b6d4"/>
            </a:solidFill>
            <a:round/>
          </a:ln>
        </p:spPr>
        <p:style>
          <a:lnRef idx="0"/>
          <a:fillRef idx="0"/>
          <a:effectRef idx="0"/>
          <a:fontRef idx="minor"/>
        </p:style>
      </p:sp>
      <p:pic>
        <p:nvPicPr>
          <p:cNvPr id="63" name="Image 0" descr="preencoded.png"/>
          <p:cNvPicPr/>
          <p:nvPr/>
        </p:nvPicPr>
        <p:blipFill>
          <a:blip r:embed="rId1"/>
          <a:stretch/>
        </p:blipFill>
        <p:spPr>
          <a:xfrm>
            <a:off x="1330560" y="2075760"/>
            <a:ext cx="365400" cy="365400"/>
          </a:xfrm>
          <a:prstGeom prst="rect">
            <a:avLst/>
          </a:prstGeom>
          <a:ln w="0">
            <a:noFill/>
          </a:ln>
        </p:spPr>
      </p:pic>
      <p:sp>
        <p:nvSpPr>
          <p:cNvPr id="64" name="Text 4"/>
          <p:cNvSpPr/>
          <p:nvPr/>
        </p:nvSpPr>
        <p:spPr>
          <a:xfrm>
            <a:off x="576000" y="2651760"/>
            <a:ext cx="187416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500" spc="-1" strike="noStrike">
                <a:solidFill>
                  <a:srgbClr val="f8fafc"/>
                </a:solidFill>
                <a:latin typeface="Calibri"/>
                <a:ea typeface="Calibri"/>
              </a:rPr>
              <a:t>PROBLEM</a:t>
            </a:r>
            <a:endParaRPr b="0" lang="en-IN" sz="1500" spc="-1" strike="noStrike">
              <a:latin typeface="Arial"/>
            </a:endParaRPr>
          </a:p>
          <a:p>
            <a:pPr algn="ctr">
              <a:lnSpc>
                <a:spcPct val="100000"/>
              </a:lnSpc>
              <a:buNone/>
              <a:tabLst>
                <a:tab algn="l" pos="0"/>
              </a:tabLst>
            </a:pPr>
            <a:r>
              <a:rPr b="1" lang="en-US" sz="1500" spc="-1" strike="noStrike">
                <a:solidFill>
                  <a:srgbClr val="f8fafc"/>
                </a:solidFill>
                <a:latin typeface="Calibri"/>
                <a:ea typeface="Calibri"/>
              </a:rPr>
              <a:t>&amp; GAP</a:t>
            </a:r>
            <a:endParaRPr b="0" lang="en-IN" sz="1500" spc="-1" strike="noStrike">
              <a:latin typeface="Arial"/>
            </a:endParaRPr>
          </a:p>
        </p:txBody>
      </p:sp>
      <p:sp>
        <p:nvSpPr>
          <p:cNvPr id="65" name="Text 5"/>
          <p:cNvSpPr/>
          <p:nvPr/>
        </p:nvSpPr>
        <p:spPr>
          <a:xfrm>
            <a:off x="576000" y="3383280"/>
            <a:ext cx="187416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06b6d4"/>
                </a:solidFill>
                <a:latin typeface="Calibri"/>
                <a:ea typeface="Calibri"/>
              </a:rPr>
              <a:t>Slides 3–10</a:t>
            </a:r>
            <a:endParaRPr b="0" lang="en-IN" sz="1000" spc="-1" strike="noStrike">
              <a:latin typeface="Arial"/>
            </a:endParaRPr>
          </a:p>
        </p:txBody>
      </p:sp>
      <p:sp>
        <p:nvSpPr>
          <p:cNvPr id="66" name="Text 6"/>
          <p:cNvSpPr/>
          <p:nvPr/>
        </p:nvSpPr>
        <p:spPr>
          <a:xfrm>
            <a:off x="2395800" y="2606040"/>
            <a:ext cx="27396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400" spc="-1" strike="noStrike">
                <a:solidFill>
                  <a:srgbClr val="06b6d4"/>
                </a:solidFill>
                <a:latin typeface="Calibri"/>
                <a:ea typeface="Calibri"/>
              </a:rPr>
              <a:t>›</a:t>
            </a:r>
            <a:endParaRPr b="0" lang="en-IN" sz="2400" spc="-1" strike="noStrike">
              <a:latin typeface="Arial"/>
            </a:endParaRPr>
          </a:p>
        </p:txBody>
      </p:sp>
      <p:sp>
        <p:nvSpPr>
          <p:cNvPr id="67" name="Shape 7"/>
          <p:cNvSpPr/>
          <p:nvPr/>
        </p:nvSpPr>
        <p:spPr>
          <a:xfrm>
            <a:off x="2615040" y="1691640"/>
            <a:ext cx="1874160" cy="2194200"/>
          </a:xfrm>
          <a:prstGeom prst="rect">
            <a:avLst/>
          </a:prstGeom>
          <a:solidFill>
            <a:srgbClr val="1b263b"/>
          </a:solidFill>
          <a:ln w="9525">
            <a:solidFill>
              <a:srgbClr val="334155"/>
            </a:solidFill>
            <a:round/>
          </a:ln>
        </p:spPr>
        <p:style>
          <a:lnRef idx="0"/>
          <a:fillRef idx="0"/>
          <a:effectRef idx="0"/>
          <a:fontRef idx="minor"/>
        </p:style>
      </p:sp>
      <p:sp>
        <p:nvSpPr>
          <p:cNvPr id="68" name="Shape 8"/>
          <p:cNvSpPr/>
          <p:nvPr/>
        </p:nvSpPr>
        <p:spPr>
          <a:xfrm>
            <a:off x="3259800" y="1965960"/>
            <a:ext cx="585000" cy="585000"/>
          </a:xfrm>
          <a:prstGeom prst="ellipse">
            <a:avLst/>
          </a:prstGeom>
          <a:solidFill>
            <a:srgbClr val="164e63"/>
          </a:solidFill>
          <a:ln w="19050">
            <a:solidFill>
              <a:srgbClr val="06b6d4"/>
            </a:solidFill>
            <a:round/>
          </a:ln>
        </p:spPr>
        <p:style>
          <a:lnRef idx="0"/>
          <a:fillRef idx="0"/>
          <a:effectRef idx="0"/>
          <a:fontRef idx="minor"/>
        </p:style>
      </p:sp>
      <p:pic>
        <p:nvPicPr>
          <p:cNvPr id="69" name="Image 1" descr="preencoded.png"/>
          <p:cNvPicPr/>
          <p:nvPr/>
        </p:nvPicPr>
        <p:blipFill>
          <a:blip r:embed="rId2"/>
          <a:stretch/>
        </p:blipFill>
        <p:spPr>
          <a:xfrm>
            <a:off x="3369600" y="2075760"/>
            <a:ext cx="365400" cy="365400"/>
          </a:xfrm>
          <a:prstGeom prst="rect">
            <a:avLst/>
          </a:prstGeom>
          <a:ln w="0">
            <a:noFill/>
          </a:ln>
        </p:spPr>
      </p:pic>
      <p:sp>
        <p:nvSpPr>
          <p:cNvPr id="70" name="Text 9"/>
          <p:cNvSpPr/>
          <p:nvPr/>
        </p:nvSpPr>
        <p:spPr>
          <a:xfrm>
            <a:off x="2615040" y="2651760"/>
            <a:ext cx="187416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500" spc="-1" strike="noStrike">
                <a:solidFill>
                  <a:srgbClr val="f8fafc"/>
                </a:solidFill>
                <a:latin typeface="Calibri"/>
                <a:ea typeface="Calibri"/>
              </a:rPr>
              <a:t>METHODOLOGY</a:t>
            </a:r>
            <a:endParaRPr b="0" lang="en-IN" sz="1500" spc="-1" strike="noStrike">
              <a:latin typeface="Arial"/>
            </a:endParaRPr>
          </a:p>
        </p:txBody>
      </p:sp>
      <p:sp>
        <p:nvSpPr>
          <p:cNvPr id="71" name="Text 10"/>
          <p:cNvSpPr/>
          <p:nvPr/>
        </p:nvSpPr>
        <p:spPr>
          <a:xfrm>
            <a:off x="2615040" y="3383280"/>
            <a:ext cx="187416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06b6d4"/>
                </a:solidFill>
                <a:latin typeface="Calibri"/>
                <a:ea typeface="Calibri"/>
              </a:rPr>
              <a:t>Slides 11–13</a:t>
            </a:r>
            <a:endParaRPr b="0" lang="en-IN" sz="1000" spc="-1" strike="noStrike">
              <a:latin typeface="Arial"/>
            </a:endParaRPr>
          </a:p>
        </p:txBody>
      </p:sp>
      <p:sp>
        <p:nvSpPr>
          <p:cNvPr id="72" name="Text 11"/>
          <p:cNvSpPr/>
          <p:nvPr/>
        </p:nvSpPr>
        <p:spPr>
          <a:xfrm>
            <a:off x="4434840" y="2606040"/>
            <a:ext cx="27396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400" spc="-1" strike="noStrike">
                <a:solidFill>
                  <a:srgbClr val="06b6d4"/>
                </a:solidFill>
                <a:latin typeface="Calibri"/>
                <a:ea typeface="Calibri"/>
              </a:rPr>
              <a:t>›</a:t>
            </a:r>
            <a:endParaRPr b="0" lang="en-IN" sz="2400" spc="-1" strike="noStrike">
              <a:latin typeface="Arial"/>
            </a:endParaRPr>
          </a:p>
        </p:txBody>
      </p:sp>
      <p:sp>
        <p:nvSpPr>
          <p:cNvPr id="73" name="Shape 12"/>
          <p:cNvSpPr/>
          <p:nvPr/>
        </p:nvSpPr>
        <p:spPr>
          <a:xfrm>
            <a:off x="4654440" y="1691640"/>
            <a:ext cx="1874160" cy="2194200"/>
          </a:xfrm>
          <a:prstGeom prst="rect">
            <a:avLst/>
          </a:prstGeom>
          <a:solidFill>
            <a:srgbClr val="1b263b"/>
          </a:solidFill>
          <a:ln w="9525">
            <a:solidFill>
              <a:srgbClr val="334155"/>
            </a:solidFill>
            <a:round/>
          </a:ln>
        </p:spPr>
        <p:style>
          <a:lnRef idx="0"/>
          <a:fillRef idx="0"/>
          <a:effectRef idx="0"/>
          <a:fontRef idx="minor"/>
        </p:style>
      </p:sp>
      <p:sp>
        <p:nvSpPr>
          <p:cNvPr id="74" name="Shape 13"/>
          <p:cNvSpPr/>
          <p:nvPr/>
        </p:nvSpPr>
        <p:spPr>
          <a:xfrm>
            <a:off x="5298840" y="1965960"/>
            <a:ext cx="585000" cy="585000"/>
          </a:xfrm>
          <a:prstGeom prst="ellipse">
            <a:avLst/>
          </a:prstGeom>
          <a:solidFill>
            <a:srgbClr val="164e63"/>
          </a:solidFill>
          <a:ln w="19050">
            <a:solidFill>
              <a:srgbClr val="06b6d4"/>
            </a:solidFill>
            <a:round/>
          </a:ln>
        </p:spPr>
        <p:style>
          <a:lnRef idx="0"/>
          <a:fillRef idx="0"/>
          <a:effectRef idx="0"/>
          <a:fontRef idx="minor"/>
        </p:style>
      </p:sp>
      <p:pic>
        <p:nvPicPr>
          <p:cNvPr id="75" name="Image 2" descr="preencoded.png"/>
          <p:cNvPicPr/>
          <p:nvPr/>
        </p:nvPicPr>
        <p:blipFill>
          <a:blip r:embed="rId3"/>
          <a:stretch/>
        </p:blipFill>
        <p:spPr>
          <a:xfrm>
            <a:off x="5408640" y="2075760"/>
            <a:ext cx="365400" cy="365400"/>
          </a:xfrm>
          <a:prstGeom prst="rect">
            <a:avLst/>
          </a:prstGeom>
          <a:ln w="0">
            <a:noFill/>
          </a:ln>
        </p:spPr>
      </p:pic>
      <p:sp>
        <p:nvSpPr>
          <p:cNvPr id="76" name="Text 14"/>
          <p:cNvSpPr/>
          <p:nvPr/>
        </p:nvSpPr>
        <p:spPr>
          <a:xfrm>
            <a:off x="4654440" y="2651760"/>
            <a:ext cx="187416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500" spc="-1" strike="noStrike">
                <a:solidFill>
                  <a:srgbClr val="f8fafc"/>
                </a:solidFill>
                <a:latin typeface="Calibri"/>
                <a:ea typeface="Calibri"/>
              </a:rPr>
              <a:t>HELIOS</a:t>
            </a:r>
            <a:endParaRPr b="0" lang="en-IN" sz="1500" spc="-1" strike="noStrike">
              <a:latin typeface="Arial"/>
            </a:endParaRPr>
          </a:p>
          <a:p>
            <a:pPr algn="ctr">
              <a:lnSpc>
                <a:spcPct val="100000"/>
              </a:lnSpc>
              <a:buNone/>
              <a:tabLst>
                <a:tab algn="l" pos="0"/>
              </a:tabLst>
            </a:pPr>
            <a:r>
              <a:rPr b="1" lang="en-US" sz="1500" spc="-1" strike="noStrike">
                <a:solidFill>
                  <a:srgbClr val="f8fafc"/>
                </a:solidFill>
                <a:latin typeface="Calibri"/>
                <a:ea typeface="Calibri"/>
              </a:rPr>
              <a:t>ARTEFACT</a:t>
            </a:r>
            <a:endParaRPr b="0" lang="en-IN" sz="1500" spc="-1" strike="noStrike">
              <a:latin typeface="Arial"/>
            </a:endParaRPr>
          </a:p>
        </p:txBody>
      </p:sp>
      <p:sp>
        <p:nvSpPr>
          <p:cNvPr id="77" name="Text 15"/>
          <p:cNvSpPr/>
          <p:nvPr/>
        </p:nvSpPr>
        <p:spPr>
          <a:xfrm>
            <a:off x="4654440" y="3383280"/>
            <a:ext cx="187416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06b6d4"/>
                </a:solidFill>
                <a:latin typeface="Calibri"/>
                <a:ea typeface="Calibri"/>
              </a:rPr>
              <a:t>Slides 14–17</a:t>
            </a:r>
            <a:endParaRPr b="0" lang="en-IN" sz="1000" spc="-1" strike="noStrike">
              <a:latin typeface="Arial"/>
            </a:endParaRPr>
          </a:p>
        </p:txBody>
      </p:sp>
      <p:sp>
        <p:nvSpPr>
          <p:cNvPr id="78" name="Text 16"/>
          <p:cNvSpPr/>
          <p:nvPr/>
        </p:nvSpPr>
        <p:spPr>
          <a:xfrm>
            <a:off x="6473880" y="2606040"/>
            <a:ext cx="27396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400" spc="-1" strike="noStrike">
                <a:solidFill>
                  <a:srgbClr val="06b6d4"/>
                </a:solidFill>
                <a:latin typeface="Calibri"/>
                <a:ea typeface="Calibri"/>
              </a:rPr>
              <a:t>›</a:t>
            </a:r>
            <a:endParaRPr b="0" lang="en-IN" sz="2400" spc="-1" strike="noStrike">
              <a:latin typeface="Arial"/>
            </a:endParaRPr>
          </a:p>
        </p:txBody>
      </p:sp>
      <p:sp>
        <p:nvSpPr>
          <p:cNvPr id="79" name="Shape 17"/>
          <p:cNvSpPr/>
          <p:nvPr/>
        </p:nvSpPr>
        <p:spPr>
          <a:xfrm>
            <a:off x="6693480" y="1691640"/>
            <a:ext cx="1874160" cy="2194200"/>
          </a:xfrm>
          <a:prstGeom prst="rect">
            <a:avLst/>
          </a:prstGeom>
          <a:solidFill>
            <a:srgbClr val="1b263b"/>
          </a:solidFill>
          <a:ln w="9525">
            <a:solidFill>
              <a:srgbClr val="334155"/>
            </a:solidFill>
            <a:round/>
          </a:ln>
        </p:spPr>
        <p:style>
          <a:lnRef idx="0"/>
          <a:fillRef idx="0"/>
          <a:effectRef idx="0"/>
          <a:fontRef idx="minor"/>
        </p:style>
      </p:sp>
      <p:sp>
        <p:nvSpPr>
          <p:cNvPr id="80" name="Shape 18"/>
          <p:cNvSpPr/>
          <p:nvPr/>
        </p:nvSpPr>
        <p:spPr>
          <a:xfrm>
            <a:off x="7338240" y="1965960"/>
            <a:ext cx="585000" cy="585000"/>
          </a:xfrm>
          <a:prstGeom prst="ellipse">
            <a:avLst/>
          </a:prstGeom>
          <a:solidFill>
            <a:srgbClr val="164e63"/>
          </a:solidFill>
          <a:ln w="19050">
            <a:solidFill>
              <a:srgbClr val="06b6d4"/>
            </a:solidFill>
            <a:round/>
          </a:ln>
        </p:spPr>
        <p:style>
          <a:lnRef idx="0"/>
          <a:fillRef idx="0"/>
          <a:effectRef idx="0"/>
          <a:fontRef idx="minor"/>
        </p:style>
      </p:sp>
      <p:pic>
        <p:nvPicPr>
          <p:cNvPr id="81" name="Image 3" descr="preencoded.png"/>
          <p:cNvPicPr/>
          <p:nvPr/>
        </p:nvPicPr>
        <p:blipFill>
          <a:blip r:embed="rId4"/>
          <a:stretch/>
        </p:blipFill>
        <p:spPr>
          <a:xfrm>
            <a:off x="7447680" y="2075760"/>
            <a:ext cx="365400" cy="365400"/>
          </a:xfrm>
          <a:prstGeom prst="rect">
            <a:avLst/>
          </a:prstGeom>
          <a:ln w="0">
            <a:noFill/>
          </a:ln>
        </p:spPr>
      </p:pic>
      <p:sp>
        <p:nvSpPr>
          <p:cNvPr id="82" name="Text 19"/>
          <p:cNvSpPr/>
          <p:nvPr/>
        </p:nvSpPr>
        <p:spPr>
          <a:xfrm>
            <a:off x="6693480" y="2651760"/>
            <a:ext cx="1874160" cy="776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500" spc="-1" strike="noStrike">
                <a:solidFill>
                  <a:srgbClr val="f8fafc"/>
                </a:solidFill>
                <a:latin typeface="Calibri"/>
                <a:ea typeface="Calibri"/>
              </a:rPr>
              <a:t>EVALUATION</a:t>
            </a:r>
            <a:endParaRPr b="0" lang="en-IN" sz="1500" spc="-1" strike="noStrike">
              <a:latin typeface="Arial"/>
            </a:endParaRPr>
          </a:p>
          <a:p>
            <a:pPr algn="ctr">
              <a:lnSpc>
                <a:spcPct val="100000"/>
              </a:lnSpc>
              <a:buNone/>
              <a:tabLst>
                <a:tab algn="l" pos="0"/>
              </a:tabLst>
            </a:pPr>
            <a:r>
              <a:rPr b="1" lang="en-US" sz="1500" spc="-1" strike="noStrike">
                <a:solidFill>
                  <a:srgbClr val="f8fafc"/>
                </a:solidFill>
                <a:latin typeface="Calibri"/>
                <a:ea typeface="Calibri"/>
              </a:rPr>
              <a:t>&amp; OUTCOMES</a:t>
            </a:r>
            <a:endParaRPr b="0" lang="en-IN" sz="1500" spc="-1" strike="noStrike">
              <a:latin typeface="Arial"/>
            </a:endParaRPr>
          </a:p>
        </p:txBody>
      </p:sp>
      <p:sp>
        <p:nvSpPr>
          <p:cNvPr id="83" name="Text 20"/>
          <p:cNvSpPr/>
          <p:nvPr/>
        </p:nvSpPr>
        <p:spPr>
          <a:xfrm>
            <a:off x="6693480" y="3383280"/>
            <a:ext cx="187416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000" spc="-1" strike="noStrike">
                <a:solidFill>
                  <a:srgbClr val="06b6d4"/>
                </a:solidFill>
                <a:latin typeface="Calibri"/>
                <a:ea typeface="Calibri"/>
              </a:rPr>
              <a:t>Slides 18–22</a:t>
            </a:r>
            <a:endParaRPr b="0" lang="en-IN" sz="1000" spc="-1" strike="noStrike">
              <a:latin typeface="Arial"/>
            </a:endParaRPr>
          </a:p>
        </p:txBody>
      </p:sp>
      <p:sp>
        <p:nvSpPr>
          <p:cNvPr id="84" name="Text 21"/>
          <p:cNvSpPr/>
          <p:nvPr/>
        </p:nvSpPr>
        <p:spPr>
          <a:xfrm>
            <a:off x="548640" y="4251960"/>
            <a:ext cx="804636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1200" spc="-1" strike="noStrike">
                <a:solidFill>
                  <a:srgbClr val="94a3b8"/>
                </a:solidFill>
                <a:latin typeface="Calibri"/>
                <a:ea typeface="Calibri"/>
              </a:rPr>
              <a:t>Largest share of time goes to the artefact and the evaluation — that is where the doctoral contribution lives.</a:t>
            </a:r>
            <a:endParaRPr b="0" lang="en-IN" sz="1200" spc="-1" strike="noStrike">
              <a:latin typeface="Arial"/>
            </a:endParaRPr>
          </a:p>
        </p:txBody>
      </p:sp>
      <p:sp>
        <p:nvSpPr>
          <p:cNvPr id="85" name="Text 22"/>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2 / 22</a:t>
            </a:r>
            <a:endParaRPr b="0" lang="en-IN" sz="900" spc="-1" strike="noStrike">
              <a:latin typeface="Arial"/>
            </a:endParaRPr>
          </a:p>
        </p:txBody>
      </p:sp>
      <p:sp>
        <p:nvSpPr>
          <p:cNvPr id="86" name="Shape 23"/>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87"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WHY MICROSERVICE RCA IS HARD</a:t>
            </a:r>
            <a:endParaRPr b="0" lang="en-IN" sz="1000" spc="-1" strike="noStrike">
              <a:latin typeface="Arial"/>
            </a:endParaRPr>
          </a:p>
        </p:txBody>
      </p:sp>
      <p:sp>
        <p:nvSpPr>
          <p:cNvPr id="88"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Failures cascade — origin is several hops from observable symptom</a:t>
            </a:r>
            <a:endParaRPr b="0" lang="en-IN" sz="2200" spc="-1" strike="noStrike">
              <a:latin typeface="Arial"/>
            </a:endParaRPr>
          </a:p>
        </p:txBody>
      </p:sp>
      <p:sp>
        <p:nvSpPr>
          <p:cNvPr id="89" name="Shape 2"/>
          <p:cNvSpPr/>
          <p:nvPr/>
        </p:nvSpPr>
        <p:spPr>
          <a:xfrm>
            <a:off x="502920" y="1371600"/>
            <a:ext cx="4754520" cy="3017160"/>
          </a:xfrm>
          <a:prstGeom prst="rect">
            <a:avLst/>
          </a:prstGeom>
          <a:solidFill>
            <a:srgbClr val="162236"/>
          </a:solidFill>
          <a:ln w="9525">
            <a:solidFill>
              <a:srgbClr val="334155"/>
            </a:solidFill>
            <a:round/>
          </a:ln>
        </p:spPr>
        <p:style>
          <a:lnRef idx="0"/>
          <a:fillRef idx="0"/>
          <a:effectRef idx="0"/>
          <a:fontRef idx="minor"/>
        </p:style>
      </p:sp>
      <p:sp>
        <p:nvSpPr>
          <p:cNvPr id="90" name="Shape 3"/>
          <p:cNvSpPr/>
          <p:nvPr/>
        </p:nvSpPr>
        <p:spPr>
          <a:xfrm flipV="1">
            <a:off x="1143000" y="2194560"/>
            <a:ext cx="914400" cy="731520"/>
          </a:xfrm>
          <a:prstGeom prst="line">
            <a:avLst/>
          </a:prstGeom>
          <a:ln w="19050">
            <a:solidFill>
              <a:srgbClr val="475569"/>
            </a:solidFill>
            <a:round/>
          </a:ln>
        </p:spPr>
        <p:style>
          <a:lnRef idx="0"/>
          <a:fillRef idx="0"/>
          <a:effectRef idx="0"/>
          <a:fontRef idx="minor"/>
        </p:style>
      </p:sp>
      <p:sp>
        <p:nvSpPr>
          <p:cNvPr id="91" name="Shape 4"/>
          <p:cNvSpPr/>
          <p:nvPr/>
        </p:nvSpPr>
        <p:spPr>
          <a:xfrm>
            <a:off x="1143000" y="2926080"/>
            <a:ext cx="914400" cy="731520"/>
          </a:xfrm>
          <a:prstGeom prst="line">
            <a:avLst/>
          </a:prstGeom>
          <a:ln w="19050">
            <a:solidFill>
              <a:srgbClr val="475569"/>
            </a:solidFill>
            <a:round/>
          </a:ln>
        </p:spPr>
        <p:style>
          <a:lnRef idx="0"/>
          <a:fillRef idx="0"/>
          <a:effectRef idx="0"/>
          <a:fontRef idx="minor"/>
        </p:style>
      </p:sp>
      <p:sp>
        <p:nvSpPr>
          <p:cNvPr id="92" name="Shape 5"/>
          <p:cNvSpPr/>
          <p:nvPr/>
        </p:nvSpPr>
        <p:spPr>
          <a:xfrm>
            <a:off x="2057400" y="2194560"/>
            <a:ext cx="1097280" cy="274320"/>
          </a:xfrm>
          <a:prstGeom prst="line">
            <a:avLst/>
          </a:prstGeom>
          <a:ln w="19050">
            <a:solidFill>
              <a:srgbClr val="475569"/>
            </a:solidFill>
            <a:round/>
          </a:ln>
        </p:spPr>
        <p:style>
          <a:lnRef idx="0"/>
          <a:fillRef idx="0"/>
          <a:effectRef idx="0"/>
          <a:fontRef idx="minor"/>
        </p:style>
      </p:sp>
      <p:sp>
        <p:nvSpPr>
          <p:cNvPr id="93" name="Shape 6"/>
          <p:cNvSpPr/>
          <p:nvPr/>
        </p:nvSpPr>
        <p:spPr>
          <a:xfrm>
            <a:off x="2057400" y="3657600"/>
            <a:ext cx="1097280" cy="360"/>
          </a:xfrm>
          <a:prstGeom prst="line">
            <a:avLst/>
          </a:prstGeom>
          <a:ln w="19050">
            <a:solidFill>
              <a:srgbClr val="475569"/>
            </a:solidFill>
            <a:round/>
          </a:ln>
        </p:spPr>
        <p:style>
          <a:lnRef idx="0"/>
          <a:fillRef idx="0"/>
          <a:effectRef idx="0"/>
          <a:fontRef idx="minor"/>
        </p:style>
      </p:sp>
      <p:sp>
        <p:nvSpPr>
          <p:cNvPr id="94" name="Shape 7"/>
          <p:cNvSpPr/>
          <p:nvPr/>
        </p:nvSpPr>
        <p:spPr>
          <a:xfrm>
            <a:off x="3154680" y="2468880"/>
            <a:ext cx="1097280" cy="640080"/>
          </a:xfrm>
          <a:prstGeom prst="line">
            <a:avLst/>
          </a:prstGeom>
          <a:ln w="19050">
            <a:solidFill>
              <a:srgbClr val="475569"/>
            </a:solidFill>
            <a:round/>
          </a:ln>
        </p:spPr>
        <p:style>
          <a:lnRef idx="0"/>
          <a:fillRef idx="0"/>
          <a:effectRef idx="0"/>
          <a:fontRef idx="minor"/>
        </p:style>
      </p:sp>
      <p:sp>
        <p:nvSpPr>
          <p:cNvPr id="95" name="Shape 8"/>
          <p:cNvSpPr/>
          <p:nvPr/>
        </p:nvSpPr>
        <p:spPr>
          <a:xfrm flipV="1">
            <a:off x="3154680" y="3108960"/>
            <a:ext cx="1097280" cy="548640"/>
          </a:xfrm>
          <a:prstGeom prst="line">
            <a:avLst/>
          </a:prstGeom>
          <a:ln w="19050">
            <a:solidFill>
              <a:srgbClr val="475569"/>
            </a:solidFill>
            <a:round/>
          </a:ln>
        </p:spPr>
        <p:style>
          <a:lnRef idx="0"/>
          <a:fillRef idx="0"/>
          <a:effectRef idx="0"/>
          <a:fontRef idx="minor"/>
        </p:style>
      </p:sp>
      <p:sp>
        <p:nvSpPr>
          <p:cNvPr id="96" name="Shape 9"/>
          <p:cNvSpPr/>
          <p:nvPr/>
        </p:nvSpPr>
        <p:spPr>
          <a:xfrm flipV="1">
            <a:off x="4251960" y="2194560"/>
            <a:ext cx="640080" cy="914400"/>
          </a:xfrm>
          <a:prstGeom prst="line">
            <a:avLst/>
          </a:prstGeom>
          <a:ln w="19050">
            <a:solidFill>
              <a:srgbClr val="475569"/>
            </a:solidFill>
            <a:round/>
          </a:ln>
        </p:spPr>
        <p:style>
          <a:lnRef idx="0"/>
          <a:fillRef idx="0"/>
          <a:effectRef idx="0"/>
          <a:fontRef idx="minor"/>
        </p:style>
      </p:sp>
      <p:sp>
        <p:nvSpPr>
          <p:cNvPr id="97" name="Shape 10"/>
          <p:cNvSpPr/>
          <p:nvPr/>
        </p:nvSpPr>
        <p:spPr>
          <a:xfrm flipV="1">
            <a:off x="3154680" y="2194560"/>
            <a:ext cx="1737360" cy="274320"/>
          </a:xfrm>
          <a:prstGeom prst="line">
            <a:avLst/>
          </a:prstGeom>
          <a:ln w="19050">
            <a:solidFill>
              <a:srgbClr val="475569"/>
            </a:solidFill>
            <a:round/>
          </a:ln>
        </p:spPr>
        <p:style>
          <a:lnRef idx="0"/>
          <a:fillRef idx="0"/>
          <a:effectRef idx="0"/>
          <a:fontRef idx="minor"/>
        </p:style>
      </p:sp>
      <p:sp>
        <p:nvSpPr>
          <p:cNvPr id="98" name="Shape 11"/>
          <p:cNvSpPr/>
          <p:nvPr/>
        </p:nvSpPr>
        <p:spPr>
          <a:xfrm flipH="1">
            <a:off x="3154680" y="2194560"/>
            <a:ext cx="1737360" cy="274320"/>
          </a:xfrm>
          <a:prstGeom prst="line">
            <a:avLst/>
          </a:prstGeom>
          <a:ln w="31750">
            <a:solidFill>
              <a:srgbClr val="f97316"/>
            </a:solidFill>
            <a:prstDash val="dash"/>
            <a:round/>
          </a:ln>
        </p:spPr>
        <p:style>
          <a:lnRef idx="0"/>
          <a:fillRef idx="0"/>
          <a:effectRef idx="0"/>
          <a:fontRef idx="minor"/>
        </p:style>
      </p:sp>
      <p:sp>
        <p:nvSpPr>
          <p:cNvPr id="99" name="Shape 12"/>
          <p:cNvSpPr/>
          <p:nvPr/>
        </p:nvSpPr>
        <p:spPr>
          <a:xfrm flipH="1" flipV="1">
            <a:off x="2057400" y="2194560"/>
            <a:ext cx="1097280" cy="274320"/>
          </a:xfrm>
          <a:prstGeom prst="line">
            <a:avLst/>
          </a:prstGeom>
          <a:ln w="31750">
            <a:solidFill>
              <a:srgbClr val="f97316"/>
            </a:solidFill>
            <a:prstDash val="dash"/>
            <a:round/>
          </a:ln>
        </p:spPr>
        <p:style>
          <a:lnRef idx="0"/>
          <a:fillRef idx="0"/>
          <a:effectRef idx="0"/>
          <a:fontRef idx="minor"/>
        </p:style>
      </p:sp>
      <p:sp>
        <p:nvSpPr>
          <p:cNvPr id="100" name="Shape 13"/>
          <p:cNvSpPr/>
          <p:nvPr/>
        </p:nvSpPr>
        <p:spPr>
          <a:xfrm flipH="1">
            <a:off x="1143000" y="2194560"/>
            <a:ext cx="914400" cy="731520"/>
          </a:xfrm>
          <a:prstGeom prst="line">
            <a:avLst/>
          </a:prstGeom>
          <a:ln w="31750">
            <a:solidFill>
              <a:srgbClr val="f97316"/>
            </a:solidFill>
            <a:prstDash val="dash"/>
            <a:round/>
          </a:ln>
        </p:spPr>
        <p:style>
          <a:lnRef idx="0"/>
          <a:fillRef idx="0"/>
          <a:effectRef idx="0"/>
          <a:fontRef idx="minor"/>
        </p:style>
      </p:sp>
      <p:sp>
        <p:nvSpPr>
          <p:cNvPr id="101" name="Shape 14"/>
          <p:cNvSpPr/>
          <p:nvPr/>
        </p:nvSpPr>
        <p:spPr>
          <a:xfrm>
            <a:off x="960120" y="2743200"/>
            <a:ext cx="365400" cy="365400"/>
          </a:xfrm>
          <a:prstGeom prst="ellipse">
            <a:avLst/>
          </a:prstGeom>
          <a:solidFill>
            <a:srgbClr val="ef4444"/>
          </a:solidFill>
          <a:ln w="19050">
            <a:solidFill>
              <a:srgbClr val="0d1b2a"/>
            </a:solidFill>
            <a:round/>
          </a:ln>
        </p:spPr>
        <p:style>
          <a:lnRef idx="0"/>
          <a:fillRef idx="0"/>
          <a:effectRef idx="0"/>
          <a:fontRef idx="minor"/>
        </p:style>
      </p:sp>
      <p:sp>
        <p:nvSpPr>
          <p:cNvPr id="102" name="Text 15"/>
          <p:cNvSpPr/>
          <p:nvPr/>
        </p:nvSpPr>
        <p:spPr>
          <a:xfrm>
            <a:off x="960120" y="2743200"/>
            <a:ext cx="36540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0d1b2a"/>
                </a:solidFill>
                <a:latin typeface="Calibri"/>
                <a:ea typeface="Calibri"/>
              </a:rPr>
              <a:t>S1</a:t>
            </a:r>
            <a:endParaRPr b="0" lang="en-IN" sz="900" spc="-1" strike="noStrike">
              <a:latin typeface="Arial"/>
            </a:endParaRPr>
          </a:p>
        </p:txBody>
      </p:sp>
      <p:sp>
        <p:nvSpPr>
          <p:cNvPr id="103" name="Shape 16"/>
          <p:cNvSpPr/>
          <p:nvPr/>
        </p:nvSpPr>
        <p:spPr>
          <a:xfrm>
            <a:off x="1874520" y="2011680"/>
            <a:ext cx="365400" cy="365400"/>
          </a:xfrm>
          <a:prstGeom prst="ellipse">
            <a:avLst/>
          </a:prstGeom>
          <a:solidFill>
            <a:srgbClr val="06b6d4"/>
          </a:solidFill>
          <a:ln w="19050">
            <a:solidFill>
              <a:srgbClr val="0d1b2a"/>
            </a:solidFill>
            <a:round/>
          </a:ln>
        </p:spPr>
        <p:style>
          <a:lnRef idx="0"/>
          <a:fillRef idx="0"/>
          <a:effectRef idx="0"/>
          <a:fontRef idx="minor"/>
        </p:style>
      </p:sp>
      <p:sp>
        <p:nvSpPr>
          <p:cNvPr id="104" name="Text 17"/>
          <p:cNvSpPr/>
          <p:nvPr/>
        </p:nvSpPr>
        <p:spPr>
          <a:xfrm>
            <a:off x="1874520" y="2011680"/>
            <a:ext cx="36540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0d1b2a"/>
                </a:solidFill>
                <a:latin typeface="Calibri"/>
                <a:ea typeface="Calibri"/>
              </a:rPr>
              <a:t>S2</a:t>
            </a:r>
            <a:endParaRPr b="0" lang="en-IN" sz="900" spc="-1" strike="noStrike">
              <a:latin typeface="Arial"/>
            </a:endParaRPr>
          </a:p>
        </p:txBody>
      </p:sp>
      <p:sp>
        <p:nvSpPr>
          <p:cNvPr id="105" name="Shape 18"/>
          <p:cNvSpPr/>
          <p:nvPr/>
        </p:nvSpPr>
        <p:spPr>
          <a:xfrm>
            <a:off x="1874520" y="3474720"/>
            <a:ext cx="365400" cy="365400"/>
          </a:xfrm>
          <a:prstGeom prst="ellipse">
            <a:avLst/>
          </a:prstGeom>
          <a:solidFill>
            <a:srgbClr val="06b6d4"/>
          </a:solidFill>
          <a:ln w="19050">
            <a:solidFill>
              <a:srgbClr val="0d1b2a"/>
            </a:solidFill>
            <a:round/>
          </a:ln>
        </p:spPr>
        <p:style>
          <a:lnRef idx="0"/>
          <a:fillRef idx="0"/>
          <a:effectRef idx="0"/>
          <a:fontRef idx="minor"/>
        </p:style>
      </p:sp>
      <p:sp>
        <p:nvSpPr>
          <p:cNvPr id="106" name="Text 19"/>
          <p:cNvSpPr/>
          <p:nvPr/>
        </p:nvSpPr>
        <p:spPr>
          <a:xfrm>
            <a:off x="1874520" y="3474720"/>
            <a:ext cx="36540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0d1b2a"/>
                </a:solidFill>
                <a:latin typeface="Calibri"/>
                <a:ea typeface="Calibri"/>
              </a:rPr>
              <a:t>S3</a:t>
            </a:r>
            <a:endParaRPr b="0" lang="en-IN" sz="900" spc="-1" strike="noStrike">
              <a:latin typeface="Arial"/>
            </a:endParaRPr>
          </a:p>
        </p:txBody>
      </p:sp>
      <p:sp>
        <p:nvSpPr>
          <p:cNvPr id="107" name="Shape 20"/>
          <p:cNvSpPr/>
          <p:nvPr/>
        </p:nvSpPr>
        <p:spPr>
          <a:xfrm>
            <a:off x="2971800" y="2286000"/>
            <a:ext cx="365400" cy="365400"/>
          </a:xfrm>
          <a:prstGeom prst="ellipse">
            <a:avLst/>
          </a:prstGeom>
          <a:solidFill>
            <a:srgbClr val="06b6d4"/>
          </a:solidFill>
          <a:ln w="19050">
            <a:solidFill>
              <a:srgbClr val="0d1b2a"/>
            </a:solidFill>
            <a:round/>
          </a:ln>
        </p:spPr>
        <p:style>
          <a:lnRef idx="0"/>
          <a:fillRef idx="0"/>
          <a:effectRef idx="0"/>
          <a:fontRef idx="minor"/>
        </p:style>
      </p:sp>
      <p:sp>
        <p:nvSpPr>
          <p:cNvPr id="108" name="Text 21"/>
          <p:cNvSpPr/>
          <p:nvPr/>
        </p:nvSpPr>
        <p:spPr>
          <a:xfrm>
            <a:off x="2971800" y="2286000"/>
            <a:ext cx="36540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0d1b2a"/>
                </a:solidFill>
                <a:latin typeface="Calibri"/>
                <a:ea typeface="Calibri"/>
              </a:rPr>
              <a:t>S4</a:t>
            </a:r>
            <a:endParaRPr b="0" lang="en-IN" sz="900" spc="-1" strike="noStrike">
              <a:latin typeface="Arial"/>
            </a:endParaRPr>
          </a:p>
        </p:txBody>
      </p:sp>
      <p:sp>
        <p:nvSpPr>
          <p:cNvPr id="109" name="Shape 22"/>
          <p:cNvSpPr/>
          <p:nvPr/>
        </p:nvSpPr>
        <p:spPr>
          <a:xfrm>
            <a:off x="2971800" y="3474720"/>
            <a:ext cx="365400" cy="365400"/>
          </a:xfrm>
          <a:prstGeom prst="ellipse">
            <a:avLst/>
          </a:prstGeom>
          <a:solidFill>
            <a:srgbClr val="06b6d4"/>
          </a:solidFill>
          <a:ln w="19050">
            <a:solidFill>
              <a:srgbClr val="0d1b2a"/>
            </a:solidFill>
            <a:round/>
          </a:ln>
        </p:spPr>
        <p:style>
          <a:lnRef idx="0"/>
          <a:fillRef idx="0"/>
          <a:effectRef idx="0"/>
          <a:fontRef idx="minor"/>
        </p:style>
      </p:sp>
      <p:sp>
        <p:nvSpPr>
          <p:cNvPr id="110" name="Text 23"/>
          <p:cNvSpPr/>
          <p:nvPr/>
        </p:nvSpPr>
        <p:spPr>
          <a:xfrm>
            <a:off x="2971800" y="3474720"/>
            <a:ext cx="36540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0d1b2a"/>
                </a:solidFill>
                <a:latin typeface="Calibri"/>
                <a:ea typeface="Calibri"/>
              </a:rPr>
              <a:t>S5</a:t>
            </a:r>
            <a:endParaRPr b="0" lang="en-IN" sz="900" spc="-1" strike="noStrike">
              <a:latin typeface="Arial"/>
            </a:endParaRPr>
          </a:p>
        </p:txBody>
      </p:sp>
      <p:sp>
        <p:nvSpPr>
          <p:cNvPr id="111" name="Shape 24"/>
          <p:cNvSpPr/>
          <p:nvPr/>
        </p:nvSpPr>
        <p:spPr>
          <a:xfrm>
            <a:off x="4069080" y="2926080"/>
            <a:ext cx="365400" cy="365400"/>
          </a:xfrm>
          <a:prstGeom prst="ellipse">
            <a:avLst/>
          </a:prstGeom>
          <a:solidFill>
            <a:srgbClr val="06b6d4"/>
          </a:solidFill>
          <a:ln w="19050">
            <a:solidFill>
              <a:srgbClr val="0d1b2a"/>
            </a:solidFill>
            <a:round/>
          </a:ln>
        </p:spPr>
        <p:style>
          <a:lnRef idx="0"/>
          <a:fillRef idx="0"/>
          <a:effectRef idx="0"/>
          <a:fontRef idx="minor"/>
        </p:style>
      </p:sp>
      <p:sp>
        <p:nvSpPr>
          <p:cNvPr id="112" name="Text 25"/>
          <p:cNvSpPr/>
          <p:nvPr/>
        </p:nvSpPr>
        <p:spPr>
          <a:xfrm>
            <a:off x="4069080" y="2926080"/>
            <a:ext cx="36540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0d1b2a"/>
                </a:solidFill>
                <a:latin typeface="Calibri"/>
                <a:ea typeface="Calibri"/>
              </a:rPr>
              <a:t>S6</a:t>
            </a:r>
            <a:endParaRPr b="0" lang="en-IN" sz="900" spc="-1" strike="noStrike">
              <a:latin typeface="Arial"/>
            </a:endParaRPr>
          </a:p>
        </p:txBody>
      </p:sp>
      <p:sp>
        <p:nvSpPr>
          <p:cNvPr id="113" name="Shape 26"/>
          <p:cNvSpPr/>
          <p:nvPr/>
        </p:nvSpPr>
        <p:spPr>
          <a:xfrm>
            <a:off x="4709160" y="2011680"/>
            <a:ext cx="365400" cy="365400"/>
          </a:xfrm>
          <a:prstGeom prst="ellipse">
            <a:avLst/>
          </a:prstGeom>
          <a:solidFill>
            <a:srgbClr val="f97316"/>
          </a:solidFill>
          <a:ln w="19050">
            <a:solidFill>
              <a:srgbClr val="0d1b2a"/>
            </a:solidFill>
            <a:round/>
          </a:ln>
        </p:spPr>
        <p:style>
          <a:lnRef idx="0"/>
          <a:fillRef idx="0"/>
          <a:effectRef idx="0"/>
          <a:fontRef idx="minor"/>
        </p:style>
      </p:sp>
      <p:sp>
        <p:nvSpPr>
          <p:cNvPr id="114" name="Text 27"/>
          <p:cNvSpPr/>
          <p:nvPr/>
        </p:nvSpPr>
        <p:spPr>
          <a:xfrm>
            <a:off x="4709160" y="2011680"/>
            <a:ext cx="36540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900" spc="-1" strike="noStrike">
                <a:solidFill>
                  <a:srgbClr val="0d1b2a"/>
                </a:solidFill>
                <a:latin typeface="Calibri"/>
                <a:ea typeface="Calibri"/>
              </a:rPr>
              <a:t>S7</a:t>
            </a:r>
            <a:endParaRPr b="0" lang="en-IN" sz="900" spc="-1" strike="noStrike">
              <a:latin typeface="Arial"/>
            </a:endParaRPr>
          </a:p>
        </p:txBody>
      </p:sp>
      <p:sp>
        <p:nvSpPr>
          <p:cNvPr id="115" name="Shape 28"/>
          <p:cNvSpPr/>
          <p:nvPr/>
        </p:nvSpPr>
        <p:spPr>
          <a:xfrm>
            <a:off x="777240" y="3931920"/>
            <a:ext cx="164160" cy="164160"/>
          </a:xfrm>
          <a:prstGeom prst="ellipse">
            <a:avLst/>
          </a:prstGeom>
          <a:solidFill>
            <a:srgbClr val="ef4444"/>
          </a:solidFill>
          <a:ln w="12700">
            <a:solidFill>
              <a:srgbClr val="ef4444"/>
            </a:solidFill>
            <a:round/>
          </a:ln>
        </p:spPr>
        <p:style>
          <a:lnRef idx="0"/>
          <a:fillRef idx="0"/>
          <a:effectRef idx="0"/>
          <a:fontRef idx="minor"/>
        </p:style>
      </p:sp>
      <p:sp>
        <p:nvSpPr>
          <p:cNvPr id="116" name="Text 29"/>
          <p:cNvSpPr/>
          <p:nvPr/>
        </p:nvSpPr>
        <p:spPr>
          <a:xfrm>
            <a:off x="1005840" y="3886200"/>
            <a:ext cx="13712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Symptom (visible)</a:t>
            </a:r>
            <a:endParaRPr b="0" lang="en-IN" sz="900" spc="-1" strike="noStrike">
              <a:latin typeface="Arial"/>
            </a:endParaRPr>
          </a:p>
        </p:txBody>
      </p:sp>
      <p:sp>
        <p:nvSpPr>
          <p:cNvPr id="117" name="Shape 30"/>
          <p:cNvSpPr/>
          <p:nvPr/>
        </p:nvSpPr>
        <p:spPr>
          <a:xfrm>
            <a:off x="2423160" y="3931920"/>
            <a:ext cx="164160" cy="164160"/>
          </a:xfrm>
          <a:prstGeom prst="ellipse">
            <a:avLst/>
          </a:prstGeom>
          <a:solidFill>
            <a:srgbClr val="f97316"/>
          </a:solidFill>
          <a:ln w="12700">
            <a:solidFill>
              <a:srgbClr val="f97316"/>
            </a:solidFill>
            <a:round/>
          </a:ln>
        </p:spPr>
        <p:style>
          <a:lnRef idx="0"/>
          <a:fillRef idx="0"/>
          <a:effectRef idx="0"/>
          <a:fontRef idx="minor"/>
        </p:style>
      </p:sp>
      <p:sp>
        <p:nvSpPr>
          <p:cNvPr id="118" name="Text 31"/>
          <p:cNvSpPr/>
          <p:nvPr/>
        </p:nvSpPr>
        <p:spPr>
          <a:xfrm>
            <a:off x="2651760" y="3886200"/>
            <a:ext cx="13712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Origin (3 hops up)</a:t>
            </a:r>
            <a:endParaRPr b="0" lang="en-IN" sz="900" spc="-1" strike="noStrike">
              <a:latin typeface="Arial"/>
            </a:endParaRPr>
          </a:p>
        </p:txBody>
      </p:sp>
      <p:sp>
        <p:nvSpPr>
          <p:cNvPr id="119" name="Shape 32"/>
          <p:cNvSpPr/>
          <p:nvPr/>
        </p:nvSpPr>
        <p:spPr>
          <a:xfrm>
            <a:off x="4023360" y="4023360"/>
            <a:ext cx="365760" cy="360"/>
          </a:xfrm>
          <a:prstGeom prst="line">
            <a:avLst/>
          </a:prstGeom>
          <a:ln w="31750">
            <a:solidFill>
              <a:srgbClr val="f97316"/>
            </a:solidFill>
            <a:prstDash val="dash"/>
            <a:round/>
          </a:ln>
        </p:spPr>
        <p:style>
          <a:lnRef idx="0"/>
          <a:fillRef idx="0"/>
          <a:effectRef idx="0"/>
          <a:fontRef idx="minor"/>
        </p:style>
      </p:sp>
      <p:sp>
        <p:nvSpPr>
          <p:cNvPr id="120" name="Text 33"/>
          <p:cNvSpPr/>
          <p:nvPr/>
        </p:nvSpPr>
        <p:spPr>
          <a:xfrm>
            <a:off x="4434840" y="3886200"/>
            <a:ext cx="776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 strike="noStrike">
                <a:solidFill>
                  <a:srgbClr val="94a3b8"/>
                </a:solidFill>
                <a:latin typeface="Calibri"/>
                <a:ea typeface="Calibri"/>
              </a:rPr>
              <a:t>Cascade</a:t>
            </a:r>
            <a:endParaRPr b="0" lang="en-IN" sz="900" spc="-1" strike="noStrike">
              <a:latin typeface="Arial"/>
            </a:endParaRPr>
          </a:p>
        </p:txBody>
      </p:sp>
      <p:sp>
        <p:nvSpPr>
          <p:cNvPr id="121" name="Shape 34"/>
          <p:cNvSpPr/>
          <p:nvPr/>
        </p:nvSpPr>
        <p:spPr>
          <a:xfrm>
            <a:off x="5532120" y="1417320"/>
            <a:ext cx="639720" cy="456840"/>
          </a:xfrm>
          <a:prstGeom prst="rect">
            <a:avLst/>
          </a:prstGeom>
          <a:solidFill>
            <a:srgbClr val="164e63"/>
          </a:solidFill>
          <a:ln w="9525">
            <a:solidFill>
              <a:srgbClr val="06b6d4"/>
            </a:solidFill>
            <a:round/>
          </a:ln>
        </p:spPr>
        <p:style>
          <a:lnRef idx="0"/>
          <a:fillRef idx="0"/>
          <a:effectRef idx="0"/>
          <a:fontRef idx="minor"/>
        </p:style>
      </p:sp>
      <p:sp>
        <p:nvSpPr>
          <p:cNvPr id="122" name="Text 35"/>
          <p:cNvSpPr/>
          <p:nvPr/>
        </p:nvSpPr>
        <p:spPr>
          <a:xfrm>
            <a:off x="5532120" y="1417320"/>
            <a:ext cx="639720" cy="4568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100" spc="-1" strike="noStrike">
                <a:solidFill>
                  <a:srgbClr val="06b6d4"/>
                </a:solidFill>
                <a:latin typeface="Calibri"/>
                <a:ea typeface="Calibri"/>
              </a:rPr>
              <a:t>TENS</a:t>
            </a:r>
            <a:endParaRPr b="0" lang="en-IN" sz="1100" spc="-1" strike="noStrike">
              <a:latin typeface="Arial"/>
            </a:endParaRPr>
          </a:p>
        </p:txBody>
      </p:sp>
      <p:sp>
        <p:nvSpPr>
          <p:cNvPr id="123" name="Text 36"/>
          <p:cNvSpPr/>
          <p:nvPr/>
        </p:nvSpPr>
        <p:spPr>
          <a:xfrm>
            <a:off x="6309360" y="1417320"/>
            <a:ext cx="3108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f8fafc"/>
                </a:solidFill>
                <a:latin typeface="Calibri"/>
                <a:ea typeface="Calibri"/>
              </a:rPr>
              <a:t>of services traversed per user request</a:t>
            </a:r>
            <a:endParaRPr b="0" lang="en-IN" sz="1200" spc="-1" strike="noStrike">
              <a:latin typeface="Arial"/>
            </a:endParaRPr>
          </a:p>
        </p:txBody>
      </p:sp>
      <p:sp>
        <p:nvSpPr>
          <p:cNvPr id="124" name="Shape 37"/>
          <p:cNvSpPr/>
          <p:nvPr/>
        </p:nvSpPr>
        <p:spPr>
          <a:xfrm>
            <a:off x="5532120" y="2130480"/>
            <a:ext cx="639720" cy="456840"/>
          </a:xfrm>
          <a:prstGeom prst="rect">
            <a:avLst/>
          </a:prstGeom>
          <a:solidFill>
            <a:srgbClr val="164e63"/>
          </a:solidFill>
          <a:ln w="9525">
            <a:solidFill>
              <a:srgbClr val="06b6d4"/>
            </a:solidFill>
            <a:round/>
          </a:ln>
        </p:spPr>
        <p:style>
          <a:lnRef idx="0"/>
          <a:fillRef idx="0"/>
          <a:effectRef idx="0"/>
          <a:fontRef idx="minor"/>
        </p:style>
      </p:sp>
      <p:sp>
        <p:nvSpPr>
          <p:cNvPr id="125" name="Text 38"/>
          <p:cNvSpPr/>
          <p:nvPr/>
        </p:nvSpPr>
        <p:spPr>
          <a:xfrm>
            <a:off x="5532120" y="2130480"/>
            <a:ext cx="639720" cy="4568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100" spc="-1" strike="noStrike">
                <a:solidFill>
                  <a:srgbClr val="06b6d4"/>
                </a:solidFill>
                <a:latin typeface="Calibri"/>
                <a:ea typeface="Calibri"/>
              </a:rPr>
              <a:t>API</a:t>
            </a:r>
            <a:endParaRPr b="0" lang="en-IN" sz="1100" spc="-1" strike="noStrike">
              <a:latin typeface="Arial"/>
            </a:endParaRPr>
          </a:p>
        </p:txBody>
      </p:sp>
      <p:sp>
        <p:nvSpPr>
          <p:cNvPr id="126" name="Text 39"/>
          <p:cNvSpPr/>
          <p:nvPr/>
        </p:nvSpPr>
        <p:spPr>
          <a:xfrm>
            <a:off x="6309360" y="2130480"/>
            <a:ext cx="3108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f8fafc"/>
                </a:solidFill>
                <a:latin typeface="Calibri"/>
                <a:ea typeface="Calibri"/>
              </a:rPr>
              <a:t>chains and message queues propagate faults</a:t>
            </a:r>
            <a:endParaRPr b="0" lang="en-IN" sz="1200" spc="-1" strike="noStrike">
              <a:latin typeface="Arial"/>
            </a:endParaRPr>
          </a:p>
        </p:txBody>
      </p:sp>
      <p:sp>
        <p:nvSpPr>
          <p:cNvPr id="127" name="Shape 40"/>
          <p:cNvSpPr/>
          <p:nvPr/>
        </p:nvSpPr>
        <p:spPr>
          <a:xfrm>
            <a:off x="5532120" y="2843640"/>
            <a:ext cx="639720" cy="456840"/>
          </a:xfrm>
          <a:prstGeom prst="rect">
            <a:avLst/>
          </a:prstGeom>
          <a:solidFill>
            <a:srgbClr val="164e63"/>
          </a:solidFill>
          <a:ln w="9525">
            <a:solidFill>
              <a:srgbClr val="06b6d4"/>
            </a:solidFill>
            <a:round/>
          </a:ln>
        </p:spPr>
        <p:style>
          <a:lnRef idx="0"/>
          <a:fillRef idx="0"/>
          <a:effectRef idx="0"/>
          <a:fontRef idx="minor"/>
        </p:style>
      </p:sp>
      <p:sp>
        <p:nvSpPr>
          <p:cNvPr id="128" name="Text 41"/>
          <p:cNvSpPr/>
          <p:nvPr/>
        </p:nvSpPr>
        <p:spPr>
          <a:xfrm>
            <a:off x="5532120" y="2843640"/>
            <a:ext cx="639720" cy="4568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100" spc="-1" strike="noStrike">
                <a:solidFill>
                  <a:srgbClr val="06b6d4"/>
                </a:solidFill>
                <a:latin typeface="Calibri"/>
                <a:ea typeface="Calibri"/>
              </a:rPr>
              <a:t>HOPS</a:t>
            </a:r>
            <a:endParaRPr b="0" lang="en-IN" sz="1100" spc="-1" strike="noStrike">
              <a:latin typeface="Arial"/>
            </a:endParaRPr>
          </a:p>
        </p:txBody>
      </p:sp>
      <p:sp>
        <p:nvSpPr>
          <p:cNvPr id="129" name="Text 42"/>
          <p:cNvSpPr/>
          <p:nvPr/>
        </p:nvSpPr>
        <p:spPr>
          <a:xfrm>
            <a:off x="6309360" y="2843640"/>
            <a:ext cx="3108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f8fafc"/>
                </a:solidFill>
                <a:latin typeface="Calibri"/>
                <a:ea typeface="Calibri"/>
              </a:rPr>
              <a:t>between origin and observable symptom</a:t>
            </a:r>
            <a:endParaRPr b="0" lang="en-IN" sz="1200" spc="-1" strike="noStrike">
              <a:latin typeface="Arial"/>
            </a:endParaRPr>
          </a:p>
        </p:txBody>
      </p:sp>
      <p:sp>
        <p:nvSpPr>
          <p:cNvPr id="130" name="Shape 43"/>
          <p:cNvSpPr/>
          <p:nvPr/>
        </p:nvSpPr>
        <p:spPr>
          <a:xfrm>
            <a:off x="5532120" y="3557160"/>
            <a:ext cx="639720" cy="456840"/>
          </a:xfrm>
          <a:prstGeom prst="rect">
            <a:avLst/>
          </a:prstGeom>
          <a:solidFill>
            <a:srgbClr val="164e63"/>
          </a:solidFill>
          <a:ln w="9525">
            <a:solidFill>
              <a:srgbClr val="06b6d4"/>
            </a:solidFill>
            <a:round/>
          </a:ln>
        </p:spPr>
        <p:style>
          <a:lnRef idx="0"/>
          <a:fillRef idx="0"/>
          <a:effectRef idx="0"/>
          <a:fontRef idx="minor"/>
        </p:style>
      </p:sp>
      <p:sp>
        <p:nvSpPr>
          <p:cNvPr id="131" name="Text 44"/>
          <p:cNvSpPr/>
          <p:nvPr/>
        </p:nvSpPr>
        <p:spPr>
          <a:xfrm>
            <a:off x="5532120" y="3557160"/>
            <a:ext cx="639720" cy="4568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100" spc="-1" strike="noStrike">
                <a:solidFill>
                  <a:srgbClr val="06b6d4"/>
                </a:solidFill>
                <a:latin typeface="Calibri"/>
                <a:ea typeface="Calibri"/>
              </a:rPr>
              <a:t>DRIFT</a:t>
            </a:r>
            <a:endParaRPr b="0" lang="en-IN" sz="1100" spc="-1" strike="noStrike">
              <a:latin typeface="Arial"/>
            </a:endParaRPr>
          </a:p>
        </p:txBody>
      </p:sp>
      <p:sp>
        <p:nvSpPr>
          <p:cNvPr id="132" name="Text 45"/>
          <p:cNvSpPr/>
          <p:nvPr/>
        </p:nvSpPr>
        <p:spPr>
          <a:xfrm>
            <a:off x="6309360" y="3557160"/>
            <a:ext cx="31086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200" spc="-1" strike="noStrike">
                <a:solidFill>
                  <a:srgbClr val="f8fafc"/>
                </a:solidFill>
                <a:latin typeface="Calibri"/>
                <a:ea typeface="Calibri"/>
              </a:rPr>
              <a:t>from CI/CD makes signatures non-stationary</a:t>
            </a:r>
            <a:endParaRPr b="0" lang="en-IN" sz="1200" spc="-1" strike="noStrike">
              <a:latin typeface="Arial"/>
            </a:endParaRPr>
          </a:p>
        </p:txBody>
      </p:sp>
      <p:sp>
        <p:nvSpPr>
          <p:cNvPr id="133" name="Text 46"/>
          <p:cNvSpPr/>
          <p:nvPr/>
        </p:nvSpPr>
        <p:spPr>
          <a:xfrm>
            <a:off x="5532120" y="4160520"/>
            <a:ext cx="3108600" cy="319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f97316"/>
                </a:solidFill>
                <a:latin typeface="Calibri"/>
                <a:ea typeface="Calibri"/>
              </a:rPr>
              <a:t>Telemetry collection is no longer the bottleneck — causal inference is.</a:t>
            </a:r>
            <a:endParaRPr b="0" lang="en-IN" sz="1100" spc="-1" strike="noStrike">
              <a:latin typeface="Arial"/>
            </a:endParaRPr>
          </a:p>
        </p:txBody>
      </p:sp>
      <p:sp>
        <p:nvSpPr>
          <p:cNvPr id="134" name="Text 47"/>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Problem &amp; Gap</a:t>
            </a:r>
            <a:endParaRPr b="0" lang="en-IN" sz="850" spc="-1" strike="noStrike">
              <a:latin typeface="Arial"/>
            </a:endParaRPr>
          </a:p>
        </p:txBody>
      </p:sp>
      <p:sp>
        <p:nvSpPr>
          <p:cNvPr id="135" name="Text 48"/>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3 / 22</a:t>
            </a:r>
            <a:endParaRPr b="0" lang="en-IN" sz="900" spc="-1" strike="noStrike">
              <a:latin typeface="Arial"/>
            </a:endParaRPr>
          </a:p>
        </p:txBody>
      </p:sp>
      <p:sp>
        <p:nvSpPr>
          <p:cNvPr id="136" name="Shape 49"/>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37"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THE ECONOMIC ARGUMENT</a:t>
            </a:r>
            <a:endParaRPr b="0" lang="en-IN" sz="1000" spc="-1" strike="noStrike">
              <a:latin typeface="Arial"/>
            </a:endParaRPr>
          </a:p>
        </p:txBody>
      </p:sp>
      <p:sp>
        <p:nvSpPr>
          <p:cNvPr id="138"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Outage cost makes automation unambiguous — the question is trustworthiness</a:t>
            </a:r>
            <a:endParaRPr b="0" lang="en-IN" sz="2200" spc="-1" strike="noStrike">
              <a:latin typeface="Arial"/>
            </a:endParaRPr>
          </a:p>
        </p:txBody>
      </p:sp>
      <p:sp>
        <p:nvSpPr>
          <p:cNvPr id="139" name="Shape 2"/>
          <p:cNvSpPr/>
          <p:nvPr/>
        </p:nvSpPr>
        <p:spPr>
          <a:xfrm>
            <a:off x="548640" y="1371600"/>
            <a:ext cx="4023000" cy="3017160"/>
          </a:xfrm>
          <a:prstGeom prst="rect">
            <a:avLst/>
          </a:prstGeom>
          <a:solidFill>
            <a:srgbClr val="162236"/>
          </a:solidFill>
          <a:ln w="9525">
            <a:solidFill>
              <a:srgbClr val="334155"/>
            </a:solidFill>
            <a:round/>
          </a:ln>
        </p:spPr>
        <p:style>
          <a:lnRef idx="0"/>
          <a:fillRef idx="0"/>
          <a:effectRef idx="0"/>
          <a:fontRef idx="minor"/>
        </p:style>
      </p:sp>
      <p:sp>
        <p:nvSpPr>
          <p:cNvPr id="140" name="Text 3"/>
          <p:cNvSpPr/>
          <p:nvPr/>
        </p:nvSpPr>
        <p:spPr>
          <a:xfrm>
            <a:off x="822960" y="1737360"/>
            <a:ext cx="34743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599" strike="noStrike">
                <a:solidFill>
                  <a:srgbClr val="94a3b8"/>
                </a:solidFill>
                <a:latin typeface="Calibri"/>
                <a:ea typeface="Calibri"/>
              </a:rPr>
              <a:t>UP TO</a:t>
            </a:r>
            <a:endParaRPr b="0" lang="en-IN" sz="1100" spc="-1" strike="noStrike">
              <a:latin typeface="Arial"/>
            </a:endParaRPr>
          </a:p>
        </p:txBody>
      </p:sp>
      <p:sp>
        <p:nvSpPr>
          <p:cNvPr id="141" name="Text 4"/>
          <p:cNvSpPr/>
          <p:nvPr/>
        </p:nvSpPr>
        <p:spPr>
          <a:xfrm>
            <a:off x="822960" y="2057400"/>
            <a:ext cx="3474360" cy="1279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400" spc="-1" strike="noStrike">
                <a:solidFill>
                  <a:srgbClr val="f97316"/>
                </a:solidFill>
                <a:latin typeface="Calibri"/>
                <a:ea typeface="Calibri"/>
              </a:rPr>
              <a:t>$10M+</a:t>
            </a:r>
            <a:endParaRPr b="0" lang="en-IN" sz="8400" spc="-1" strike="noStrike">
              <a:latin typeface="Arial"/>
            </a:endParaRPr>
          </a:p>
        </p:txBody>
      </p:sp>
      <p:sp>
        <p:nvSpPr>
          <p:cNvPr id="142" name="Text 5"/>
          <p:cNvSpPr/>
          <p:nvPr/>
        </p:nvSpPr>
        <p:spPr>
          <a:xfrm>
            <a:off x="822960" y="3383280"/>
            <a:ext cx="34743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398" strike="noStrike">
                <a:solidFill>
                  <a:srgbClr val="06b6d4"/>
                </a:solidFill>
                <a:latin typeface="Calibri"/>
                <a:ea typeface="Calibri"/>
              </a:rPr>
              <a:t>PER HOUR</a:t>
            </a:r>
            <a:endParaRPr b="0" lang="en-IN" sz="1300" spc="-1" strike="noStrike">
              <a:latin typeface="Arial"/>
            </a:endParaRPr>
          </a:p>
        </p:txBody>
      </p:sp>
      <p:sp>
        <p:nvSpPr>
          <p:cNvPr id="143" name="Text 6"/>
          <p:cNvSpPr/>
          <p:nvPr/>
        </p:nvSpPr>
        <p:spPr>
          <a:xfrm>
            <a:off x="822960" y="3703320"/>
            <a:ext cx="347436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94a3b8"/>
                </a:solidFill>
                <a:latin typeface="Calibri"/>
                <a:ea typeface="Calibri"/>
              </a:rPr>
              <a:t>financial-sector &amp; e-commerce outages</a:t>
            </a:r>
            <a:endParaRPr b="0" lang="en-IN" sz="1100" spc="-1" strike="noStrike">
              <a:latin typeface="Arial"/>
            </a:endParaRPr>
          </a:p>
          <a:p>
            <a:pPr>
              <a:lnSpc>
                <a:spcPct val="100000"/>
              </a:lnSpc>
              <a:buNone/>
              <a:tabLst>
                <a:tab algn="l" pos="0"/>
              </a:tabLst>
            </a:pPr>
            <a:r>
              <a:rPr b="0" lang="en-US" sz="1100" spc="-1" strike="noStrike">
                <a:solidFill>
                  <a:srgbClr val="94a3b8"/>
                </a:solidFill>
                <a:latin typeface="Calibri"/>
                <a:ea typeface="Calibri"/>
              </a:rPr>
              <a:t>(Pham et al., 2024)</a:t>
            </a:r>
            <a:endParaRPr b="0" lang="en-IN" sz="1100" spc="-1" strike="noStrike">
              <a:latin typeface="Arial"/>
            </a:endParaRPr>
          </a:p>
        </p:txBody>
      </p:sp>
      <p:sp>
        <p:nvSpPr>
          <p:cNvPr id="144" name="Shape 7"/>
          <p:cNvSpPr/>
          <p:nvPr/>
        </p:nvSpPr>
        <p:spPr>
          <a:xfrm>
            <a:off x="4846320" y="1371600"/>
            <a:ext cx="3794400" cy="1554120"/>
          </a:xfrm>
          <a:prstGeom prst="rect">
            <a:avLst/>
          </a:prstGeom>
          <a:solidFill>
            <a:srgbClr val="1b263b"/>
          </a:solidFill>
          <a:ln w="9525">
            <a:solidFill>
              <a:srgbClr val="334155"/>
            </a:solidFill>
            <a:round/>
          </a:ln>
        </p:spPr>
        <p:style>
          <a:lnRef idx="0"/>
          <a:fillRef idx="0"/>
          <a:effectRef idx="0"/>
          <a:fontRef idx="minor"/>
        </p:style>
      </p:sp>
      <p:sp>
        <p:nvSpPr>
          <p:cNvPr id="145" name="Text 8"/>
          <p:cNvSpPr/>
          <p:nvPr/>
        </p:nvSpPr>
        <p:spPr>
          <a:xfrm>
            <a:off x="5074920" y="1554480"/>
            <a:ext cx="338292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COST CONTRIBUTORS</a:t>
            </a:r>
            <a:endParaRPr b="0" lang="en-IN" sz="1000" spc="-1" strike="noStrike">
              <a:latin typeface="Arial"/>
            </a:endParaRPr>
          </a:p>
        </p:txBody>
      </p:sp>
      <p:sp>
        <p:nvSpPr>
          <p:cNvPr id="146" name="Text 9"/>
          <p:cNvSpPr/>
          <p:nvPr/>
        </p:nvSpPr>
        <p:spPr>
          <a:xfrm>
            <a:off x="5120640" y="1828800"/>
            <a:ext cx="3382920" cy="105120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201"/>
              </a:spcAft>
              <a:buClr>
                <a:srgbClr val="f8fafc"/>
              </a:buClr>
              <a:buFont typeface="Symbol" charset="2"/>
              <a:buChar char=""/>
            </a:pPr>
            <a:r>
              <a:rPr b="0" lang="en-US" sz="1200" spc="-1" strike="noStrike">
                <a:solidFill>
                  <a:srgbClr val="f8fafc"/>
                </a:solidFill>
                <a:latin typeface="Calibri"/>
                <a:ea typeface="Calibri"/>
              </a:rPr>
              <a:t>Direct revenue loss</a:t>
            </a:r>
            <a:endParaRPr b="0" lang="en-IN" sz="1200" spc="-1" strike="noStrike">
              <a:latin typeface="Arial"/>
            </a:endParaRPr>
          </a:p>
          <a:p>
            <a:pPr marL="343080" indent="-343080">
              <a:lnSpc>
                <a:spcPct val="100000"/>
              </a:lnSpc>
              <a:spcAft>
                <a:spcPts val="201"/>
              </a:spcAft>
              <a:buClr>
                <a:srgbClr val="f8fafc"/>
              </a:buClr>
              <a:buFont typeface="Symbol" charset="2"/>
              <a:buChar char=""/>
            </a:pPr>
            <a:r>
              <a:rPr b="0" lang="en-US" sz="1200" spc="-1" strike="noStrike">
                <a:solidFill>
                  <a:srgbClr val="f8fafc"/>
                </a:solidFill>
                <a:latin typeface="Calibri"/>
                <a:ea typeface="Calibri"/>
              </a:rPr>
              <a:t>SLO breach penalties</a:t>
            </a:r>
            <a:endParaRPr b="0" lang="en-IN" sz="1200" spc="-1" strike="noStrike">
              <a:latin typeface="Arial"/>
            </a:endParaRPr>
          </a:p>
          <a:p>
            <a:pPr marL="343080" indent="-343080">
              <a:lnSpc>
                <a:spcPct val="100000"/>
              </a:lnSpc>
              <a:spcAft>
                <a:spcPts val="201"/>
              </a:spcAft>
              <a:buClr>
                <a:srgbClr val="f8fafc"/>
              </a:buClr>
              <a:buFont typeface="Symbol" charset="2"/>
              <a:buChar char=""/>
            </a:pPr>
            <a:r>
              <a:rPr b="0" lang="en-US" sz="1200" spc="-1" strike="noStrike">
                <a:solidFill>
                  <a:srgbClr val="f8fafc"/>
                </a:solidFill>
                <a:latin typeface="Calibri"/>
                <a:ea typeface="Calibri"/>
              </a:rPr>
              <a:t>Customer trust erosion</a:t>
            </a:r>
            <a:endParaRPr b="0" lang="en-IN" sz="1200" spc="-1" strike="noStrike">
              <a:latin typeface="Arial"/>
            </a:endParaRPr>
          </a:p>
          <a:p>
            <a:pPr marL="343080" indent="-343080">
              <a:lnSpc>
                <a:spcPct val="100000"/>
              </a:lnSpc>
              <a:spcAft>
                <a:spcPts val="201"/>
              </a:spcAft>
              <a:buClr>
                <a:srgbClr val="f8fafc"/>
              </a:buClr>
              <a:buFont typeface="Symbol" charset="2"/>
              <a:buChar char=""/>
            </a:pPr>
            <a:r>
              <a:rPr b="0" lang="en-US" sz="1200" spc="-1" strike="noStrike">
                <a:solidFill>
                  <a:srgbClr val="f8fafc"/>
                </a:solidFill>
                <a:latin typeface="Calibri"/>
                <a:ea typeface="Calibri"/>
              </a:rPr>
              <a:t>On-call burden &amp; SRE-hours</a:t>
            </a:r>
            <a:endParaRPr b="0" lang="en-IN" sz="1200" spc="-1" strike="noStrike">
              <a:latin typeface="Arial"/>
            </a:endParaRPr>
          </a:p>
        </p:txBody>
      </p:sp>
      <p:sp>
        <p:nvSpPr>
          <p:cNvPr id="147" name="Shape 10"/>
          <p:cNvSpPr/>
          <p:nvPr/>
        </p:nvSpPr>
        <p:spPr>
          <a:xfrm>
            <a:off x="4846320" y="3063240"/>
            <a:ext cx="3794400" cy="1325520"/>
          </a:xfrm>
          <a:prstGeom prst="rect">
            <a:avLst/>
          </a:prstGeom>
          <a:solidFill>
            <a:srgbClr val="243549"/>
          </a:solidFill>
          <a:ln w="9525">
            <a:solidFill>
              <a:srgbClr val="334155"/>
            </a:solidFill>
            <a:round/>
          </a:ln>
        </p:spPr>
        <p:style>
          <a:lnRef idx="0"/>
          <a:fillRef idx="0"/>
          <a:effectRef idx="0"/>
          <a:fontRef idx="minor"/>
        </p:style>
      </p:sp>
      <p:sp>
        <p:nvSpPr>
          <p:cNvPr id="148" name="Shape 11"/>
          <p:cNvSpPr/>
          <p:nvPr/>
        </p:nvSpPr>
        <p:spPr>
          <a:xfrm>
            <a:off x="4846320" y="3063240"/>
            <a:ext cx="54360" cy="1325520"/>
          </a:xfrm>
          <a:prstGeom prst="rect">
            <a:avLst/>
          </a:prstGeom>
          <a:solidFill>
            <a:srgbClr val="f97316"/>
          </a:solidFill>
          <a:ln w="12700">
            <a:solidFill>
              <a:srgbClr val="f97316"/>
            </a:solidFill>
            <a:round/>
          </a:ln>
        </p:spPr>
        <p:style>
          <a:lnRef idx="0"/>
          <a:fillRef idx="0"/>
          <a:effectRef idx="0"/>
          <a:fontRef idx="minor"/>
        </p:style>
      </p:sp>
      <p:sp>
        <p:nvSpPr>
          <p:cNvPr id="149" name="Text 12"/>
          <p:cNvSpPr/>
          <p:nvPr/>
        </p:nvSpPr>
        <p:spPr>
          <a:xfrm>
            <a:off x="5074920" y="3154680"/>
            <a:ext cx="3520080" cy="1142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400" spc="-1" strike="noStrike">
                <a:solidFill>
                  <a:srgbClr val="f8fafc"/>
                </a:solidFill>
                <a:latin typeface="Calibri"/>
                <a:ea typeface="Calibri"/>
              </a:rPr>
              <a:t>Not whether to automate.</a:t>
            </a:r>
            <a:endParaRPr b="0" lang="en-IN" sz="1400" spc="-1" strike="noStrike">
              <a:latin typeface="Arial"/>
            </a:endParaRPr>
          </a:p>
          <a:p>
            <a:pPr>
              <a:lnSpc>
                <a:spcPct val="100000"/>
              </a:lnSpc>
              <a:buNone/>
              <a:tabLst>
                <a:tab algn="l" pos="0"/>
              </a:tabLst>
            </a:pPr>
            <a:r>
              <a:rPr b="1" i="1" lang="en-US" sz="1400" spc="-1" strike="noStrike">
                <a:solidFill>
                  <a:srgbClr val="f8fafc"/>
                </a:solidFill>
                <a:latin typeface="Calibri"/>
                <a:ea typeface="Calibri"/>
              </a:rPr>
              <a:t>Whether automation can be made trustworthy.</a:t>
            </a:r>
            <a:endParaRPr b="0" lang="en-IN" sz="1400" spc="-1" strike="noStrike">
              <a:latin typeface="Arial"/>
            </a:endParaRPr>
          </a:p>
        </p:txBody>
      </p:sp>
      <p:sp>
        <p:nvSpPr>
          <p:cNvPr id="150" name="Text 13"/>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Problem &amp; Gap</a:t>
            </a:r>
            <a:endParaRPr b="0" lang="en-IN" sz="850" spc="-1" strike="noStrike">
              <a:latin typeface="Arial"/>
            </a:endParaRPr>
          </a:p>
        </p:txBody>
      </p:sp>
      <p:sp>
        <p:nvSpPr>
          <p:cNvPr id="151" name="Text 14"/>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4 / 22</a:t>
            </a:r>
            <a:endParaRPr b="0" lang="en-IN" sz="900" spc="-1" strike="noStrike">
              <a:latin typeface="Arial"/>
            </a:endParaRPr>
          </a:p>
        </p:txBody>
      </p:sp>
      <p:sp>
        <p:nvSpPr>
          <p:cNvPr id="152" name="Shape 15"/>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53"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WHY EXISTING APPROACHES FALL SHORT</a:t>
            </a:r>
            <a:endParaRPr b="0" lang="en-IN" sz="1000" spc="-1" strike="noStrike">
              <a:latin typeface="Arial"/>
            </a:endParaRPr>
          </a:p>
        </p:txBody>
      </p:sp>
      <p:sp>
        <p:nvSpPr>
          <p:cNvPr id="154"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Four RCA families — none individually adequate</a:t>
            </a:r>
            <a:endParaRPr b="0" lang="en-IN" sz="2200" spc="-1" strike="noStrike">
              <a:latin typeface="Arial"/>
            </a:endParaRPr>
          </a:p>
        </p:txBody>
      </p:sp>
      <p:sp>
        <p:nvSpPr>
          <p:cNvPr id="155" name="Shape 2"/>
          <p:cNvSpPr/>
          <p:nvPr/>
        </p:nvSpPr>
        <p:spPr>
          <a:xfrm>
            <a:off x="457200" y="1325880"/>
            <a:ext cx="2194200" cy="383760"/>
          </a:xfrm>
          <a:prstGeom prst="rect">
            <a:avLst/>
          </a:prstGeom>
          <a:solidFill>
            <a:srgbClr val="164e63"/>
          </a:solidFill>
          <a:ln w="9525">
            <a:solidFill>
              <a:srgbClr val="334155"/>
            </a:solidFill>
            <a:round/>
          </a:ln>
        </p:spPr>
        <p:style>
          <a:lnRef idx="0"/>
          <a:fillRef idx="0"/>
          <a:effectRef idx="0"/>
          <a:fontRef idx="minor"/>
        </p:style>
      </p:sp>
      <p:sp>
        <p:nvSpPr>
          <p:cNvPr id="156" name="Text 3"/>
          <p:cNvSpPr/>
          <p:nvPr/>
        </p:nvSpPr>
        <p:spPr>
          <a:xfrm>
            <a:off x="567000" y="1325880"/>
            <a:ext cx="208440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299" strike="noStrike">
                <a:solidFill>
                  <a:srgbClr val="06b6d4"/>
                </a:solidFill>
                <a:latin typeface="Calibri"/>
                <a:ea typeface="Calibri"/>
              </a:rPr>
              <a:t>FAMILY</a:t>
            </a:r>
            <a:endParaRPr b="0" lang="en-IN" sz="1000" spc="-1" strike="noStrike">
              <a:latin typeface="Arial"/>
            </a:endParaRPr>
          </a:p>
        </p:txBody>
      </p:sp>
      <p:sp>
        <p:nvSpPr>
          <p:cNvPr id="157" name="Shape 4"/>
          <p:cNvSpPr/>
          <p:nvPr/>
        </p:nvSpPr>
        <p:spPr>
          <a:xfrm>
            <a:off x="2651760" y="1325880"/>
            <a:ext cx="2285640" cy="383760"/>
          </a:xfrm>
          <a:prstGeom prst="rect">
            <a:avLst/>
          </a:prstGeom>
          <a:solidFill>
            <a:srgbClr val="164e63"/>
          </a:solidFill>
          <a:ln w="9525">
            <a:solidFill>
              <a:srgbClr val="334155"/>
            </a:solidFill>
            <a:round/>
          </a:ln>
        </p:spPr>
        <p:style>
          <a:lnRef idx="0"/>
          <a:fillRef idx="0"/>
          <a:effectRef idx="0"/>
          <a:fontRef idx="minor"/>
        </p:style>
      </p:sp>
      <p:sp>
        <p:nvSpPr>
          <p:cNvPr id="158" name="Text 5"/>
          <p:cNvSpPr/>
          <p:nvPr/>
        </p:nvSpPr>
        <p:spPr>
          <a:xfrm>
            <a:off x="2761560" y="1325880"/>
            <a:ext cx="217584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299" strike="noStrike">
                <a:solidFill>
                  <a:srgbClr val="06b6d4"/>
                </a:solidFill>
                <a:latin typeface="Calibri"/>
                <a:ea typeface="Calibri"/>
              </a:rPr>
              <a:t>REPRESENTATIVES</a:t>
            </a:r>
            <a:endParaRPr b="0" lang="en-IN" sz="1000" spc="-1" strike="noStrike">
              <a:latin typeface="Arial"/>
            </a:endParaRPr>
          </a:p>
        </p:txBody>
      </p:sp>
      <p:sp>
        <p:nvSpPr>
          <p:cNvPr id="159" name="Shape 6"/>
          <p:cNvSpPr/>
          <p:nvPr/>
        </p:nvSpPr>
        <p:spPr>
          <a:xfrm>
            <a:off x="4937760" y="1325880"/>
            <a:ext cx="2011320" cy="383760"/>
          </a:xfrm>
          <a:prstGeom prst="rect">
            <a:avLst/>
          </a:prstGeom>
          <a:solidFill>
            <a:srgbClr val="164e63"/>
          </a:solidFill>
          <a:ln w="9525">
            <a:solidFill>
              <a:srgbClr val="334155"/>
            </a:solidFill>
            <a:round/>
          </a:ln>
        </p:spPr>
        <p:style>
          <a:lnRef idx="0"/>
          <a:fillRef idx="0"/>
          <a:effectRef idx="0"/>
          <a:fontRef idx="minor"/>
        </p:style>
      </p:sp>
      <p:sp>
        <p:nvSpPr>
          <p:cNvPr id="160" name="Text 7"/>
          <p:cNvSpPr/>
          <p:nvPr/>
        </p:nvSpPr>
        <p:spPr>
          <a:xfrm>
            <a:off x="5047560" y="1325880"/>
            <a:ext cx="190152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299" strike="noStrike">
                <a:solidFill>
                  <a:srgbClr val="06b6d4"/>
                </a:solidFill>
                <a:latin typeface="Calibri"/>
                <a:ea typeface="Calibri"/>
              </a:rPr>
              <a:t>STRENGTH</a:t>
            </a:r>
            <a:endParaRPr b="0" lang="en-IN" sz="1000" spc="-1" strike="noStrike">
              <a:latin typeface="Arial"/>
            </a:endParaRPr>
          </a:p>
        </p:txBody>
      </p:sp>
      <p:sp>
        <p:nvSpPr>
          <p:cNvPr id="161" name="Shape 8"/>
          <p:cNvSpPr/>
          <p:nvPr/>
        </p:nvSpPr>
        <p:spPr>
          <a:xfrm>
            <a:off x="6949440" y="1325880"/>
            <a:ext cx="2102760" cy="383760"/>
          </a:xfrm>
          <a:prstGeom prst="rect">
            <a:avLst/>
          </a:prstGeom>
          <a:solidFill>
            <a:srgbClr val="164e63"/>
          </a:solidFill>
          <a:ln w="9525">
            <a:solidFill>
              <a:srgbClr val="334155"/>
            </a:solidFill>
            <a:round/>
          </a:ln>
        </p:spPr>
        <p:style>
          <a:lnRef idx="0"/>
          <a:fillRef idx="0"/>
          <a:effectRef idx="0"/>
          <a:fontRef idx="minor"/>
        </p:style>
      </p:sp>
      <p:sp>
        <p:nvSpPr>
          <p:cNvPr id="162" name="Text 9"/>
          <p:cNvSpPr/>
          <p:nvPr/>
        </p:nvSpPr>
        <p:spPr>
          <a:xfrm>
            <a:off x="7059240" y="1325880"/>
            <a:ext cx="1992960" cy="3837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299" strike="noStrike">
                <a:solidFill>
                  <a:srgbClr val="06b6d4"/>
                </a:solidFill>
                <a:latin typeface="Calibri"/>
                <a:ea typeface="Calibri"/>
              </a:rPr>
              <a:t>WEAKNESS</a:t>
            </a:r>
            <a:endParaRPr b="0" lang="en-IN" sz="1000" spc="-1" strike="noStrike">
              <a:latin typeface="Arial"/>
            </a:endParaRPr>
          </a:p>
        </p:txBody>
      </p:sp>
      <p:sp>
        <p:nvSpPr>
          <p:cNvPr id="163" name="Shape 10"/>
          <p:cNvSpPr/>
          <p:nvPr/>
        </p:nvSpPr>
        <p:spPr>
          <a:xfrm>
            <a:off x="457200" y="1710000"/>
            <a:ext cx="2194200" cy="566640"/>
          </a:xfrm>
          <a:prstGeom prst="rect">
            <a:avLst/>
          </a:prstGeom>
          <a:solidFill>
            <a:srgbClr val="162236"/>
          </a:solidFill>
          <a:ln w="6350">
            <a:solidFill>
              <a:srgbClr val="334155"/>
            </a:solidFill>
            <a:round/>
          </a:ln>
        </p:spPr>
        <p:style>
          <a:lnRef idx="0"/>
          <a:fillRef idx="0"/>
          <a:effectRef idx="0"/>
          <a:fontRef idx="minor"/>
        </p:style>
      </p:sp>
      <p:sp>
        <p:nvSpPr>
          <p:cNvPr id="164" name="Text 11"/>
          <p:cNvSpPr/>
          <p:nvPr/>
        </p:nvSpPr>
        <p:spPr>
          <a:xfrm>
            <a:off x="594360" y="1710000"/>
            <a:ext cx="201132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Statistical</a:t>
            </a:r>
            <a:endParaRPr b="0" lang="en-IN" sz="1100" spc="-1" strike="noStrike">
              <a:latin typeface="Arial"/>
            </a:endParaRPr>
          </a:p>
        </p:txBody>
      </p:sp>
      <p:sp>
        <p:nvSpPr>
          <p:cNvPr id="165" name="Shape 12"/>
          <p:cNvSpPr/>
          <p:nvPr/>
        </p:nvSpPr>
        <p:spPr>
          <a:xfrm>
            <a:off x="2651760" y="1710000"/>
            <a:ext cx="2285640" cy="566640"/>
          </a:xfrm>
          <a:prstGeom prst="rect">
            <a:avLst/>
          </a:prstGeom>
          <a:solidFill>
            <a:srgbClr val="1b263b"/>
          </a:solidFill>
          <a:ln w="6350">
            <a:solidFill>
              <a:srgbClr val="334155"/>
            </a:solidFill>
            <a:round/>
          </a:ln>
        </p:spPr>
        <p:style>
          <a:lnRef idx="0"/>
          <a:fillRef idx="0"/>
          <a:effectRef idx="0"/>
          <a:fontRef idx="minor"/>
        </p:style>
      </p:sp>
      <p:sp>
        <p:nvSpPr>
          <p:cNvPr id="166" name="Text 13"/>
          <p:cNvSpPr/>
          <p:nvPr/>
        </p:nvSpPr>
        <p:spPr>
          <a:xfrm>
            <a:off x="2788920" y="1710000"/>
            <a:ext cx="210276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94a3b8"/>
                </a:solidFill>
                <a:latin typeface="Calibri"/>
                <a:ea typeface="Calibri"/>
              </a:rPr>
              <a:t>N-sigma · BIRCH</a:t>
            </a:r>
            <a:endParaRPr b="0" lang="en-IN" sz="1100" spc="-1" strike="noStrike">
              <a:latin typeface="Arial"/>
            </a:endParaRPr>
          </a:p>
        </p:txBody>
      </p:sp>
      <p:sp>
        <p:nvSpPr>
          <p:cNvPr id="167" name="Shape 14"/>
          <p:cNvSpPr/>
          <p:nvPr/>
        </p:nvSpPr>
        <p:spPr>
          <a:xfrm>
            <a:off x="4937760" y="1710000"/>
            <a:ext cx="2011320" cy="566640"/>
          </a:xfrm>
          <a:prstGeom prst="rect">
            <a:avLst/>
          </a:prstGeom>
          <a:solidFill>
            <a:srgbClr val="065f46"/>
          </a:solidFill>
          <a:ln w="6350">
            <a:solidFill>
              <a:srgbClr val="334155"/>
            </a:solidFill>
            <a:round/>
          </a:ln>
        </p:spPr>
        <p:style>
          <a:lnRef idx="0"/>
          <a:fillRef idx="0"/>
          <a:effectRef idx="0"/>
          <a:fontRef idx="minor"/>
        </p:style>
      </p:sp>
      <p:sp>
        <p:nvSpPr>
          <p:cNvPr id="168" name="Shape 15"/>
          <p:cNvSpPr/>
          <p:nvPr/>
        </p:nvSpPr>
        <p:spPr>
          <a:xfrm>
            <a:off x="4937760" y="1710000"/>
            <a:ext cx="45360" cy="566640"/>
          </a:xfrm>
          <a:prstGeom prst="rect">
            <a:avLst/>
          </a:prstGeom>
          <a:solidFill>
            <a:srgbClr val="10b981"/>
          </a:solidFill>
          <a:ln w="12700">
            <a:solidFill>
              <a:srgbClr val="10b981"/>
            </a:solidFill>
            <a:round/>
          </a:ln>
        </p:spPr>
        <p:style>
          <a:lnRef idx="0"/>
          <a:fillRef idx="0"/>
          <a:effectRef idx="0"/>
          <a:fontRef idx="minor"/>
        </p:style>
      </p:sp>
      <p:sp>
        <p:nvSpPr>
          <p:cNvPr id="169" name="Text 16"/>
          <p:cNvSpPr/>
          <p:nvPr/>
        </p:nvSpPr>
        <p:spPr>
          <a:xfrm>
            <a:off x="5074920" y="1710000"/>
            <a:ext cx="182844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f8fafc"/>
                </a:solidFill>
                <a:latin typeface="Calibri"/>
                <a:ea typeface="Calibri"/>
              </a:rPr>
              <a:t>Cheap, scalable</a:t>
            </a:r>
            <a:endParaRPr b="0" lang="en-IN" sz="1100" spc="-1" strike="noStrike">
              <a:latin typeface="Arial"/>
            </a:endParaRPr>
          </a:p>
        </p:txBody>
      </p:sp>
      <p:sp>
        <p:nvSpPr>
          <p:cNvPr id="170" name="Shape 17"/>
          <p:cNvSpPr/>
          <p:nvPr/>
        </p:nvSpPr>
        <p:spPr>
          <a:xfrm>
            <a:off x="6949440" y="1710000"/>
            <a:ext cx="2102760" cy="566640"/>
          </a:xfrm>
          <a:prstGeom prst="rect">
            <a:avLst/>
          </a:prstGeom>
          <a:solidFill>
            <a:srgbClr val="7f1d1d"/>
          </a:solidFill>
          <a:ln w="6350">
            <a:solidFill>
              <a:srgbClr val="334155"/>
            </a:solidFill>
            <a:round/>
          </a:ln>
        </p:spPr>
        <p:style>
          <a:lnRef idx="0"/>
          <a:fillRef idx="0"/>
          <a:effectRef idx="0"/>
          <a:fontRef idx="minor"/>
        </p:style>
      </p:sp>
      <p:sp>
        <p:nvSpPr>
          <p:cNvPr id="171" name="Shape 18"/>
          <p:cNvSpPr/>
          <p:nvPr/>
        </p:nvSpPr>
        <p:spPr>
          <a:xfrm>
            <a:off x="6949440" y="1710000"/>
            <a:ext cx="45360" cy="566640"/>
          </a:xfrm>
          <a:prstGeom prst="rect">
            <a:avLst/>
          </a:prstGeom>
          <a:solidFill>
            <a:srgbClr val="ef4444"/>
          </a:solidFill>
          <a:ln w="12700">
            <a:solidFill>
              <a:srgbClr val="ef4444"/>
            </a:solidFill>
            <a:round/>
          </a:ln>
        </p:spPr>
        <p:style>
          <a:lnRef idx="0"/>
          <a:fillRef idx="0"/>
          <a:effectRef idx="0"/>
          <a:fontRef idx="minor"/>
        </p:style>
      </p:sp>
      <p:sp>
        <p:nvSpPr>
          <p:cNvPr id="172" name="Text 19"/>
          <p:cNvSpPr/>
          <p:nvPr/>
        </p:nvSpPr>
        <p:spPr>
          <a:xfrm>
            <a:off x="7086600" y="1710000"/>
            <a:ext cx="191988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f8fafc"/>
                </a:solidFill>
                <a:latin typeface="Calibri"/>
                <a:ea typeface="Calibri"/>
              </a:rPr>
              <a:t>Assumes regularity — no causal reasoning</a:t>
            </a:r>
            <a:endParaRPr b="0" lang="en-IN" sz="1100" spc="-1" strike="noStrike">
              <a:latin typeface="Arial"/>
            </a:endParaRPr>
          </a:p>
        </p:txBody>
      </p:sp>
      <p:sp>
        <p:nvSpPr>
          <p:cNvPr id="173" name="Shape 20"/>
          <p:cNvSpPr/>
          <p:nvPr/>
        </p:nvSpPr>
        <p:spPr>
          <a:xfrm>
            <a:off x="457200" y="2277000"/>
            <a:ext cx="2194200" cy="566640"/>
          </a:xfrm>
          <a:prstGeom prst="rect">
            <a:avLst/>
          </a:prstGeom>
          <a:solidFill>
            <a:srgbClr val="162236"/>
          </a:solidFill>
          <a:ln w="6350">
            <a:solidFill>
              <a:srgbClr val="334155"/>
            </a:solidFill>
            <a:round/>
          </a:ln>
        </p:spPr>
        <p:style>
          <a:lnRef idx="0"/>
          <a:fillRef idx="0"/>
          <a:effectRef idx="0"/>
          <a:fontRef idx="minor"/>
        </p:style>
      </p:sp>
      <p:sp>
        <p:nvSpPr>
          <p:cNvPr id="174" name="Text 21"/>
          <p:cNvSpPr/>
          <p:nvPr/>
        </p:nvSpPr>
        <p:spPr>
          <a:xfrm>
            <a:off x="594360" y="2277000"/>
            <a:ext cx="201132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Classical ML</a:t>
            </a:r>
            <a:endParaRPr b="0" lang="en-IN" sz="1100" spc="-1" strike="noStrike">
              <a:latin typeface="Arial"/>
            </a:endParaRPr>
          </a:p>
        </p:txBody>
      </p:sp>
      <p:sp>
        <p:nvSpPr>
          <p:cNvPr id="175" name="Shape 22"/>
          <p:cNvSpPr/>
          <p:nvPr/>
        </p:nvSpPr>
        <p:spPr>
          <a:xfrm>
            <a:off x="2651760" y="2277000"/>
            <a:ext cx="2285640" cy="566640"/>
          </a:xfrm>
          <a:prstGeom prst="rect">
            <a:avLst/>
          </a:prstGeom>
          <a:solidFill>
            <a:srgbClr val="1b263b"/>
          </a:solidFill>
          <a:ln w="6350">
            <a:solidFill>
              <a:srgbClr val="334155"/>
            </a:solidFill>
            <a:round/>
          </a:ln>
        </p:spPr>
        <p:style>
          <a:lnRef idx="0"/>
          <a:fillRef idx="0"/>
          <a:effectRef idx="0"/>
          <a:fontRef idx="minor"/>
        </p:style>
      </p:sp>
      <p:sp>
        <p:nvSpPr>
          <p:cNvPr id="176" name="Text 23"/>
          <p:cNvSpPr/>
          <p:nvPr/>
        </p:nvSpPr>
        <p:spPr>
          <a:xfrm>
            <a:off x="2788920" y="2277000"/>
            <a:ext cx="210276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94a3b8"/>
                </a:solidFill>
                <a:latin typeface="Calibri"/>
                <a:ea typeface="Calibri"/>
              </a:rPr>
              <a:t>Random Forest · SVM</a:t>
            </a:r>
            <a:endParaRPr b="0" lang="en-IN" sz="1100" spc="-1" strike="noStrike">
              <a:latin typeface="Arial"/>
            </a:endParaRPr>
          </a:p>
        </p:txBody>
      </p:sp>
      <p:sp>
        <p:nvSpPr>
          <p:cNvPr id="177" name="Shape 24"/>
          <p:cNvSpPr/>
          <p:nvPr/>
        </p:nvSpPr>
        <p:spPr>
          <a:xfrm>
            <a:off x="4937760" y="2277000"/>
            <a:ext cx="2011320" cy="566640"/>
          </a:xfrm>
          <a:prstGeom prst="rect">
            <a:avLst/>
          </a:prstGeom>
          <a:solidFill>
            <a:srgbClr val="065f46"/>
          </a:solidFill>
          <a:ln w="6350">
            <a:solidFill>
              <a:srgbClr val="334155"/>
            </a:solidFill>
            <a:round/>
          </a:ln>
        </p:spPr>
        <p:style>
          <a:lnRef idx="0"/>
          <a:fillRef idx="0"/>
          <a:effectRef idx="0"/>
          <a:fontRef idx="minor"/>
        </p:style>
      </p:sp>
      <p:sp>
        <p:nvSpPr>
          <p:cNvPr id="178" name="Shape 25"/>
          <p:cNvSpPr/>
          <p:nvPr/>
        </p:nvSpPr>
        <p:spPr>
          <a:xfrm>
            <a:off x="4937760" y="2277000"/>
            <a:ext cx="45360" cy="566640"/>
          </a:xfrm>
          <a:prstGeom prst="rect">
            <a:avLst/>
          </a:prstGeom>
          <a:solidFill>
            <a:srgbClr val="10b981"/>
          </a:solidFill>
          <a:ln w="12700">
            <a:solidFill>
              <a:srgbClr val="10b981"/>
            </a:solidFill>
            <a:round/>
          </a:ln>
        </p:spPr>
        <p:style>
          <a:lnRef idx="0"/>
          <a:fillRef idx="0"/>
          <a:effectRef idx="0"/>
          <a:fontRef idx="minor"/>
        </p:style>
      </p:sp>
      <p:sp>
        <p:nvSpPr>
          <p:cNvPr id="179" name="Text 26"/>
          <p:cNvSpPr/>
          <p:nvPr/>
        </p:nvSpPr>
        <p:spPr>
          <a:xfrm>
            <a:off x="5074920" y="2277000"/>
            <a:ext cx="182844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f8fafc"/>
                </a:solidFill>
                <a:latin typeface="Calibri"/>
                <a:ea typeface="Calibri"/>
              </a:rPr>
              <a:t>Learns from labelled incidents</a:t>
            </a:r>
            <a:endParaRPr b="0" lang="en-IN" sz="1100" spc="-1" strike="noStrike">
              <a:latin typeface="Arial"/>
            </a:endParaRPr>
          </a:p>
        </p:txBody>
      </p:sp>
      <p:sp>
        <p:nvSpPr>
          <p:cNvPr id="180" name="Shape 27"/>
          <p:cNvSpPr/>
          <p:nvPr/>
        </p:nvSpPr>
        <p:spPr>
          <a:xfrm>
            <a:off x="6949440" y="2277000"/>
            <a:ext cx="2102760" cy="566640"/>
          </a:xfrm>
          <a:prstGeom prst="rect">
            <a:avLst/>
          </a:prstGeom>
          <a:solidFill>
            <a:srgbClr val="7f1d1d"/>
          </a:solidFill>
          <a:ln w="6350">
            <a:solidFill>
              <a:srgbClr val="334155"/>
            </a:solidFill>
            <a:round/>
          </a:ln>
        </p:spPr>
        <p:style>
          <a:lnRef idx="0"/>
          <a:fillRef idx="0"/>
          <a:effectRef idx="0"/>
          <a:fontRef idx="minor"/>
        </p:style>
      </p:sp>
      <p:sp>
        <p:nvSpPr>
          <p:cNvPr id="181" name="Shape 28"/>
          <p:cNvSpPr/>
          <p:nvPr/>
        </p:nvSpPr>
        <p:spPr>
          <a:xfrm>
            <a:off x="6949440" y="2277000"/>
            <a:ext cx="45360" cy="566640"/>
          </a:xfrm>
          <a:prstGeom prst="rect">
            <a:avLst/>
          </a:prstGeom>
          <a:solidFill>
            <a:srgbClr val="ef4444"/>
          </a:solidFill>
          <a:ln w="12700">
            <a:solidFill>
              <a:srgbClr val="ef4444"/>
            </a:solidFill>
            <a:round/>
          </a:ln>
        </p:spPr>
        <p:style>
          <a:lnRef idx="0"/>
          <a:fillRef idx="0"/>
          <a:effectRef idx="0"/>
          <a:fontRef idx="minor"/>
        </p:style>
      </p:sp>
      <p:sp>
        <p:nvSpPr>
          <p:cNvPr id="182" name="Text 29"/>
          <p:cNvSpPr/>
          <p:nvPr/>
        </p:nvSpPr>
        <p:spPr>
          <a:xfrm>
            <a:off x="7086600" y="2277000"/>
            <a:ext cx="191988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f8fafc"/>
                </a:solidFill>
                <a:latin typeface="Calibri"/>
                <a:ea typeface="Calibri"/>
              </a:rPr>
              <a:t>Concept drift; imbalanced labels</a:t>
            </a:r>
            <a:endParaRPr b="0" lang="en-IN" sz="1100" spc="-1" strike="noStrike">
              <a:latin typeface="Arial"/>
            </a:endParaRPr>
          </a:p>
        </p:txBody>
      </p:sp>
      <p:sp>
        <p:nvSpPr>
          <p:cNvPr id="183" name="Shape 30"/>
          <p:cNvSpPr/>
          <p:nvPr/>
        </p:nvSpPr>
        <p:spPr>
          <a:xfrm>
            <a:off x="457200" y="2843640"/>
            <a:ext cx="2194200" cy="566640"/>
          </a:xfrm>
          <a:prstGeom prst="rect">
            <a:avLst/>
          </a:prstGeom>
          <a:solidFill>
            <a:srgbClr val="162236"/>
          </a:solidFill>
          <a:ln w="6350">
            <a:solidFill>
              <a:srgbClr val="334155"/>
            </a:solidFill>
            <a:round/>
          </a:ln>
        </p:spPr>
        <p:style>
          <a:lnRef idx="0"/>
          <a:fillRef idx="0"/>
          <a:effectRef idx="0"/>
          <a:fontRef idx="minor"/>
        </p:style>
      </p:sp>
      <p:sp>
        <p:nvSpPr>
          <p:cNvPr id="184" name="Text 31"/>
          <p:cNvSpPr/>
          <p:nvPr/>
        </p:nvSpPr>
        <p:spPr>
          <a:xfrm>
            <a:off x="594360" y="2843640"/>
            <a:ext cx="201132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Deep / Graph-ML</a:t>
            </a:r>
            <a:endParaRPr b="0" lang="en-IN" sz="1100" spc="-1" strike="noStrike">
              <a:latin typeface="Arial"/>
            </a:endParaRPr>
          </a:p>
        </p:txBody>
      </p:sp>
      <p:sp>
        <p:nvSpPr>
          <p:cNvPr id="185" name="Shape 32"/>
          <p:cNvSpPr/>
          <p:nvPr/>
        </p:nvSpPr>
        <p:spPr>
          <a:xfrm>
            <a:off x="2651760" y="2843640"/>
            <a:ext cx="2285640" cy="566640"/>
          </a:xfrm>
          <a:prstGeom prst="rect">
            <a:avLst/>
          </a:prstGeom>
          <a:solidFill>
            <a:srgbClr val="1b263b"/>
          </a:solidFill>
          <a:ln w="6350">
            <a:solidFill>
              <a:srgbClr val="334155"/>
            </a:solidFill>
            <a:round/>
          </a:ln>
        </p:spPr>
        <p:style>
          <a:lnRef idx="0"/>
          <a:fillRef idx="0"/>
          <a:effectRef idx="0"/>
          <a:fontRef idx="minor"/>
        </p:style>
      </p:sp>
      <p:sp>
        <p:nvSpPr>
          <p:cNvPr id="186" name="Text 33"/>
          <p:cNvSpPr/>
          <p:nvPr/>
        </p:nvSpPr>
        <p:spPr>
          <a:xfrm>
            <a:off x="2788920" y="2843640"/>
            <a:ext cx="210276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94a3b8"/>
                </a:solidFill>
                <a:latin typeface="Calibri"/>
                <a:ea typeface="Calibri"/>
              </a:rPr>
              <a:t>GNNs · CHASE hypergraphs</a:t>
            </a:r>
            <a:endParaRPr b="0" lang="en-IN" sz="1100" spc="-1" strike="noStrike">
              <a:latin typeface="Arial"/>
            </a:endParaRPr>
          </a:p>
        </p:txBody>
      </p:sp>
      <p:sp>
        <p:nvSpPr>
          <p:cNvPr id="187" name="Shape 34"/>
          <p:cNvSpPr/>
          <p:nvPr/>
        </p:nvSpPr>
        <p:spPr>
          <a:xfrm>
            <a:off x="4937760" y="2843640"/>
            <a:ext cx="2011320" cy="566640"/>
          </a:xfrm>
          <a:prstGeom prst="rect">
            <a:avLst/>
          </a:prstGeom>
          <a:solidFill>
            <a:srgbClr val="065f46"/>
          </a:solidFill>
          <a:ln w="6350">
            <a:solidFill>
              <a:srgbClr val="334155"/>
            </a:solidFill>
            <a:round/>
          </a:ln>
        </p:spPr>
        <p:style>
          <a:lnRef idx="0"/>
          <a:fillRef idx="0"/>
          <a:effectRef idx="0"/>
          <a:fontRef idx="minor"/>
        </p:style>
      </p:sp>
      <p:sp>
        <p:nvSpPr>
          <p:cNvPr id="188" name="Shape 35"/>
          <p:cNvSpPr/>
          <p:nvPr/>
        </p:nvSpPr>
        <p:spPr>
          <a:xfrm>
            <a:off x="4937760" y="2843640"/>
            <a:ext cx="45360" cy="566640"/>
          </a:xfrm>
          <a:prstGeom prst="rect">
            <a:avLst/>
          </a:prstGeom>
          <a:solidFill>
            <a:srgbClr val="10b981"/>
          </a:solidFill>
          <a:ln w="12700">
            <a:solidFill>
              <a:srgbClr val="10b981"/>
            </a:solidFill>
            <a:round/>
          </a:ln>
        </p:spPr>
        <p:style>
          <a:lnRef idx="0"/>
          <a:fillRef idx="0"/>
          <a:effectRef idx="0"/>
          <a:fontRef idx="minor"/>
        </p:style>
      </p:sp>
      <p:sp>
        <p:nvSpPr>
          <p:cNvPr id="189" name="Text 36"/>
          <p:cNvSpPr/>
          <p:nvPr/>
        </p:nvSpPr>
        <p:spPr>
          <a:xfrm>
            <a:off x="5074920" y="2843640"/>
            <a:ext cx="182844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f8fafc"/>
                </a:solidFill>
                <a:latin typeface="Calibri"/>
                <a:ea typeface="Calibri"/>
              </a:rPr>
              <a:t>Topology-aware, accurate</a:t>
            </a:r>
            <a:endParaRPr b="0" lang="en-IN" sz="1100" spc="-1" strike="noStrike">
              <a:latin typeface="Arial"/>
            </a:endParaRPr>
          </a:p>
        </p:txBody>
      </p:sp>
      <p:sp>
        <p:nvSpPr>
          <p:cNvPr id="190" name="Shape 37"/>
          <p:cNvSpPr/>
          <p:nvPr/>
        </p:nvSpPr>
        <p:spPr>
          <a:xfrm>
            <a:off x="6949440" y="2843640"/>
            <a:ext cx="2102760" cy="566640"/>
          </a:xfrm>
          <a:prstGeom prst="rect">
            <a:avLst/>
          </a:prstGeom>
          <a:solidFill>
            <a:srgbClr val="7f1d1d"/>
          </a:solidFill>
          <a:ln w="6350">
            <a:solidFill>
              <a:srgbClr val="334155"/>
            </a:solidFill>
            <a:round/>
          </a:ln>
        </p:spPr>
        <p:style>
          <a:lnRef idx="0"/>
          <a:fillRef idx="0"/>
          <a:effectRef idx="0"/>
          <a:fontRef idx="minor"/>
        </p:style>
      </p:sp>
      <p:sp>
        <p:nvSpPr>
          <p:cNvPr id="191" name="Shape 38"/>
          <p:cNvSpPr/>
          <p:nvPr/>
        </p:nvSpPr>
        <p:spPr>
          <a:xfrm>
            <a:off x="6949440" y="2843640"/>
            <a:ext cx="45360" cy="566640"/>
          </a:xfrm>
          <a:prstGeom prst="rect">
            <a:avLst/>
          </a:prstGeom>
          <a:solidFill>
            <a:srgbClr val="ef4444"/>
          </a:solidFill>
          <a:ln w="12700">
            <a:solidFill>
              <a:srgbClr val="ef4444"/>
            </a:solidFill>
            <a:round/>
          </a:ln>
        </p:spPr>
        <p:style>
          <a:lnRef idx="0"/>
          <a:fillRef idx="0"/>
          <a:effectRef idx="0"/>
          <a:fontRef idx="minor"/>
        </p:style>
      </p:sp>
      <p:sp>
        <p:nvSpPr>
          <p:cNvPr id="192" name="Text 39"/>
          <p:cNvSpPr/>
          <p:nvPr/>
        </p:nvSpPr>
        <p:spPr>
          <a:xfrm>
            <a:off x="7086600" y="2843640"/>
            <a:ext cx="191988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f8fafc"/>
                </a:solidFill>
                <a:latin typeface="Calibri"/>
                <a:ea typeface="Calibri"/>
              </a:rPr>
              <a:t>Opacity → SRE trust deficit</a:t>
            </a:r>
            <a:endParaRPr b="0" lang="en-IN" sz="1100" spc="-1" strike="noStrike">
              <a:latin typeface="Arial"/>
            </a:endParaRPr>
          </a:p>
        </p:txBody>
      </p:sp>
      <p:sp>
        <p:nvSpPr>
          <p:cNvPr id="193" name="Shape 40"/>
          <p:cNvSpPr/>
          <p:nvPr/>
        </p:nvSpPr>
        <p:spPr>
          <a:xfrm>
            <a:off x="457200" y="3410640"/>
            <a:ext cx="2194200" cy="566640"/>
          </a:xfrm>
          <a:prstGeom prst="rect">
            <a:avLst/>
          </a:prstGeom>
          <a:solidFill>
            <a:srgbClr val="162236"/>
          </a:solidFill>
          <a:ln w="6350">
            <a:solidFill>
              <a:srgbClr val="334155"/>
            </a:solidFill>
            <a:round/>
          </a:ln>
        </p:spPr>
        <p:style>
          <a:lnRef idx="0"/>
          <a:fillRef idx="0"/>
          <a:effectRef idx="0"/>
          <a:fontRef idx="minor"/>
        </p:style>
      </p:sp>
      <p:sp>
        <p:nvSpPr>
          <p:cNvPr id="194" name="Text 41"/>
          <p:cNvSpPr/>
          <p:nvPr/>
        </p:nvSpPr>
        <p:spPr>
          <a:xfrm>
            <a:off x="594360" y="3410640"/>
            <a:ext cx="201132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LLM / Multi-agent</a:t>
            </a:r>
            <a:endParaRPr b="0" lang="en-IN" sz="1100" spc="-1" strike="noStrike">
              <a:latin typeface="Arial"/>
            </a:endParaRPr>
          </a:p>
        </p:txBody>
      </p:sp>
      <p:sp>
        <p:nvSpPr>
          <p:cNvPr id="195" name="Shape 42"/>
          <p:cNvSpPr/>
          <p:nvPr/>
        </p:nvSpPr>
        <p:spPr>
          <a:xfrm>
            <a:off x="2651760" y="3410640"/>
            <a:ext cx="2285640" cy="566640"/>
          </a:xfrm>
          <a:prstGeom prst="rect">
            <a:avLst/>
          </a:prstGeom>
          <a:solidFill>
            <a:srgbClr val="1b263b"/>
          </a:solidFill>
          <a:ln w="6350">
            <a:solidFill>
              <a:srgbClr val="334155"/>
            </a:solidFill>
            <a:round/>
          </a:ln>
        </p:spPr>
        <p:style>
          <a:lnRef idx="0"/>
          <a:fillRef idx="0"/>
          <a:effectRef idx="0"/>
          <a:fontRef idx="minor"/>
        </p:style>
      </p:sp>
      <p:sp>
        <p:nvSpPr>
          <p:cNvPr id="196" name="Text 43"/>
          <p:cNvSpPr/>
          <p:nvPr/>
        </p:nvSpPr>
        <p:spPr>
          <a:xfrm>
            <a:off x="2788920" y="3410640"/>
            <a:ext cx="210276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94a3b8"/>
                </a:solidFill>
                <a:latin typeface="Calibri"/>
                <a:ea typeface="Calibri"/>
              </a:rPr>
              <a:t>TAMO · mABC · Flow-of-Action</a:t>
            </a:r>
            <a:endParaRPr b="0" lang="en-IN" sz="1100" spc="-1" strike="noStrike">
              <a:latin typeface="Arial"/>
            </a:endParaRPr>
          </a:p>
        </p:txBody>
      </p:sp>
      <p:sp>
        <p:nvSpPr>
          <p:cNvPr id="197" name="Shape 44"/>
          <p:cNvSpPr/>
          <p:nvPr/>
        </p:nvSpPr>
        <p:spPr>
          <a:xfrm>
            <a:off x="4937760" y="3410640"/>
            <a:ext cx="2011320" cy="566640"/>
          </a:xfrm>
          <a:prstGeom prst="rect">
            <a:avLst/>
          </a:prstGeom>
          <a:solidFill>
            <a:srgbClr val="065f46"/>
          </a:solidFill>
          <a:ln w="6350">
            <a:solidFill>
              <a:srgbClr val="334155"/>
            </a:solidFill>
            <a:round/>
          </a:ln>
        </p:spPr>
        <p:style>
          <a:lnRef idx="0"/>
          <a:fillRef idx="0"/>
          <a:effectRef idx="0"/>
          <a:fontRef idx="minor"/>
        </p:style>
      </p:sp>
      <p:sp>
        <p:nvSpPr>
          <p:cNvPr id="198" name="Shape 45"/>
          <p:cNvSpPr/>
          <p:nvPr/>
        </p:nvSpPr>
        <p:spPr>
          <a:xfrm>
            <a:off x="4937760" y="3410640"/>
            <a:ext cx="45360" cy="566640"/>
          </a:xfrm>
          <a:prstGeom prst="rect">
            <a:avLst/>
          </a:prstGeom>
          <a:solidFill>
            <a:srgbClr val="10b981"/>
          </a:solidFill>
          <a:ln w="12700">
            <a:solidFill>
              <a:srgbClr val="10b981"/>
            </a:solidFill>
            <a:round/>
          </a:ln>
        </p:spPr>
        <p:style>
          <a:lnRef idx="0"/>
          <a:fillRef idx="0"/>
          <a:effectRef idx="0"/>
          <a:fontRef idx="minor"/>
        </p:style>
      </p:sp>
      <p:sp>
        <p:nvSpPr>
          <p:cNvPr id="199" name="Text 46"/>
          <p:cNvSpPr/>
          <p:nvPr/>
        </p:nvSpPr>
        <p:spPr>
          <a:xfrm>
            <a:off x="5074920" y="3410640"/>
            <a:ext cx="182844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f8fafc"/>
                </a:solidFill>
                <a:latin typeface="Calibri"/>
                <a:ea typeface="Calibri"/>
              </a:rPr>
              <a:t>Explanations, generalisation</a:t>
            </a:r>
            <a:endParaRPr b="0" lang="en-IN" sz="1100" spc="-1" strike="noStrike">
              <a:latin typeface="Arial"/>
            </a:endParaRPr>
          </a:p>
        </p:txBody>
      </p:sp>
      <p:sp>
        <p:nvSpPr>
          <p:cNvPr id="200" name="Shape 47"/>
          <p:cNvSpPr/>
          <p:nvPr/>
        </p:nvSpPr>
        <p:spPr>
          <a:xfrm>
            <a:off x="6949440" y="3410640"/>
            <a:ext cx="2102760" cy="566640"/>
          </a:xfrm>
          <a:prstGeom prst="rect">
            <a:avLst/>
          </a:prstGeom>
          <a:solidFill>
            <a:srgbClr val="7f1d1d"/>
          </a:solidFill>
          <a:ln w="6350">
            <a:solidFill>
              <a:srgbClr val="334155"/>
            </a:solidFill>
            <a:round/>
          </a:ln>
        </p:spPr>
        <p:style>
          <a:lnRef idx="0"/>
          <a:fillRef idx="0"/>
          <a:effectRef idx="0"/>
          <a:fontRef idx="minor"/>
        </p:style>
      </p:sp>
      <p:sp>
        <p:nvSpPr>
          <p:cNvPr id="201" name="Shape 48"/>
          <p:cNvSpPr/>
          <p:nvPr/>
        </p:nvSpPr>
        <p:spPr>
          <a:xfrm>
            <a:off x="6949440" y="3410640"/>
            <a:ext cx="45360" cy="566640"/>
          </a:xfrm>
          <a:prstGeom prst="rect">
            <a:avLst/>
          </a:prstGeom>
          <a:solidFill>
            <a:srgbClr val="ef4444"/>
          </a:solidFill>
          <a:ln w="12700">
            <a:solidFill>
              <a:srgbClr val="ef4444"/>
            </a:solidFill>
            <a:round/>
          </a:ln>
        </p:spPr>
        <p:style>
          <a:lnRef idx="0"/>
          <a:fillRef idx="0"/>
          <a:effectRef idx="0"/>
          <a:fontRef idx="minor"/>
        </p:style>
      </p:sp>
      <p:sp>
        <p:nvSpPr>
          <p:cNvPr id="202" name="Text 49"/>
          <p:cNvSpPr/>
          <p:nvPr/>
        </p:nvSpPr>
        <p:spPr>
          <a:xfrm>
            <a:off x="7086600" y="3410640"/>
            <a:ext cx="1919880" cy="566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f8fafc"/>
                </a:solidFill>
                <a:latin typeface="Calibri"/>
                <a:ea typeface="Calibri"/>
              </a:rPr>
              <a:t>$0.04/fault · hallucination · context limits</a:t>
            </a:r>
            <a:endParaRPr b="0" lang="en-IN" sz="1100" spc="-1" strike="noStrike">
              <a:latin typeface="Arial"/>
            </a:endParaRPr>
          </a:p>
        </p:txBody>
      </p:sp>
      <p:sp>
        <p:nvSpPr>
          <p:cNvPr id="203" name="Shape 50"/>
          <p:cNvSpPr/>
          <p:nvPr/>
        </p:nvSpPr>
        <p:spPr>
          <a:xfrm>
            <a:off x="457200" y="4142160"/>
            <a:ext cx="8595000" cy="456840"/>
          </a:xfrm>
          <a:prstGeom prst="rect">
            <a:avLst/>
          </a:prstGeom>
          <a:solidFill>
            <a:srgbClr val="243549"/>
          </a:solidFill>
          <a:ln w="9525">
            <a:solidFill>
              <a:srgbClr val="334155"/>
            </a:solidFill>
            <a:round/>
          </a:ln>
        </p:spPr>
        <p:style>
          <a:lnRef idx="0"/>
          <a:fillRef idx="0"/>
          <a:effectRef idx="0"/>
          <a:fontRef idx="minor"/>
        </p:style>
      </p:sp>
      <p:sp>
        <p:nvSpPr>
          <p:cNvPr id="204" name="Shape 51"/>
          <p:cNvSpPr/>
          <p:nvPr/>
        </p:nvSpPr>
        <p:spPr>
          <a:xfrm>
            <a:off x="457200" y="4142160"/>
            <a:ext cx="54360" cy="456840"/>
          </a:xfrm>
          <a:prstGeom prst="rect">
            <a:avLst/>
          </a:prstGeom>
          <a:solidFill>
            <a:srgbClr val="f97316"/>
          </a:solidFill>
          <a:ln w="12700">
            <a:solidFill>
              <a:srgbClr val="f97316"/>
            </a:solidFill>
            <a:round/>
          </a:ln>
        </p:spPr>
        <p:style>
          <a:lnRef idx="0"/>
          <a:fillRef idx="0"/>
          <a:effectRef idx="0"/>
          <a:fontRef idx="minor"/>
        </p:style>
      </p:sp>
      <p:sp>
        <p:nvSpPr>
          <p:cNvPr id="205" name="Text 52"/>
          <p:cNvSpPr/>
          <p:nvPr/>
        </p:nvSpPr>
        <p:spPr>
          <a:xfrm>
            <a:off x="621720" y="4142160"/>
            <a:ext cx="84121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200" spc="-1" strike="noStrike">
                <a:solidFill>
                  <a:srgbClr val="f8fafc"/>
                </a:solidFill>
                <a:latin typeface="Calibri"/>
                <a:ea typeface="Calibri"/>
              </a:rPr>
              <a:t>Each family is right for a subset of fault classes. None is universally adequate. → Co-deploy paradigms.</a:t>
            </a:r>
            <a:endParaRPr b="0" lang="en-IN" sz="1200" spc="-1" strike="noStrike">
              <a:latin typeface="Arial"/>
            </a:endParaRPr>
          </a:p>
        </p:txBody>
      </p:sp>
      <p:sp>
        <p:nvSpPr>
          <p:cNvPr id="206" name="Text 53"/>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Problem &amp; Gap</a:t>
            </a:r>
            <a:endParaRPr b="0" lang="en-IN" sz="850" spc="-1" strike="noStrike">
              <a:latin typeface="Arial"/>
            </a:endParaRPr>
          </a:p>
        </p:txBody>
      </p:sp>
      <p:sp>
        <p:nvSpPr>
          <p:cNvPr id="207" name="Text 54"/>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5 / 22</a:t>
            </a:r>
            <a:endParaRPr b="0" lang="en-IN" sz="900" spc="-1" strike="noStrike">
              <a:latin typeface="Arial"/>
            </a:endParaRPr>
          </a:p>
        </p:txBody>
      </p:sp>
      <p:sp>
        <p:nvSpPr>
          <p:cNvPr id="208" name="Shape 55"/>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09"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WHY NOW</a:t>
            </a:r>
            <a:endParaRPr b="0" lang="en-IN" sz="1000" spc="-1" strike="noStrike">
              <a:latin typeface="Arial"/>
            </a:endParaRPr>
          </a:p>
        </p:txBody>
      </p:sp>
      <p:sp>
        <p:nvSpPr>
          <p:cNvPr id="210"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LLM cost is itself an operational expense — not just a research-stage concern</a:t>
            </a:r>
            <a:endParaRPr b="0" lang="en-IN" sz="2200" spc="-1" strike="noStrike">
              <a:latin typeface="Arial"/>
            </a:endParaRPr>
          </a:p>
        </p:txBody>
      </p:sp>
      <p:sp>
        <p:nvSpPr>
          <p:cNvPr id="211" name="Shape 2"/>
          <p:cNvSpPr/>
          <p:nvPr/>
        </p:nvSpPr>
        <p:spPr>
          <a:xfrm>
            <a:off x="502920" y="1417320"/>
            <a:ext cx="2605680" cy="2377080"/>
          </a:xfrm>
          <a:prstGeom prst="rect">
            <a:avLst/>
          </a:prstGeom>
          <a:solidFill>
            <a:srgbClr val="162236"/>
          </a:solidFill>
          <a:ln w="9525">
            <a:solidFill>
              <a:srgbClr val="334155"/>
            </a:solidFill>
            <a:round/>
          </a:ln>
        </p:spPr>
        <p:style>
          <a:lnRef idx="0"/>
          <a:fillRef idx="0"/>
          <a:effectRef idx="0"/>
          <a:fontRef idx="minor"/>
        </p:style>
      </p:sp>
      <p:sp>
        <p:nvSpPr>
          <p:cNvPr id="212" name="Text 3"/>
          <p:cNvSpPr/>
          <p:nvPr/>
        </p:nvSpPr>
        <p:spPr>
          <a:xfrm>
            <a:off x="685800" y="1645920"/>
            <a:ext cx="22399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299" strike="noStrike">
                <a:solidFill>
                  <a:srgbClr val="06b6d4"/>
                </a:solidFill>
                <a:latin typeface="Calibri"/>
                <a:ea typeface="Calibri"/>
              </a:rPr>
              <a:t>PER-FAULT GPT-4 DIAGNOSIS</a:t>
            </a:r>
            <a:endParaRPr b="0" lang="en-IN" sz="950" spc="-1" strike="noStrike">
              <a:latin typeface="Arial"/>
            </a:endParaRPr>
          </a:p>
        </p:txBody>
      </p:sp>
      <p:sp>
        <p:nvSpPr>
          <p:cNvPr id="213" name="Text 4"/>
          <p:cNvSpPr/>
          <p:nvPr/>
        </p:nvSpPr>
        <p:spPr>
          <a:xfrm>
            <a:off x="685800" y="2103120"/>
            <a:ext cx="223992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6000" spc="-1" strike="noStrike">
                <a:solidFill>
                  <a:srgbClr val="f97316"/>
                </a:solidFill>
                <a:latin typeface="Calibri"/>
                <a:ea typeface="Calibri"/>
              </a:rPr>
              <a:t>$0.04</a:t>
            </a:r>
            <a:endParaRPr b="0" lang="en-IN" sz="6000" spc="-1" strike="noStrike">
              <a:latin typeface="Arial"/>
            </a:endParaRPr>
          </a:p>
        </p:txBody>
      </p:sp>
      <p:sp>
        <p:nvSpPr>
          <p:cNvPr id="214" name="Text 5"/>
          <p:cNvSpPr/>
          <p:nvPr/>
        </p:nvSpPr>
        <p:spPr>
          <a:xfrm>
            <a:off x="685800" y="3200400"/>
            <a:ext cx="22399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94a3b8"/>
                </a:solidFill>
                <a:latin typeface="Calibri"/>
                <a:ea typeface="Calibri"/>
              </a:rPr>
              <a:t>Han et al. 2024 · Shan et al. 2025</a:t>
            </a:r>
            <a:endParaRPr b="0" lang="en-IN" sz="1100" spc="-1" strike="noStrike">
              <a:latin typeface="Arial"/>
            </a:endParaRPr>
          </a:p>
        </p:txBody>
      </p:sp>
      <p:sp>
        <p:nvSpPr>
          <p:cNvPr id="215" name="Shape 6"/>
          <p:cNvSpPr/>
          <p:nvPr/>
        </p:nvSpPr>
        <p:spPr>
          <a:xfrm>
            <a:off x="3246120" y="1417320"/>
            <a:ext cx="2605680" cy="2377080"/>
          </a:xfrm>
          <a:prstGeom prst="rect">
            <a:avLst/>
          </a:prstGeom>
          <a:solidFill>
            <a:srgbClr val="162236"/>
          </a:solidFill>
          <a:ln w="9525">
            <a:solidFill>
              <a:srgbClr val="334155"/>
            </a:solidFill>
            <a:round/>
          </a:ln>
        </p:spPr>
        <p:style>
          <a:lnRef idx="0"/>
          <a:fillRef idx="0"/>
          <a:effectRef idx="0"/>
          <a:fontRef idx="minor"/>
        </p:style>
      </p:sp>
      <p:sp>
        <p:nvSpPr>
          <p:cNvPr id="216" name="Text 7"/>
          <p:cNvSpPr/>
          <p:nvPr/>
        </p:nvSpPr>
        <p:spPr>
          <a:xfrm>
            <a:off x="3429000" y="1645920"/>
            <a:ext cx="22399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299" strike="noStrike">
                <a:solidFill>
                  <a:srgbClr val="06b6d4"/>
                </a:solidFill>
                <a:latin typeface="Calibri"/>
                <a:ea typeface="Calibri"/>
              </a:rPr>
              <a:t>ENTERPRISE INCIDENT RATE</a:t>
            </a:r>
            <a:endParaRPr b="0" lang="en-IN" sz="950" spc="-1" strike="noStrike">
              <a:latin typeface="Arial"/>
            </a:endParaRPr>
          </a:p>
        </p:txBody>
      </p:sp>
      <p:sp>
        <p:nvSpPr>
          <p:cNvPr id="217" name="Text 8"/>
          <p:cNvSpPr/>
          <p:nvPr/>
        </p:nvSpPr>
        <p:spPr>
          <a:xfrm>
            <a:off x="3429000" y="2103120"/>
            <a:ext cx="223992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000" spc="-1" strike="noStrike">
                <a:solidFill>
                  <a:srgbClr val="f97316"/>
                </a:solidFill>
                <a:latin typeface="Calibri"/>
                <a:ea typeface="Calibri"/>
              </a:rPr>
              <a:t>100s–1000s</a:t>
            </a:r>
            <a:endParaRPr b="0" lang="en-IN" sz="3000" spc="-1" strike="noStrike">
              <a:latin typeface="Arial"/>
            </a:endParaRPr>
          </a:p>
        </p:txBody>
      </p:sp>
      <p:sp>
        <p:nvSpPr>
          <p:cNvPr id="218" name="Text 9"/>
          <p:cNvSpPr/>
          <p:nvPr/>
        </p:nvSpPr>
        <p:spPr>
          <a:xfrm>
            <a:off x="3429000" y="3200400"/>
            <a:ext cx="22399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94a3b8"/>
                </a:solidFill>
                <a:latin typeface="Calibri"/>
                <a:ea typeface="Calibri"/>
              </a:rPr>
              <a:t>incidents per day</a:t>
            </a:r>
            <a:endParaRPr b="0" lang="en-IN" sz="1100" spc="-1" strike="noStrike">
              <a:latin typeface="Arial"/>
            </a:endParaRPr>
          </a:p>
        </p:txBody>
      </p:sp>
      <p:sp>
        <p:nvSpPr>
          <p:cNvPr id="219" name="Shape 10"/>
          <p:cNvSpPr/>
          <p:nvPr/>
        </p:nvSpPr>
        <p:spPr>
          <a:xfrm>
            <a:off x="5989320" y="1417320"/>
            <a:ext cx="2605680" cy="2377080"/>
          </a:xfrm>
          <a:prstGeom prst="rect">
            <a:avLst/>
          </a:prstGeom>
          <a:solidFill>
            <a:srgbClr val="162236"/>
          </a:solidFill>
          <a:ln w="9525">
            <a:solidFill>
              <a:srgbClr val="334155"/>
            </a:solidFill>
            <a:round/>
          </a:ln>
        </p:spPr>
        <p:style>
          <a:lnRef idx="0"/>
          <a:fillRef idx="0"/>
          <a:effectRef idx="0"/>
          <a:fontRef idx="minor"/>
        </p:style>
      </p:sp>
      <p:sp>
        <p:nvSpPr>
          <p:cNvPr id="220" name="Text 11"/>
          <p:cNvSpPr/>
          <p:nvPr/>
        </p:nvSpPr>
        <p:spPr>
          <a:xfrm>
            <a:off x="6172200" y="1645920"/>
            <a:ext cx="22399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299" strike="noStrike">
                <a:solidFill>
                  <a:srgbClr val="06b6d4"/>
                </a:solidFill>
                <a:latin typeface="Calibri"/>
                <a:ea typeface="Calibri"/>
              </a:rPr>
              <a:t>ANNUALISED COST</a:t>
            </a:r>
            <a:endParaRPr b="0" lang="en-IN" sz="950" spc="-1" strike="noStrike">
              <a:latin typeface="Arial"/>
            </a:endParaRPr>
          </a:p>
        </p:txBody>
      </p:sp>
      <p:sp>
        <p:nvSpPr>
          <p:cNvPr id="221" name="Text 12"/>
          <p:cNvSpPr/>
          <p:nvPr/>
        </p:nvSpPr>
        <p:spPr>
          <a:xfrm>
            <a:off x="6172200" y="2103120"/>
            <a:ext cx="223992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3200" spc="-1" strike="noStrike">
                <a:solidFill>
                  <a:srgbClr val="f8fafc"/>
                </a:solidFill>
                <a:latin typeface="Calibri"/>
                <a:ea typeface="Calibri"/>
              </a:rPr>
              <a:t>Substantial</a:t>
            </a:r>
            <a:endParaRPr b="0" lang="en-IN" sz="3200" spc="-1" strike="noStrike">
              <a:latin typeface="Arial"/>
            </a:endParaRPr>
          </a:p>
        </p:txBody>
      </p:sp>
      <p:sp>
        <p:nvSpPr>
          <p:cNvPr id="222" name="Text 13"/>
          <p:cNvSpPr/>
          <p:nvPr/>
        </p:nvSpPr>
        <p:spPr>
          <a:xfrm>
            <a:off x="6172200" y="3200400"/>
            <a:ext cx="22399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94a3b8"/>
                </a:solidFill>
                <a:latin typeface="Calibri"/>
                <a:ea typeface="Calibri"/>
              </a:rPr>
              <a:t>scales superlinearly with multimodal context</a:t>
            </a:r>
            <a:endParaRPr b="0" lang="en-IN" sz="1100" spc="-1" strike="noStrike">
              <a:latin typeface="Arial"/>
            </a:endParaRPr>
          </a:p>
        </p:txBody>
      </p:sp>
      <p:sp>
        <p:nvSpPr>
          <p:cNvPr id="223" name="Shape 14"/>
          <p:cNvSpPr/>
          <p:nvPr/>
        </p:nvSpPr>
        <p:spPr>
          <a:xfrm>
            <a:off x="502920" y="4023360"/>
            <a:ext cx="8137800" cy="685440"/>
          </a:xfrm>
          <a:prstGeom prst="rect">
            <a:avLst/>
          </a:prstGeom>
          <a:solidFill>
            <a:srgbClr val="243549"/>
          </a:solidFill>
          <a:ln w="9525">
            <a:solidFill>
              <a:srgbClr val="334155"/>
            </a:solidFill>
            <a:round/>
          </a:ln>
        </p:spPr>
        <p:style>
          <a:lnRef idx="0"/>
          <a:fillRef idx="0"/>
          <a:effectRef idx="0"/>
          <a:fontRef idx="minor"/>
        </p:style>
      </p:sp>
      <p:sp>
        <p:nvSpPr>
          <p:cNvPr id="224" name="Shape 15"/>
          <p:cNvSpPr/>
          <p:nvPr/>
        </p:nvSpPr>
        <p:spPr>
          <a:xfrm>
            <a:off x="502920" y="4023360"/>
            <a:ext cx="54360" cy="685440"/>
          </a:xfrm>
          <a:prstGeom prst="rect">
            <a:avLst/>
          </a:prstGeom>
          <a:solidFill>
            <a:srgbClr val="f97316"/>
          </a:solidFill>
          <a:ln w="12700">
            <a:solidFill>
              <a:srgbClr val="f97316"/>
            </a:solidFill>
            <a:round/>
          </a:ln>
        </p:spPr>
        <p:style>
          <a:lnRef idx="0"/>
          <a:fillRef idx="0"/>
          <a:effectRef idx="0"/>
          <a:fontRef idx="minor"/>
        </p:style>
      </p:sp>
      <p:sp>
        <p:nvSpPr>
          <p:cNvPr id="225" name="Text 16"/>
          <p:cNvSpPr/>
          <p:nvPr/>
        </p:nvSpPr>
        <p:spPr>
          <a:xfrm>
            <a:off x="685800" y="4023360"/>
            <a:ext cx="7863480" cy="685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300" spc="-1" strike="noStrike">
                <a:solidFill>
                  <a:srgbClr val="f8fafc"/>
                </a:solidFill>
                <a:latin typeface="Calibri"/>
                <a:ea typeface="Calibri"/>
              </a:rPr>
              <a:t>HELIOS treats LLM cost as architecturally arbitrated — not engineered away post-hoc. (Contribution C6: ORAR cost-aware routing)</a:t>
            </a:r>
            <a:endParaRPr b="0" lang="en-IN" sz="1300" spc="-1" strike="noStrike">
              <a:latin typeface="Arial"/>
            </a:endParaRPr>
          </a:p>
        </p:txBody>
      </p:sp>
      <p:sp>
        <p:nvSpPr>
          <p:cNvPr id="226" name="Text 17"/>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Problem &amp; Gap</a:t>
            </a:r>
            <a:endParaRPr b="0" lang="en-IN" sz="850" spc="-1" strike="noStrike">
              <a:latin typeface="Arial"/>
            </a:endParaRPr>
          </a:p>
        </p:txBody>
      </p:sp>
      <p:sp>
        <p:nvSpPr>
          <p:cNvPr id="227" name="Text 18"/>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6 / 22</a:t>
            </a:r>
            <a:endParaRPr b="0" lang="en-IN" sz="900" spc="-1" strike="noStrike">
              <a:latin typeface="Arial"/>
            </a:endParaRPr>
          </a:p>
        </p:txBody>
      </p:sp>
      <p:sp>
        <p:nvSpPr>
          <p:cNvPr id="228" name="Shape 19"/>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29"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THE FIVE METHODOLOGICAL DESIDERATA</a:t>
            </a:r>
            <a:endParaRPr b="0" lang="en-IN" sz="1000" spc="-1" strike="noStrike">
              <a:latin typeface="Arial"/>
            </a:endParaRPr>
          </a:p>
        </p:txBody>
      </p:sp>
      <p:sp>
        <p:nvSpPr>
          <p:cNvPr id="230"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No surveyed system meets all five — HELIOS engineered to satisfy them by design</a:t>
            </a:r>
            <a:endParaRPr b="0" lang="en-IN" sz="2200" spc="-1" strike="noStrike">
              <a:latin typeface="Arial"/>
            </a:endParaRPr>
          </a:p>
        </p:txBody>
      </p:sp>
      <p:sp>
        <p:nvSpPr>
          <p:cNvPr id="231" name="Shape 2"/>
          <p:cNvSpPr/>
          <p:nvPr/>
        </p:nvSpPr>
        <p:spPr>
          <a:xfrm>
            <a:off x="411480" y="1280160"/>
            <a:ext cx="2285640" cy="411120"/>
          </a:xfrm>
          <a:prstGeom prst="rect">
            <a:avLst/>
          </a:prstGeom>
          <a:solidFill>
            <a:srgbClr val="0d1b2a"/>
          </a:solidFill>
          <a:ln w="12700">
            <a:solidFill>
              <a:srgbClr val="334155"/>
            </a:solidFill>
            <a:round/>
          </a:ln>
        </p:spPr>
        <p:style>
          <a:lnRef idx="0"/>
          <a:fillRef idx="0"/>
          <a:effectRef idx="0"/>
          <a:fontRef idx="minor"/>
        </p:style>
      </p:sp>
      <p:sp>
        <p:nvSpPr>
          <p:cNvPr id="232" name="Shape 3"/>
          <p:cNvSpPr/>
          <p:nvPr/>
        </p:nvSpPr>
        <p:spPr>
          <a:xfrm>
            <a:off x="2697480" y="1280160"/>
            <a:ext cx="968760" cy="411120"/>
          </a:xfrm>
          <a:prstGeom prst="rect">
            <a:avLst/>
          </a:prstGeom>
          <a:solidFill>
            <a:srgbClr val="164e63"/>
          </a:solidFill>
          <a:ln w="6350">
            <a:solidFill>
              <a:srgbClr val="334155"/>
            </a:solidFill>
            <a:round/>
          </a:ln>
        </p:spPr>
        <p:style>
          <a:lnRef idx="0"/>
          <a:fillRef idx="0"/>
          <a:effectRef idx="0"/>
          <a:fontRef idx="minor"/>
        </p:style>
      </p:sp>
      <p:sp>
        <p:nvSpPr>
          <p:cNvPr id="233" name="Text 4"/>
          <p:cNvSpPr/>
          <p:nvPr/>
        </p:nvSpPr>
        <p:spPr>
          <a:xfrm>
            <a:off x="2697480" y="1280160"/>
            <a:ext cx="968760" cy="4111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100" spc="-1" strike="noStrike">
                <a:solidFill>
                  <a:srgbClr val="06b6d4"/>
                </a:solidFill>
                <a:latin typeface="Calibri"/>
                <a:ea typeface="Calibri"/>
              </a:rPr>
              <a:t>CHASE</a:t>
            </a:r>
            <a:endParaRPr b="0" lang="en-IN" sz="1100" spc="-1" strike="noStrike">
              <a:latin typeface="Arial"/>
            </a:endParaRPr>
          </a:p>
        </p:txBody>
      </p:sp>
      <p:sp>
        <p:nvSpPr>
          <p:cNvPr id="234" name="Shape 5"/>
          <p:cNvSpPr/>
          <p:nvPr/>
        </p:nvSpPr>
        <p:spPr>
          <a:xfrm>
            <a:off x="3666600" y="1280160"/>
            <a:ext cx="968760" cy="411120"/>
          </a:xfrm>
          <a:prstGeom prst="rect">
            <a:avLst/>
          </a:prstGeom>
          <a:solidFill>
            <a:srgbClr val="164e63"/>
          </a:solidFill>
          <a:ln w="6350">
            <a:solidFill>
              <a:srgbClr val="334155"/>
            </a:solidFill>
            <a:round/>
          </a:ln>
        </p:spPr>
        <p:style>
          <a:lnRef idx="0"/>
          <a:fillRef idx="0"/>
          <a:effectRef idx="0"/>
          <a:fontRef idx="minor"/>
        </p:style>
      </p:sp>
      <p:sp>
        <p:nvSpPr>
          <p:cNvPr id="235" name="Text 6"/>
          <p:cNvSpPr/>
          <p:nvPr/>
        </p:nvSpPr>
        <p:spPr>
          <a:xfrm>
            <a:off x="3666600" y="1280160"/>
            <a:ext cx="968760" cy="4111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100" spc="-1" strike="noStrike">
                <a:solidFill>
                  <a:srgbClr val="06b6d4"/>
                </a:solidFill>
                <a:latin typeface="Calibri"/>
                <a:ea typeface="Calibri"/>
              </a:rPr>
              <a:t>mABC</a:t>
            </a:r>
            <a:endParaRPr b="0" lang="en-IN" sz="1100" spc="-1" strike="noStrike">
              <a:latin typeface="Arial"/>
            </a:endParaRPr>
          </a:p>
        </p:txBody>
      </p:sp>
      <p:sp>
        <p:nvSpPr>
          <p:cNvPr id="236" name="Shape 7"/>
          <p:cNvSpPr/>
          <p:nvPr/>
        </p:nvSpPr>
        <p:spPr>
          <a:xfrm>
            <a:off x="4636080" y="1280160"/>
            <a:ext cx="968760" cy="411120"/>
          </a:xfrm>
          <a:prstGeom prst="rect">
            <a:avLst/>
          </a:prstGeom>
          <a:solidFill>
            <a:srgbClr val="164e63"/>
          </a:solidFill>
          <a:ln w="6350">
            <a:solidFill>
              <a:srgbClr val="334155"/>
            </a:solidFill>
            <a:round/>
          </a:ln>
        </p:spPr>
        <p:style>
          <a:lnRef idx="0"/>
          <a:fillRef idx="0"/>
          <a:effectRef idx="0"/>
          <a:fontRef idx="minor"/>
        </p:style>
      </p:sp>
      <p:sp>
        <p:nvSpPr>
          <p:cNvPr id="237" name="Text 8"/>
          <p:cNvSpPr/>
          <p:nvPr/>
        </p:nvSpPr>
        <p:spPr>
          <a:xfrm>
            <a:off x="4636080" y="1280160"/>
            <a:ext cx="968760" cy="4111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100" spc="-1" strike="noStrike">
                <a:solidFill>
                  <a:srgbClr val="06b6d4"/>
                </a:solidFill>
                <a:latin typeface="Calibri"/>
                <a:ea typeface="Calibri"/>
              </a:rPr>
              <a:t>TAMO</a:t>
            </a:r>
            <a:endParaRPr b="0" lang="en-IN" sz="1100" spc="-1" strike="noStrike">
              <a:latin typeface="Arial"/>
            </a:endParaRPr>
          </a:p>
        </p:txBody>
      </p:sp>
      <p:sp>
        <p:nvSpPr>
          <p:cNvPr id="238" name="Shape 9"/>
          <p:cNvSpPr/>
          <p:nvPr/>
        </p:nvSpPr>
        <p:spPr>
          <a:xfrm>
            <a:off x="5605200" y="1280160"/>
            <a:ext cx="968760" cy="411120"/>
          </a:xfrm>
          <a:prstGeom prst="rect">
            <a:avLst/>
          </a:prstGeom>
          <a:solidFill>
            <a:srgbClr val="164e63"/>
          </a:solidFill>
          <a:ln w="6350">
            <a:solidFill>
              <a:srgbClr val="334155"/>
            </a:solidFill>
            <a:round/>
          </a:ln>
        </p:spPr>
        <p:style>
          <a:lnRef idx="0"/>
          <a:fillRef idx="0"/>
          <a:effectRef idx="0"/>
          <a:fontRef idx="minor"/>
        </p:style>
      </p:sp>
      <p:sp>
        <p:nvSpPr>
          <p:cNvPr id="239" name="Text 10"/>
          <p:cNvSpPr/>
          <p:nvPr/>
        </p:nvSpPr>
        <p:spPr>
          <a:xfrm>
            <a:off x="5605200" y="1280160"/>
            <a:ext cx="968760" cy="4111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100" spc="-1" strike="noStrike">
                <a:solidFill>
                  <a:srgbClr val="06b6d4"/>
                </a:solidFill>
                <a:latin typeface="Calibri"/>
                <a:ea typeface="Calibri"/>
              </a:rPr>
              <a:t>Flow-of-Action</a:t>
            </a:r>
            <a:endParaRPr b="0" lang="en-IN" sz="1100" spc="-1" strike="noStrike">
              <a:latin typeface="Arial"/>
            </a:endParaRPr>
          </a:p>
        </p:txBody>
      </p:sp>
      <p:sp>
        <p:nvSpPr>
          <p:cNvPr id="240" name="Shape 11"/>
          <p:cNvSpPr/>
          <p:nvPr/>
        </p:nvSpPr>
        <p:spPr>
          <a:xfrm>
            <a:off x="6574680" y="1280160"/>
            <a:ext cx="968760" cy="411120"/>
          </a:xfrm>
          <a:prstGeom prst="rect">
            <a:avLst/>
          </a:prstGeom>
          <a:solidFill>
            <a:srgbClr val="164e63"/>
          </a:solidFill>
          <a:ln w="6350">
            <a:solidFill>
              <a:srgbClr val="334155"/>
            </a:solidFill>
            <a:round/>
          </a:ln>
        </p:spPr>
        <p:style>
          <a:lnRef idx="0"/>
          <a:fillRef idx="0"/>
          <a:effectRef idx="0"/>
          <a:fontRef idx="minor"/>
        </p:style>
      </p:sp>
      <p:sp>
        <p:nvSpPr>
          <p:cNvPr id="241" name="Text 12"/>
          <p:cNvSpPr/>
          <p:nvPr/>
        </p:nvSpPr>
        <p:spPr>
          <a:xfrm>
            <a:off x="6574680" y="1280160"/>
            <a:ext cx="968760" cy="4111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lang="en-US" sz="1100" spc="-1" strike="noStrike">
                <a:solidFill>
                  <a:srgbClr val="06b6d4"/>
                </a:solidFill>
                <a:latin typeface="Calibri"/>
                <a:ea typeface="Calibri"/>
              </a:rPr>
              <a:t>FrugalGPT</a:t>
            </a:r>
            <a:endParaRPr b="0" lang="en-IN" sz="1100" spc="-1" strike="noStrike">
              <a:latin typeface="Arial"/>
            </a:endParaRPr>
          </a:p>
        </p:txBody>
      </p:sp>
      <p:sp>
        <p:nvSpPr>
          <p:cNvPr id="242" name="Shape 13"/>
          <p:cNvSpPr/>
          <p:nvPr/>
        </p:nvSpPr>
        <p:spPr>
          <a:xfrm>
            <a:off x="7543800" y="1280160"/>
            <a:ext cx="968760" cy="411120"/>
          </a:xfrm>
          <a:prstGeom prst="rect">
            <a:avLst/>
          </a:prstGeom>
          <a:solidFill>
            <a:srgbClr val="7c2d12"/>
          </a:solidFill>
          <a:ln w="6350">
            <a:solidFill>
              <a:srgbClr val="334155"/>
            </a:solidFill>
            <a:round/>
          </a:ln>
        </p:spPr>
        <p:style>
          <a:lnRef idx="0"/>
          <a:fillRef idx="0"/>
          <a:effectRef idx="0"/>
          <a:fontRef idx="minor"/>
        </p:style>
      </p:sp>
      <p:sp>
        <p:nvSpPr>
          <p:cNvPr id="243" name="Text 14"/>
          <p:cNvSpPr/>
          <p:nvPr/>
        </p:nvSpPr>
        <p:spPr>
          <a:xfrm>
            <a:off x="7543800" y="1280160"/>
            <a:ext cx="968760" cy="4111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100" spc="-1" strike="noStrike">
                <a:solidFill>
                  <a:srgbClr val="f97316"/>
                </a:solidFill>
                <a:latin typeface="Calibri"/>
                <a:ea typeface="Calibri"/>
              </a:rPr>
              <a:t>HELIOS</a:t>
            </a:r>
            <a:endParaRPr b="0" lang="en-IN" sz="1100" spc="-1" strike="noStrike">
              <a:latin typeface="Arial"/>
            </a:endParaRPr>
          </a:p>
        </p:txBody>
      </p:sp>
      <p:sp>
        <p:nvSpPr>
          <p:cNvPr id="244" name="Shape 15"/>
          <p:cNvSpPr/>
          <p:nvPr/>
        </p:nvSpPr>
        <p:spPr>
          <a:xfrm>
            <a:off x="411480" y="1691640"/>
            <a:ext cx="2285640" cy="502560"/>
          </a:xfrm>
          <a:prstGeom prst="rect">
            <a:avLst/>
          </a:prstGeom>
          <a:solidFill>
            <a:srgbClr val="162236"/>
          </a:solidFill>
          <a:ln w="6350">
            <a:solidFill>
              <a:srgbClr val="334155"/>
            </a:solidFill>
            <a:round/>
          </a:ln>
        </p:spPr>
        <p:style>
          <a:lnRef idx="0"/>
          <a:fillRef idx="0"/>
          <a:effectRef idx="0"/>
          <a:fontRef idx="minor"/>
        </p:style>
      </p:sp>
      <p:sp>
        <p:nvSpPr>
          <p:cNvPr id="245" name="Text 16"/>
          <p:cNvSpPr/>
          <p:nvPr/>
        </p:nvSpPr>
        <p:spPr>
          <a:xfrm>
            <a:off x="521280" y="1691640"/>
            <a:ext cx="214848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06b6d4"/>
                </a:solidFill>
                <a:latin typeface="Calibri"/>
                <a:ea typeface="Calibri"/>
              </a:rPr>
              <a:t>D1  </a:t>
            </a:r>
            <a:r>
              <a:rPr b="0" lang="en-US" sz="1000" spc="-1" strike="noStrike">
                <a:solidFill>
                  <a:srgbClr val="f8fafc"/>
                </a:solidFill>
                <a:latin typeface="Calibri"/>
                <a:ea typeface="Calibri"/>
              </a:rPr>
              <a:t>Peer-pipeline co-deployment</a:t>
            </a:r>
            <a:endParaRPr b="0" lang="en-IN" sz="1000" spc="-1" strike="noStrike">
              <a:latin typeface="Arial"/>
            </a:endParaRPr>
          </a:p>
          <a:p>
            <a:pPr>
              <a:lnSpc>
                <a:spcPct val="100000"/>
              </a:lnSpc>
              <a:buNone/>
              <a:tabLst>
                <a:tab algn="l" pos="0"/>
              </a:tabLst>
            </a:pPr>
            <a:r>
              <a:rPr b="0" lang="en-US" sz="1000" spc="-1" strike="noStrike">
                <a:solidFill>
                  <a:srgbClr val="f8fafc"/>
                </a:solidFill>
                <a:latin typeface="Calibri"/>
                <a:ea typeface="Calibri"/>
              </a:rPr>
              <a:t>on identical inputs</a:t>
            </a:r>
            <a:endParaRPr b="0" lang="en-IN" sz="1000" spc="-1" strike="noStrike">
              <a:latin typeface="Arial"/>
            </a:endParaRPr>
          </a:p>
        </p:txBody>
      </p:sp>
      <p:sp>
        <p:nvSpPr>
          <p:cNvPr id="246" name="Shape 17"/>
          <p:cNvSpPr/>
          <p:nvPr/>
        </p:nvSpPr>
        <p:spPr>
          <a:xfrm>
            <a:off x="2697480" y="1691640"/>
            <a:ext cx="968760" cy="502560"/>
          </a:xfrm>
          <a:prstGeom prst="rect">
            <a:avLst/>
          </a:prstGeom>
          <a:solidFill>
            <a:srgbClr val="7f1d1d"/>
          </a:solidFill>
          <a:ln w="6350">
            <a:solidFill>
              <a:srgbClr val="334155"/>
            </a:solidFill>
            <a:round/>
          </a:ln>
        </p:spPr>
        <p:style>
          <a:lnRef idx="0"/>
          <a:fillRef idx="0"/>
          <a:effectRef idx="0"/>
          <a:fontRef idx="minor"/>
        </p:style>
      </p:sp>
      <p:sp>
        <p:nvSpPr>
          <p:cNvPr id="247" name="Text 18"/>
          <p:cNvSpPr/>
          <p:nvPr/>
        </p:nvSpPr>
        <p:spPr>
          <a:xfrm>
            <a:off x="2697480" y="169164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48" name="Shape 19"/>
          <p:cNvSpPr/>
          <p:nvPr/>
        </p:nvSpPr>
        <p:spPr>
          <a:xfrm>
            <a:off x="3666600" y="1691640"/>
            <a:ext cx="968760" cy="502560"/>
          </a:xfrm>
          <a:prstGeom prst="rect">
            <a:avLst/>
          </a:prstGeom>
          <a:solidFill>
            <a:srgbClr val="78350f"/>
          </a:solidFill>
          <a:ln w="6350">
            <a:solidFill>
              <a:srgbClr val="334155"/>
            </a:solidFill>
            <a:round/>
          </a:ln>
        </p:spPr>
        <p:style>
          <a:lnRef idx="0"/>
          <a:fillRef idx="0"/>
          <a:effectRef idx="0"/>
          <a:fontRef idx="minor"/>
        </p:style>
      </p:sp>
      <p:sp>
        <p:nvSpPr>
          <p:cNvPr id="249" name="Text 20"/>
          <p:cNvSpPr/>
          <p:nvPr/>
        </p:nvSpPr>
        <p:spPr>
          <a:xfrm>
            <a:off x="3666600" y="169164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fbbf24"/>
                </a:solidFill>
                <a:latin typeface="Calibri"/>
                <a:ea typeface="Calibri"/>
              </a:rPr>
              <a:t>◐</a:t>
            </a:r>
            <a:endParaRPr b="0" lang="en-IN" sz="1800" spc="-1" strike="noStrike">
              <a:latin typeface="Arial"/>
            </a:endParaRPr>
          </a:p>
        </p:txBody>
      </p:sp>
      <p:sp>
        <p:nvSpPr>
          <p:cNvPr id="250" name="Shape 21"/>
          <p:cNvSpPr/>
          <p:nvPr/>
        </p:nvSpPr>
        <p:spPr>
          <a:xfrm>
            <a:off x="4636080" y="1691640"/>
            <a:ext cx="968760" cy="502560"/>
          </a:xfrm>
          <a:prstGeom prst="rect">
            <a:avLst/>
          </a:prstGeom>
          <a:solidFill>
            <a:srgbClr val="7f1d1d"/>
          </a:solidFill>
          <a:ln w="6350">
            <a:solidFill>
              <a:srgbClr val="334155"/>
            </a:solidFill>
            <a:round/>
          </a:ln>
        </p:spPr>
        <p:style>
          <a:lnRef idx="0"/>
          <a:fillRef idx="0"/>
          <a:effectRef idx="0"/>
          <a:fontRef idx="minor"/>
        </p:style>
      </p:sp>
      <p:sp>
        <p:nvSpPr>
          <p:cNvPr id="251" name="Text 22"/>
          <p:cNvSpPr/>
          <p:nvPr/>
        </p:nvSpPr>
        <p:spPr>
          <a:xfrm>
            <a:off x="4636080" y="169164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52" name="Shape 23"/>
          <p:cNvSpPr/>
          <p:nvPr/>
        </p:nvSpPr>
        <p:spPr>
          <a:xfrm>
            <a:off x="5605200" y="1691640"/>
            <a:ext cx="968760" cy="502560"/>
          </a:xfrm>
          <a:prstGeom prst="rect">
            <a:avLst/>
          </a:prstGeom>
          <a:solidFill>
            <a:srgbClr val="7f1d1d"/>
          </a:solidFill>
          <a:ln w="6350">
            <a:solidFill>
              <a:srgbClr val="334155"/>
            </a:solidFill>
            <a:round/>
          </a:ln>
        </p:spPr>
        <p:style>
          <a:lnRef idx="0"/>
          <a:fillRef idx="0"/>
          <a:effectRef idx="0"/>
          <a:fontRef idx="minor"/>
        </p:style>
      </p:sp>
      <p:sp>
        <p:nvSpPr>
          <p:cNvPr id="253" name="Text 24"/>
          <p:cNvSpPr/>
          <p:nvPr/>
        </p:nvSpPr>
        <p:spPr>
          <a:xfrm>
            <a:off x="5605200" y="169164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54" name="Shape 25"/>
          <p:cNvSpPr/>
          <p:nvPr/>
        </p:nvSpPr>
        <p:spPr>
          <a:xfrm>
            <a:off x="6574680" y="1691640"/>
            <a:ext cx="968760" cy="502560"/>
          </a:xfrm>
          <a:prstGeom prst="rect">
            <a:avLst/>
          </a:prstGeom>
          <a:solidFill>
            <a:srgbClr val="7f1d1d"/>
          </a:solidFill>
          <a:ln w="6350">
            <a:solidFill>
              <a:srgbClr val="334155"/>
            </a:solidFill>
            <a:round/>
          </a:ln>
        </p:spPr>
        <p:style>
          <a:lnRef idx="0"/>
          <a:fillRef idx="0"/>
          <a:effectRef idx="0"/>
          <a:fontRef idx="minor"/>
        </p:style>
      </p:sp>
      <p:sp>
        <p:nvSpPr>
          <p:cNvPr id="255" name="Text 26"/>
          <p:cNvSpPr/>
          <p:nvPr/>
        </p:nvSpPr>
        <p:spPr>
          <a:xfrm>
            <a:off x="6574680" y="169164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56" name="Shape 27"/>
          <p:cNvSpPr/>
          <p:nvPr/>
        </p:nvSpPr>
        <p:spPr>
          <a:xfrm>
            <a:off x="7543800" y="1691640"/>
            <a:ext cx="968760" cy="502560"/>
          </a:xfrm>
          <a:prstGeom prst="rect">
            <a:avLst/>
          </a:prstGeom>
          <a:solidFill>
            <a:srgbClr val="1f3a2c"/>
          </a:solidFill>
          <a:ln w="6350">
            <a:solidFill>
              <a:srgbClr val="334155"/>
            </a:solidFill>
            <a:round/>
          </a:ln>
        </p:spPr>
        <p:style>
          <a:lnRef idx="0"/>
          <a:fillRef idx="0"/>
          <a:effectRef idx="0"/>
          <a:fontRef idx="minor"/>
        </p:style>
      </p:sp>
      <p:sp>
        <p:nvSpPr>
          <p:cNvPr id="257" name="Text 28"/>
          <p:cNvSpPr/>
          <p:nvPr/>
        </p:nvSpPr>
        <p:spPr>
          <a:xfrm>
            <a:off x="7543800" y="169164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10b981"/>
                </a:solidFill>
                <a:latin typeface="Calibri"/>
                <a:ea typeface="Calibri"/>
              </a:rPr>
              <a:t>✓</a:t>
            </a:r>
            <a:endParaRPr b="0" lang="en-IN" sz="1800" spc="-1" strike="noStrike">
              <a:latin typeface="Arial"/>
            </a:endParaRPr>
          </a:p>
        </p:txBody>
      </p:sp>
      <p:sp>
        <p:nvSpPr>
          <p:cNvPr id="258" name="Shape 29"/>
          <p:cNvSpPr/>
          <p:nvPr/>
        </p:nvSpPr>
        <p:spPr>
          <a:xfrm>
            <a:off x="411480" y="2194560"/>
            <a:ext cx="2285640" cy="502560"/>
          </a:xfrm>
          <a:prstGeom prst="rect">
            <a:avLst/>
          </a:prstGeom>
          <a:solidFill>
            <a:srgbClr val="162236"/>
          </a:solidFill>
          <a:ln w="6350">
            <a:solidFill>
              <a:srgbClr val="334155"/>
            </a:solidFill>
            <a:round/>
          </a:ln>
        </p:spPr>
        <p:style>
          <a:lnRef idx="0"/>
          <a:fillRef idx="0"/>
          <a:effectRef idx="0"/>
          <a:fontRef idx="minor"/>
        </p:style>
      </p:sp>
      <p:sp>
        <p:nvSpPr>
          <p:cNvPr id="259" name="Text 30"/>
          <p:cNvSpPr/>
          <p:nvPr/>
        </p:nvSpPr>
        <p:spPr>
          <a:xfrm>
            <a:off x="521280" y="2194560"/>
            <a:ext cx="214848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06b6d4"/>
                </a:solidFill>
                <a:latin typeface="Calibri"/>
                <a:ea typeface="Calibri"/>
              </a:rPr>
              <a:t>D2  </a:t>
            </a:r>
            <a:r>
              <a:rPr b="0" lang="en-US" sz="1000" spc="-1" strike="noStrike">
                <a:solidFill>
                  <a:srgbClr val="f8fafc"/>
                </a:solidFill>
                <a:latin typeface="Calibri"/>
                <a:ea typeface="Calibri"/>
              </a:rPr>
              <a:t>First-class observability for</a:t>
            </a:r>
            <a:endParaRPr b="0" lang="en-IN" sz="1000" spc="-1" strike="noStrike">
              <a:latin typeface="Arial"/>
            </a:endParaRPr>
          </a:p>
          <a:p>
            <a:pPr>
              <a:lnSpc>
                <a:spcPct val="100000"/>
              </a:lnSpc>
              <a:buNone/>
              <a:tabLst>
                <a:tab algn="l" pos="0"/>
              </a:tabLst>
            </a:pPr>
            <a:r>
              <a:rPr b="0" lang="en-US" sz="1000" spc="-1" strike="noStrike">
                <a:solidFill>
                  <a:srgbClr val="f8fafc"/>
                </a:solidFill>
                <a:latin typeface="Calibri"/>
                <a:ea typeface="Calibri"/>
              </a:rPr>
              <a:t>LLM agent reasoning failures</a:t>
            </a:r>
            <a:endParaRPr b="0" lang="en-IN" sz="1000" spc="-1" strike="noStrike">
              <a:latin typeface="Arial"/>
            </a:endParaRPr>
          </a:p>
        </p:txBody>
      </p:sp>
      <p:sp>
        <p:nvSpPr>
          <p:cNvPr id="260" name="Shape 31"/>
          <p:cNvSpPr/>
          <p:nvPr/>
        </p:nvSpPr>
        <p:spPr>
          <a:xfrm>
            <a:off x="2697480" y="2194560"/>
            <a:ext cx="968760" cy="502560"/>
          </a:xfrm>
          <a:prstGeom prst="rect">
            <a:avLst/>
          </a:prstGeom>
          <a:solidFill>
            <a:srgbClr val="7f1d1d"/>
          </a:solidFill>
          <a:ln w="6350">
            <a:solidFill>
              <a:srgbClr val="334155"/>
            </a:solidFill>
            <a:round/>
          </a:ln>
        </p:spPr>
        <p:style>
          <a:lnRef idx="0"/>
          <a:fillRef idx="0"/>
          <a:effectRef idx="0"/>
          <a:fontRef idx="minor"/>
        </p:style>
      </p:sp>
      <p:sp>
        <p:nvSpPr>
          <p:cNvPr id="261" name="Text 32"/>
          <p:cNvSpPr/>
          <p:nvPr/>
        </p:nvSpPr>
        <p:spPr>
          <a:xfrm>
            <a:off x="2697480" y="219456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62" name="Shape 33"/>
          <p:cNvSpPr/>
          <p:nvPr/>
        </p:nvSpPr>
        <p:spPr>
          <a:xfrm>
            <a:off x="3666600" y="2194560"/>
            <a:ext cx="968760" cy="502560"/>
          </a:xfrm>
          <a:prstGeom prst="rect">
            <a:avLst/>
          </a:prstGeom>
          <a:solidFill>
            <a:srgbClr val="7f1d1d"/>
          </a:solidFill>
          <a:ln w="6350">
            <a:solidFill>
              <a:srgbClr val="334155"/>
            </a:solidFill>
            <a:round/>
          </a:ln>
        </p:spPr>
        <p:style>
          <a:lnRef idx="0"/>
          <a:fillRef idx="0"/>
          <a:effectRef idx="0"/>
          <a:fontRef idx="minor"/>
        </p:style>
      </p:sp>
      <p:sp>
        <p:nvSpPr>
          <p:cNvPr id="263" name="Text 34"/>
          <p:cNvSpPr/>
          <p:nvPr/>
        </p:nvSpPr>
        <p:spPr>
          <a:xfrm>
            <a:off x="3666600" y="219456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64" name="Shape 35"/>
          <p:cNvSpPr/>
          <p:nvPr/>
        </p:nvSpPr>
        <p:spPr>
          <a:xfrm>
            <a:off x="4636080" y="2194560"/>
            <a:ext cx="968760" cy="502560"/>
          </a:xfrm>
          <a:prstGeom prst="rect">
            <a:avLst/>
          </a:prstGeom>
          <a:solidFill>
            <a:srgbClr val="7f1d1d"/>
          </a:solidFill>
          <a:ln w="6350">
            <a:solidFill>
              <a:srgbClr val="334155"/>
            </a:solidFill>
            <a:round/>
          </a:ln>
        </p:spPr>
        <p:style>
          <a:lnRef idx="0"/>
          <a:fillRef idx="0"/>
          <a:effectRef idx="0"/>
          <a:fontRef idx="minor"/>
        </p:style>
      </p:sp>
      <p:sp>
        <p:nvSpPr>
          <p:cNvPr id="265" name="Text 36"/>
          <p:cNvSpPr/>
          <p:nvPr/>
        </p:nvSpPr>
        <p:spPr>
          <a:xfrm>
            <a:off x="4636080" y="219456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66" name="Shape 37"/>
          <p:cNvSpPr/>
          <p:nvPr/>
        </p:nvSpPr>
        <p:spPr>
          <a:xfrm>
            <a:off x="5605200" y="2194560"/>
            <a:ext cx="968760" cy="502560"/>
          </a:xfrm>
          <a:prstGeom prst="rect">
            <a:avLst/>
          </a:prstGeom>
          <a:solidFill>
            <a:srgbClr val="7f1d1d"/>
          </a:solidFill>
          <a:ln w="6350">
            <a:solidFill>
              <a:srgbClr val="334155"/>
            </a:solidFill>
            <a:round/>
          </a:ln>
        </p:spPr>
        <p:style>
          <a:lnRef idx="0"/>
          <a:fillRef idx="0"/>
          <a:effectRef idx="0"/>
          <a:fontRef idx="minor"/>
        </p:style>
      </p:sp>
      <p:sp>
        <p:nvSpPr>
          <p:cNvPr id="267" name="Text 38"/>
          <p:cNvSpPr/>
          <p:nvPr/>
        </p:nvSpPr>
        <p:spPr>
          <a:xfrm>
            <a:off x="5605200" y="219456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68" name="Shape 39"/>
          <p:cNvSpPr/>
          <p:nvPr/>
        </p:nvSpPr>
        <p:spPr>
          <a:xfrm>
            <a:off x="6574680" y="2194560"/>
            <a:ext cx="968760" cy="502560"/>
          </a:xfrm>
          <a:prstGeom prst="rect">
            <a:avLst/>
          </a:prstGeom>
          <a:solidFill>
            <a:srgbClr val="7f1d1d"/>
          </a:solidFill>
          <a:ln w="6350">
            <a:solidFill>
              <a:srgbClr val="334155"/>
            </a:solidFill>
            <a:round/>
          </a:ln>
        </p:spPr>
        <p:style>
          <a:lnRef idx="0"/>
          <a:fillRef idx="0"/>
          <a:effectRef idx="0"/>
          <a:fontRef idx="minor"/>
        </p:style>
      </p:sp>
      <p:sp>
        <p:nvSpPr>
          <p:cNvPr id="269" name="Text 40"/>
          <p:cNvSpPr/>
          <p:nvPr/>
        </p:nvSpPr>
        <p:spPr>
          <a:xfrm>
            <a:off x="6574680" y="219456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70" name="Shape 41"/>
          <p:cNvSpPr/>
          <p:nvPr/>
        </p:nvSpPr>
        <p:spPr>
          <a:xfrm>
            <a:off x="7543800" y="2194560"/>
            <a:ext cx="968760" cy="502560"/>
          </a:xfrm>
          <a:prstGeom prst="rect">
            <a:avLst/>
          </a:prstGeom>
          <a:solidFill>
            <a:srgbClr val="1f3a2c"/>
          </a:solidFill>
          <a:ln w="6350">
            <a:solidFill>
              <a:srgbClr val="334155"/>
            </a:solidFill>
            <a:round/>
          </a:ln>
        </p:spPr>
        <p:style>
          <a:lnRef idx="0"/>
          <a:fillRef idx="0"/>
          <a:effectRef idx="0"/>
          <a:fontRef idx="minor"/>
        </p:style>
      </p:sp>
      <p:sp>
        <p:nvSpPr>
          <p:cNvPr id="271" name="Text 42"/>
          <p:cNvSpPr/>
          <p:nvPr/>
        </p:nvSpPr>
        <p:spPr>
          <a:xfrm>
            <a:off x="7543800" y="219456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10b981"/>
                </a:solidFill>
                <a:latin typeface="Calibri"/>
                <a:ea typeface="Calibri"/>
              </a:rPr>
              <a:t>✓</a:t>
            </a:r>
            <a:endParaRPr b="0" lang="en-IN" sz="1800" spc="-1" strike="noStrike">
              <a:latin typeface="Arial"/>
            </a:endParaRPr>
          </a:p>
        </p:txBody>
      </p:sp>
      <p:sp>
        <p:nvSpPr>
          <p:cNvPr id="272" name="Shape 43"/>
          <p:cNvSpPr/>
          <p:nvPr/>
        </p:nvSpPr>
        <p:spPr>
          <a:xfrm>
            <a:off x="411480" y="2697480"/>
            <a:ext cx="2285640" cy="502560"/>
          </a:xfrm>
          <a:prstGeom prst="rect">
            <a:avLst/>
          </a:prstGeom>
          <a:solidFill>
            <a:srgbClr val="162236"/>
          </a:solidFill>
          <a:ln w="6350">
            <a:solidFill>
              <a:srgbClr val="334155"/>
            </a:solidFill>
            <a:round/>
          </a:ln>
        </p:spPr>
        <p:style>
          <a:lnRef idx="0"/>
          <a:fillRef idx="0"/>
          <a:effectRef idx="0"/>
          <a:fontRef idx="minor"/>
        </p:style>
      </p:sp>
      <p:sp>
        <p:nvSpPr>
          <p:cNvPr id="273" name="Text 44"/>
          <p:cNvSpPr/>
          <p:nvPr/>
        </p:nvSpPr>
        <p:spPr>
          <a:xfrm>
            <a:off x="521280" y="2697480"/>
            <a:ext cx="214848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06b6d4"/>
                </a:solidFill>
                <a:latin typeface="Calibri"/>
                <a:ea typeface="Calibri"/>
              </a:rPr>
              <a:t>D3  </a:t>
            </a:r>
            <a:r>
              <a:rPr b="0" lang="en-US" sz="1000" spc="-1" strike="noStrike">
                <a:solidFill>
                  <a:srgbClr val="f8fafc"/>
                </a:solidFill>
                <a:latin typeface="Calibri"/>
                <a:ea typeface="Calibri"/>
              </a:rPr>
              <a:t>Cost-aware routing with</a:t>
            </a:r>
            <a:endParaRPr b="0" lang="en-IN" sz="1000" spc="-1" strike="noStrike">
              <a:latin typeface="Arial"/>
            </a:endParaRPr>
          </a:p>
          <a:p>
            <a:pPr>
              <a:lnSpc>
                <a:spcPct val="100000"/>
              </a:lnSpc>
              <a:buNone/>
              <a:tabLst>
                <a:tab algn="l" pos="0"/>
              </a:tabLst>
            </a:pPr>
            <a:r>
              <a:rPr b="0" lang="en-US" sz="1000" spc="-1" strike="noStrike">
                <a:solidFill>
                  <a:srgbClr val="f8fafc"/>
                </a:solidFill>
                <a:latin typeface="Calibri"/>
                <a:ea typeface="Calibri"/>
              </a:rPr>
              <a:t>observed accuracy priors</a:t>
            </a:r>
            <a:endParaRPr b="0" lang="en-IN" sz="1000" spc="-1" strike="noStrike">
              <a:latin typeface="Arial"/>
            </a:endParaRPr>
          </a:p>
        </p:txBody>
      </p:sp>
      <p:sp>
        <p:nvSpPr>
          <p:cNvPr id="274" name="Shape 45"/>
          <p:cNvSpPr/>
          <p:nvPr/>
        </p:nvSpPr>
        <p:spPr>
          <a:xfrm>
            <a:off x="2697480" y="2697480"/>
            <a:ext cx="968760" cy="502560"/>
          </a:xfrm>
          <a:prstGeom prst="rect">
            <a:avLst/>
          </a:prstGeom>
          <a:solidFill>
            <a:srgbClr val="7f1d1d"/>
          </a:solidFill>
          <a:ln w="6350">
            <a:solidFill>
              <a:srgbClr val="334155"/>
            </a:solidFill>
            <a:round/>
          </a:ln>
        </p:spPr>
        <p:style>
          <a:lnRef idx="0"/>
          <a:fillRef idx="0"/>
          <a:effectRef idx="0"/>
          <a:fontRef idx="minor"/>
        </p:style>
      </p:sp>
      <p:sp>
        <p:nvSpPr>
          <p:cNvPr id="275" name="Text 46"/>
          <p:cNvSpPr/>
          <p:nvPr/>
        </p:nvSpPr>
        <p:spPr>
          <a:xfrm>
            <a:off x="2697480" y="269748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76" name="Shape 47"/>
          <p:cNvSpPr/>
          <p:nvPr/>
        </p:nvSpPr>
        <p:spPr>
          <a:xfrm>
            <a:off x="3666600" y="2697480"/>
            <a:ext cx="968760" cy="502560"/>
          </a:xfrm>
          <a:prstGeom prst="rect">
            <a:avLst/>
          </a:prstGeom>
          <a:solidFill>
            <a:srgbClr val="7f1d1d"/>
          </a:solidFill>
          <a:ln w="6350">
            <a:solidFill>
              <a:srgbClr val="334155"/>
            </a:solidFill>
            <a:round/>
          </a:ln>
        </p:spPr>
        <p:style>
          <a:lnRef idx="0"/>
          <a:fillRef idx="0"/>
          <a:effectRef idx="0"/>
          <a:fontRef idx="minor"/>
        </p:style>
      </p:sp>
      <p:sp>
        <p:nvSpPr>
          <p:cNvPr id="277" name="Text 48"/>
          <p:cNvSpPr/>
          <p:nvPr/>
        </p:nvSpPr>
        <p:spPr>
          <a:xfrm>
            <a:off x="3666600" y="269748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78" name="Shape 49"/>
          <p:cNvSpPr/>
          <p:nvPr/>
        </p:nvSpPr>
        <p:spPr>
          <a:xfrm>
            <a:off x="4636080" y="2697480"/>
            <a:ext cx="968760" cy="502560"/>
          </a:xfrm>
          <a:prstGeom prst="rect">
            <a:avLst/>
          </a:prstGeom>
          <a:solidFill>
            <a:srgbClr val="7f1d1d"/>
          </a:solidFill>
          <a:ln w="6350">
            <a:solidFill>
              <a:srgbClr val="334155"/>
            </a:solidFill>
            <a:round/>
          </a:ln>
        </p:spPr>
        <p:style>
          <a:lnRef idx="0"/>
          <a:fillRef idx="0"/>
          <a:effectRef idx="0"/>
          <a:fontRef idx="minor"/>
        </p:style>
      </p:sp>
      <p:sp>
        <p:nvSpPr>
          <p:cNvPr id="279" name="Text 50"/>
          <p:cNvSpPr/>
          <p:nvPr/>
        </p:nvSpPr>
        <p:spPr>
          <a:xfrm>
            <a:off x="4636080" y="269748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80" name="Shape 51"/>
          <p:cNvSpPr/>
          <p:nvPr/>
        </p:nvSpPr>
        <p:spPr>
          <a:xfrm>
            <a:off x="5605200" y="2697480"/>
            <a:ext cx="968760" cy="502560"/>
          </a:xfrm>
          <a:prstGeom prst="rect">
            <a:avLst/>
          </a:prstGeom>
          <a:solidFill>
            <a:srgbClr val="7f1d1d"/>
          </a:solidFill>
          <a:ln w="6350">
            <a:solidFill>
              <a:srgbClr val="334155"/>
            </a:solidFill>
            <a:round/>
          </a:ln>
        </p:spPr>
        <p:style>
          <a:lnRef idx="0"/>
          <a:fillRef idx="0"/>
          <a:effectRef idx="0"/>
          <a:fontRef idx="minor"/>
        </p:style>
      </p:sp>
      <p:sp>
        <p:nvSpPr>
          <p:cNvPr id="281" name="Text 52"/>
          <p:cNvSpPr/>
          <p:nvPr/>
        </p:nvSpPr>
        <p:spPr>
          <a:xfrm>
            <a:off x="5605200" y="269748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82" name="Shape 53"/>
          <p:cNvSpPr/>
          <p:nvPr/>
        </p:nvSpPr>
        <p:spPr>
          <a:xfrm>
            <a:off x="6574680" y="2697480"/>
            <a:ext cx="968760" cy="502560"/>
          </a:xfrm>
          <a:prstGeom prst="rect">
            <a:avLst/>
          </a:prstGeom>
          <a:solidFill>
            <a:srgbClr val="78350f"/>
          </a:solidFill>
          <a:ln w="6350">
            <a:solidFill>
              <a:srgbClr val="334155"/>
            </a:solidFill>
            <a:round/>
          </a:ln>
        </p:spPr>
        <p:style>
          <a:lnRef idx="0"/>
          <a:fillRef idx="0"/>
          <a:effectRef idx="0"/>
          <a:fontRef idx="minor"/>
        </p:style>
      </p:sp>
      <p:sp>
        <p:nvSpPr>
          <p:cNvPr id="283" name="Text 54"/>
          <p:cNvSpPr/>
          <p:nvPr/>
        </p:nvSpPr>
        <p:spPr>
          <a:xfrm>
            <a:off x="6574680" y="269748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fbbf24"/>
                </a:solidFill>
                <a:latin typeface="Calibri"/>
                <a:ea typeface="Calibri"/>
              </a:rPr>
              <a:t>◐</a:t>
            </a:r>
            <a:endParaRPr b="0" lang="en-IN" sz="1800" spc="-1" strike="noStrike">
              <a:latin typeface="Arial"/>
            </a:endParaRPr>
          </a:p>
        </p:txBody>
      </p:sp>
      <p:sp>
        <p:nvSpPr>
          <p:cNvPr id="284" name="Shape 55"/>
          <p:cNvSpPr/>
          <p:nvPr/>
        </p:nvSpPr>
        <p:spPr>
          <a:xfrm>
            <a:off x="7543800" y="2697480"/>
            <a:ext cx="968760" cy="502560"/>
          </a:xfrm>
          <a:prstGeom prst="rect">
            <a:avLst/>
          </a:prstGeom>
          <a:solidFill>
            <a:srgbClr val="1f3a2c"/>
          </a:solidFill>
          <a:ln w="6350">
            <a:solidFill>
              <a:srgbClr val="334155"/>
            </a:solidFill>
            <a:round/>
          </a:ln>
        </p:spPr>
        <p:style>
          <a:lnRef idx="0"/>
          <a:fillRef idx="0"/>
          <a:effectRef idx="0"/>
          <a:fontRef idx="minor"/>
        </p:style>
      </p:sp>
      <p:sp>
        <p:nvSpPr>
          <p:cNvPr id="285" name="Text 56"/>
          <p:cNvSpPr/>
          <p:nvPr/>
        </p:nvSpPr>
        <p:spPr>
          <a:xfrm>
            <a:off x="7543800" y="269748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10b981"/>
                </a:solidFill>
                <a:latin typeface="Calibri"/>
                <a:ea typeface="Calibri"/>
              </a:rPr>
              <a:t>✓</a:t>
            </a:r>
            <a:endParaRPr b="0" lang="en-IN" sz="1800" spc="-1" strike="noStrike">
              <a:latin typeface="Arial"/>
            </a:endParaRPr>
          </a:p>
        </p:txBody>
      </p:sp>
      <p:sp>
        <p:nvSpPr>
          <p:cNvPr id="286" name="Shape 57"/>
          <p:cNvSpPr/>
          <p:nvPr/>
        </p:nvSpPr>
        <p:spPr>
          <a:xfrm>
            <a:off x="411480" y="3200400"/>
            <a:ext cx="2285640" cy="502560"/>
          </a:xfrm>
          <a:prstGeom prst="rect">
            <a:avLst/>
          </a:prstGeom>
          <a:solidFill>
            <a:srgbClr val="162236"/>
          </a:solidFill>
          <a:ln w="6350">
            <a:solidFill>
              <a:srgbClr val="334155"/>
            </a:solidFill>
            <a:round/>
          </a:ln>
        </p:spPr>
        <p:style>
          <a:lnRef idx="0"/>
          <a:fillRef idx="0"/>
          <a:effectRef idx="0"/>
          <a:fontRef idx="minor"/>
        </p:style>
      </p:sp>
      <p:sp>
        <p:nvSpPr>
          <p:cNvPr id="287" name="Text 58"/>
          <p:cNvSpPr/>
          <p:nvPr/>
        </p:nvSpPr>
        <p:spPr>
          <a:xfrm>
            <a:off x="521280" y="3200400"/>
            <a:ext cx="214848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06b6d4"/>
                </a:solidFill>
                <a:latin typeface="Calibri"/>
                <a:ea typeface="Calibri"/>
              </a:rPr>
              <a:t>D4  </a:t>
            </a:r>
            <a:r>
              <a:rPr b="0" lang="en-US" sz="1000" spc="-1" strike="noStrike">
                <a:solidFill>
                  <a:srgbClr val="f8fafc"/>
                </a:solidFill>
                <a:latin typeface="Calibri"/>
                <a:ea typeface="Calibri"/>
              </a:rPr>
              <a:t>Deferred two-stage reward</a:t>
            </a:r>
            <a:endParaRPr b="0" lang="en-IN" sz="1000" spc="-1" strike="noStrike">
              <a:latin typeface="Arial"/>
            </a:endParaRPr>
          </a:p>
          <a:p>
            <a:pPr>
              <a:lnSpc>
                <a:spcPct val="100000"/>
              </a:lnSpc>
              <a:buNone/>
              <a:tabLst>
                <a:tab algn="l" pos="0"/>
              </a:tabLst>
            </a:pPr>
            <a:r>
              <a:rPr b="0" lang="en-US" sz="1000" spc="-1" strike="noStrike">
                <a:solidFill>
                  <a:srgbClr val="f8fafc"/>
                </a:solidFill>
                <a:latin typeface="Calibri"/>
                <a:ea typeface="Calibri"/>
              </a:rPr>
              <a:t>reconciliation</a:t>
            </a:r>
            <a:endParaRPr b="0" lang="en-IN" sz="1000" spc="-1" strike="noStrike">
              <a:latin typeface="Arial"/>
            </a:endParaRPr>
          </a:p>
        </p:txBody>
      </p:sp>
      <p:sp>
        <p:nvSpPr>
          <p:cNvPr id="288" name="Shape 59"/>
          <p:cNvSpPr/>
          <p:nvPr/>
        </p:nvSpPr>
        <p:spPr>
          <a:xfrm>
            <a:off x="2697480" y="3200400"/>
            <a:ext cx="968760" cy="502560"/>
          </a:xfrm>
          <a:prstGeom prst="rect">
            <a:avLst/>
          </a:prstGeom>
          <a:solidFill>
            <a:srgbClr val="7f1d1d"/>
          </a:solidFill>
          <a:ln w="6350">
            <a:solidFill>
              <a:srgbClr val="334155"/>
            </a:solidFill>
            <a:round/>
          </a:ln>
        </p:spPr>
        <p:style>
          <a:lnRef idx="0"/>
          <a:fillRef idx="0"/>
          <a:effectRef idx="0"/>
          <a:fontRef idx="minor"/>
        </p:style>
      </p:sp>
      <p:sp>
        <p:nvSpPr>
          <p:cNvPr id="289" name="Text 60"/>
          <p:cNvSpPr/>
          <p:nvPr/>
        </p:nvSpPr>
        <p:spPr>
          <a:xfrm>
            <a:off x="2697480" y="320040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90" name="Shape 61"/>
          <p:cNvSpPr/>
          <p:nvPr/>
        </p:nvSpPr>
        <p:spPr>
          <a:xfrm>
            <a:off x="3666600" y="3200400"/>
            <a:ext cx="968760" cy="502560"/>
          </a:xfrm>
          <a:prstGeom prst="rect">
            <a:avLst/>
          </a:prstGeom>
          <a:solidFill>
            <a:srgbClr val="7f1d1d"/>
          </a:solidFill>
          <a:ln w="6350">
            <a:solidFill>
              <a:srgbClr val="334155"/>
            </a:solidFill>
            <a:round/>
          </a:ln>
        </p:spPr>
        <p:style>
          <a:lnRef idx="0"/>
          <a:fillRef idx="0"/>
          <a:effectRef idx="0"/>
          <a:fontRef idx="minor"/>
        </p:style>
      </p:sp>
      <p:sp>
        <p:nvSpPr>
          <p:cNvPr id="291" name="Text 62"/>
          <p:cNvSpPr/>
          <p:nvPr/>
        </p:nvSpPr>
        <p:spPr>
          <a:xfrm>
            <a:off x="3666600" y="320040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92" name="Shape 63"/>
          <p:cNvSpPr/>
          <p:nvPr/>
        </p:nvSpPr>
        <p:spPr>
          <a:xfrm>
            <a:off x="4636080" y="3200400"/>
            <a:ext cx="968760" cy="502560"/>
          </a:xfrm>
          <a:prstGeom prst="rect">
            <a:avLst/>
          </a:prstGeom>
          <a:solidFill>
            <a:srgbClr val="7f1d1d"/>
          </a:solidFill>
          <a:ln w="6350">
            <a:solidFill>
              <a:srgbClr val="334155"/>
            </a:solidFill>
            <a:round/>
          </a:ln>
        </p:spPr>
        <p:style>
          <a:lnRef idx="0"/>
          <a:fillRef idx="0"/>
          <a:effectRef idx="0"/>
          <a:fontRef idx="minor"/>
        </p:style>
      </p:sp>
      <p:sp>
        <p:nvSpPr>
          <p:cNvPr id="293" name="Text 64"/>
          <p:cNvSpPr/>
          <p:nvPr/>
        </p:nvSpPr>
        <p:spPr>
          <a:xfrm>
            <a:off x="4636080" y="320040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94" name="Shape 65"/>
          <p:cNvSpPr/>
          <p:nvPr/>
        </p:nvSpPr>
        <p:spPr>
          <a:xfrm>
            <a:off x="5605200" y="3200400"/>
            <a:ext cx="968760" cy="502560"/>
          </a:xfrm>
          <a:prstGeom prst="rect">
            <a:avLst/>
          </a:prstGeom>
          <a:solidFill>
            <a:srgbClr val="7f1d1d"/>
          </a:solidFill>
          <a:ln w="6350">
            <a:solidFill>
              <a:srgbClr val="334155"/>
            </a:solidFill>
            <a:round/>
          </a:ln>
        </p:spPr>
        <p:style>
          <a:lnRef idx="0"/>
          <a:fillRef idx="0"/>
          <a:effectRef idx="0"/>
          <a:fontRef idx="minor"/>
        </p:style>
      </p:sp>
      <p:sp>
        <p:nvSpPr>
          <p:cNvPr id="295" name="Text 66"/>
          <p:cNvSpPr/>
          <p:nvPr/>
        </p:nvSpPr>
        <p:spPr>
          <a:xfrm>
            <a:off x="5605200" y="320040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96" name="Shape 67"/>
          <p:cNvSpPr/>
          <p:nvPr/>
        </p:nvSpPr>
        <p:spPr>
          <a:xfrm>
            <a:off x="6574680" y="3200400"/>
            <a:ext cx="968760" cy="502560"/>
          </a:xfrm>
          <a:prstGeom prst="rect">
            <a:avLst/>
          </a:prstGeom>
          <a:solidFill>
            <a:srgbClr val="7f1d1d"/>
          </a:solidFill>
          <a:ln w="6350">
            <a:solidFill>
              <a:srgbClr val="334155"/>
            </a:solidFill>
            <a:round/>
          </a:ln>
        </p:spPr>
        <p:style>
          <a:lnRef idx="0"/>
          <a:fillRef idx="0"/>
          <a:effectRef idx="0"/>
          <a:fontRef idx="minor"/>
        </p:style>
      </p:sp>
      <p:sp>
        <p:nvSpPr>
          <p:cNvPr id="297" name="Text 68"/>
          <p:cNvSpPr/>
          <p:nvPr/>
        </p:nvSpPr>
        <p:spPr>
          <a:xfrm>
            <a:off x="6574680" y="320040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298" name="Shape 69"/>
          <p:cNvSpPr/>
          <p:nvPr/>
        </p:nvSpPr>
        <p:spPr>
          <a:xfrm>
            <a:off x="7543800" y="3200400"/>
            <a:ext cx="968760" cy="502560"/>
          </a:xfrm>
          <a:prstGeom prst="rect">
            <a:avLst/>
          </a:prstGeom>
          <a:solidFill>
            <a:srgbClr val="1f3a2c"/>
          </a:solidFill>
          <a:ln w="6350">
            <a:solidFill>
              <a:srgbClr val="334155"/>
            </a:solidFill>
            <a:round/>
          </a:ln>
        </p:spPr>
        <p:style>
          <a:lnRef idx="0"/>
          <a:fillRef idx="0"/>
          <a:effectRef idx="0"/>
          <a:fontRef idx="minor"/>
        </p:style>
      </p:sp>
      <p:sp>
        <p:nvSpPr>
          <p:cNvPr id="299" name="Text 70"/>
          <p:cNvSpPr/>
          <p:nvPr/>
        </p:nvSpPr>
        <p:spPr>
          <a:xfrm>
            <a:off x="7543800" y="320040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10b981"/>
                </a:solidFill>
                <a:latin typeface="Calibri"/>
                <a:ea typeface="Calibri"/>
              </a:rPr>
              <a:t>✓</a:t>
            </a:r>
            <a:endParaRPr b="0" lang="en-IN" sz="1800" spc="-1" strike="noStrike">
              <a:latin typeface="Arial"/>
            </a:endParaRPr>
          </a:p>
        </p:txBody>
      </p:sp>
      <p:sp>
        <p:nvSpPr>
          <p:cNvPr id="300" name="Shape 71"/>
          <p:cNvSpPr/>
          <p:nvPr/>
        </p:nvSpPr>
        <p:spPr>
          <a:xfrm>
            <a:off x="411480" y="3703320"/>
            <a:ext cx="2285640" cy="502560"/>
          </a:xfrm>
          <a:prstGeom prst="rect">
            <a:avLst/>
          </a:prstGeom>
          <a:solidFill>
            <a:srgbClr val="162236"/>
          </a:solidFill>
          <a:ln w="6350">
            <a:solidFill>
              <a:srgbClr val="334155"/>
            </a:solidFill>
            <a:round/>
          </a:ln>
        </p:spPr>
        <p:style>
          <a:lnRef idx="0"/>
          <a:fillRef idx="0"/>
          <a:effectRef idx="0"/>
          <a:fontRef idx="minor"/>
        </p:style>
      </p:sp>
      <p:sp>
        <p:nvSpPr>
          <p:cNvPr id="301" name="Text 72"/>
          <p:cNvSpPr/>
          <p:nvPr/>
        </p:nvSpPr>
        <p:spPr>
          <a:xfrm>
            <a:off x="521280" y="3703320"/>
            <a:ext cx="214848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06b6d4"/>
                </a:solidFill>
                <a:latin typeface="Calibri"/>
                <a:ea typeface="Calibri"/>
              </a:rPr>
              <a:t>D5  </a:t>
            </a:r>
            <a:r>
              <a:rPr b="0" lang="en-US" sz="1000" spc="-1" strike="noStrike">
                <a:solidFill>
                  <a:srgbClr val="f8fafc"/>
                </a:solidFill>
                <a:latin typeface="Calibri"/>
                <a:ea typeface="Calibri"/>
              </a:rPr>
              <a:t>Ablation-first variant equivalence</a:t>
            </a:r>
            <a:endParaRPr b="0" lang="en-IN" sz="1000" spc="-1" strike="noStrike">
              <a:latin typeface="Arial"/>
            </a:endParaRPr>
          </a:p>
          <a:p>
            <a:pPr>
              <a:lnSpc>
                <a:spcPct val="100000"/>
              </a:lnSpc>
              <a:buNone/>
              <a:tabLst>
                <a:tab algn="l" pos="0"/>
              </a:tabLst>
            </a:pPr>
            <a:r>
              <a:rPr b="0" lang="en-US" sz="1000" spc="-1" strike="noStrike">
                <a:solidFill>
                  <a:srgbClr val="f8fafc"/>
                </a:solidFill>
                <a:latin typeface="Calibri"/>
                <a:ea typeface="Calibri"/>
              </a:rPr>
              <a:t>at binary level</a:t>
            </a:r>
            <a:endParaRPr b="0" lang="en-IN" sz="1000" spc="-1" strike="noStrike">
              <a:latin typeface="Arial"/>
            </a:endParaRPr>
          </a:p>
        </p:txBody>
      </p:sp>
      <p:sp>
        <p:nvSpPr>
          <p:cNvPr id="302" name="Shape 73"/>
          <p:cNvSpPr/>
          <p:nvPr/>
        </p:nvSpPr>
        <p:spPr>
          <a:xfrm>
            <a:off x="2697480" y="3703320"/>
            <a:ext cx="968760" cy="502560"/>
          </a:xfrm>
          <a:prstGeom prst="rect">
            <a:avLst/>
          </a:prstGeom>
          <a:solidFill>
            <a:srgbClr val="7f1d1d"/>
          </a:solidFill>
          <a:ln w="6350">
            <a:solidFill>
              <a:srgbClr val="334155"/>
            </a:solidFill>
            <a:round/>
          </a:ln>
        </p:spPr>
        <p:style>
          <a:lnRef idx="0"/>
          <a:fillRef idx="0"/>
          <a:effectRef idx="0"/>
          <a:fontRef idx="minor"/>
        </p:style>
      </p:sp>
      <p:sp>
        <p:nvSpPr>
          <p:cNvPr id="303" name="Text 74"/>
          <p:cNvSpPr/>
          <p:nvPr/>
        </p:nvSpPr>
        <p:spPr>
          <a:xfrm>
            <a:off x="2697480" y="370332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304" name="Shape 75"/>
          <p:cNvSpPr/>
          <p:nvPr/>
        </p:nvSpPr>
        <p:spPr>
          <a:xfrm>
            <a:off x="3666600" y="3703320"/>
            <a:ext cx="968760" cy="502560"/>
          </a:xfrm>
          <a:prstGeom prst="rect">
            <a:avLst/>
          </a:prstGeom>
          <a:solidFill>
            <a:srgbClr val="7f1d1d"/>
          </a:solidFill>
          <a:ln w="6350">
            <a:solidFill>
              <a:srgbClr val="334155"/>
            </a:solidFill>
            <a:round/>
          </a:ln>
        </p:spPr>
        <p:style>
          <a:lnRef idx="0"/>
          <a:fillRef idx="0"/>
          <a:effectRef idx="0"/>
          <a:fontRef idx="minor"/>
        </p:style>
      </p:sp>
      <p:sp>
        <p:nvSpPr>
          <p:cNvPr id="305" name="Text 76"/>
          <p:cNvSpPr/>
          <p:nvPr/>
        </p:nvSpPr>
        <p:spPr>
          <a:xfrm>
            <a:off x="3666600" y="370332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306" name="Shape 77"/>
          <p:cNvSpPr/>
          <p:nvPr/>
        </p:nvSpPr>
        <p:spPr>
          <a:xfrm>
            <a:off x="4636080" y="3703320"/>
            <a:ext cx="968760" cy="502560"/>
          </a:xfrm>
          <a:prstGeom prst="rect">
            <a:avLst/>
          </a:prstGeom>
          <a:solidFill>
            <a:srgbClr val="7f1d1d"/>
          </a:solidFill>
          <a:ln w="6350">
            <a:solidFill>
              <a:srgbClr val="334155"/>
            </a:solidFill>
            <a:round/>
          </a:ln>
        </p:spPr>
        <p:style>
          <a:lnRef idx="0"/>
          <a:fillRef idx="0"/>
          <a:effectRef idx="0"/>
          <a:fontRef idx="minor"/>
        </p:style>
      </p:sp>
      <p:sp>
        <p:nvSpPr>
          <p:cNvPr id="307" name="Text 78"/>
          <p:cNvSpPr/>
          <p:nvPr/>
        </p:nvSpPr>
        <p:spPr>
          <a:xfrm>
            <a:off x="4636080" y="370332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308" name="Shape 79"/>
          <p:cNvSpPr/>
          <p:nvPr/>
        </p:nvSpPr>
        <p:spPr>
          <a:xfrm>
            <a:off x="5605200" y="3703320"/>
            <a:ext cx="968760" cy="502560"/>
          </a:xfrm>
          <a:prstGeom prst="rect">
            <a:avLst/>
          </a:prstGeom>
          <a:solidFill>
            <a:srgbClr val="7f1d1d"/>
          </a:solidFill>
          <a:ln w="6350">
            <a:solidFill>
              <a:srgbClr val="334155"/>
            </a:solidFill>
            <a:round/>
          </a:ln>
        </p:spPr>
        <p:style>
          <a:lnRef idx="0"/>
          <a:fillRef idx="0"/>
          <a:effectRef idx="0"/>
          <a:fontRef idx="minor"/>
        </p:style>
      </p:sp>
      <p:sp>
        <p:nvSpPr>
          <p:cNvPr id="309" name="Text 80"/>
          <p:cNvSpPr/>
          <p:nvPr/>
        </p:nvSpPr>
        <p:spPr>
          <a:xfrm>
            <a:off x="5605200" y="370332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310" name="Shape 81"/>
          <p:cNvSpPr/>
          <p:nvPr/>
        </p:nvSpPr>
        <p:spPr>
          <a:xfrm>
            <a:off x="6574680" y="3703320"/>
            <a:ext cx="968760" cy="502560"/>
          </a:xfrm>
          <a:prstGeom prst="rect">
            <a:avLst/>
          </a:prstGeom>
          <a:solidFill>
            <a:srgbClr val="7f1d1d"/>
          </a:solidFill>
          <a:ln w="6350">
            <a:solidFill>
              <a:srgbClr val="334155"/>
            </a:solidFill>
            <a:round/>
          </a:ln>
        </p:spPr>
        <p:style>
          <a:lnRef idx="0"/>
          <a:fillRef idx="0"/>
          <a:effectRef idx="0"/>
          <a:fontRef idx="minor"/>
        </p:style>
      </p:sp>
      <p:sp>
        <p:nvSpPr>
          <p:cNvPr id="311" name="Text 82"/>
          <p:cNvSpPr/>
          <p:nvPr/>
        </p:nvSpPr>
        <p:spPr>
          <a:xfrm>
            <a:off x="6574680" y="370332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ef4444"/>
                </a:solidFill>
                <a:latin typeface="Calibri"/>
                <a:ea typeface="Calibri"/>
              </a:rPr>
              <a:t>✗</a:t>
            </a:r>
            <a:endParaRPr b="0" lang="en-IN" sz="1800" spc="-1" strike="noStrike">
              <a:latin typeface="Arial"/>
            </a:endParaRPr>
          </a:p>
        </p:txBody>
      </p:sp>
      <p:sp>
        <p:nvSpPr>
          <p:cNvPr id="312" name="Shape 83"/>
          <p:cNvSpPr/>
          <p:nvPr/>
        </p:nvSpPr>
        <p:spPr>
          <a:xfrm>
            <a:off x="7543800" y="3703320"/>
            <a:ext cx="968760" cy="502560"/>
          </a:xfrm>
          <a:prstGeom prst="rect">
            <a:avLst/>
          </a:prstGeom>
          <a:solidFill>
            <a:srgbClr val="1f3a2c"/>
          </a:solidFill>
          <a:ln w="6350">
            <a:solidFill>
              <a:srgbClr val="334155"/>
            </a:solidFill>
            <a:round/>
          </a:ln>
        </p:spPr>
        <p:style>
          <a:lnRef idx="0"/>
          <a:fillRef idx="0"/>
          <a:effectRef idx="0"/>
          <a:fontRef idx="minor"/>
        </p:style>
      </p:sp>
      <p:sp>
        <p:nvSpPr>
          <p:cNvPr id="313" name="Text 84"/>
          <p:cNvSpPr/>
          <p:nvPr/>
        </p:nvSpPr>
        <p:spPr>
          <a:xfrm>
            <a:off x="7543800" y="3703320"/>
            <a:ext cx="9687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800" spc="-1" strike="noStrike">
                <a:solidFill>
                  <a:srgbClr val="10b981"/>
                </a:solidFill>
                <a:latin typeface="Calibri"/>
                <a:ea typeface="Calibri"/>
              </a:rPr>
              <a:t>✓</a:t>
            </a:r>
            <a:endParaRPr b="0" lang="en-IN" sz="1800" spc="-1" strike="noStrike">
              <a:latin typeface="Arial"/>
            </a:endParaRPr>
          </a:p>
        </p:txBody>
      </p:sp>
      <p:sp>
        <p:nvSpPr>
          <p:cNvPr id="314" name="Shape 85"/>
          <p:cNvSpPr/>
          <p:nvPr/>
        </p:nvSpPr>
        <p:spPr>
          <a:xfrm>
            <a:off x="411480" y="4370760"/>
            <a:ext cx="8101080" cy="456840"/>
          </a:xfrm>
          <a:prstGeom prst="rect">
            <a:avLst/>
          </a:prstGeom>
          <a:solidFill>
            <a:srgbClr val="243549"/>
          </a:solidFill>
          <a:ln w="9525">
            <a:solidFill>
              <a:srgbClr val="334155"/>
            </a:solidFill>
            <a:round/>
          </a:ln>
        </p:spPr>
        <p:style>
          <a:lnRef idx="0"/>
          <a:fillRef idx="0"/>
          <a:effectRef idx="0"/>
          <a:fontRef idx="minor"/>
        </p:style>
      </p:sp>
      <p:sp>
        <p:nvSpPr>
          <p:cNvPr id="315" name="Shape 86"/>
          <p:cNvSpPr/>
          <p:nvPr/>
        </p:nvSpPr>
        <p:spPr>
          <a:xfrm>
            <a:off x="411480" y="4370760"/>
            <a:ext cx="54360" cy="456840"/>
          </a:xfrm>
          <a:prstGeom prst="rect">
            <a:avLst/>
          </a:prstGeom>
          <a:solidFill>
            <a:srgbClr val="f97316"/>
          </a:solidFill>
          <a:ln w="12700">
            <a:solidFill>
              <a:srgbClr val="f97316"/>
            </a:solidFill>
            <a:round/>
          </a:ln>
        </p:spPr>
        <p:style>
          <a:lnRef idx="0"/>
          <a:fillRef idx="0"/>
          <a:effectRef idx="0"/>
          <a:fontRef idx="minor"/>
        </p:style>
      </p:sp>
      <p:sp>
        <p:nvSpPr>
          <p:cNvPr id="316" name="Text 87"/>
          <p:cNvSpPr/>
          <p:nvPr/>
        </p:nvSpPr>
        <p:spPr>
          <a:xfrm>
            <a:off x="594360" y="4370760"/>
            <a:ext cx="78724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f8fafc"/>
                </a:solidFill>
                <a:latin typeface="Calibri"/>
                <a:ea typeface="Calibri"/>
              </a:rPr>
              <a:t>Desiderata derived from comparator gaps, not from HELIOS. Architectural commitments — not algorithmic differences — separate HELIOS from each comparator.</a:t>
            </a:r>
            <a:endParaRPr b="0" lang="en-IN" sz="1100" spc="-1" strike="noStrike">
              <a:latin typeface="Arial"/>
            </a:endParaRPr>
          </a:p>
        </p:txBody>
      </p:sp>
      <p:sp>
        <p:nvSpPr>
          <p:cNvPr id="317" name="Text 88"/>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Problem &amp; Gap</a:t>
            </a:r>
            <a:endParaRPr b="0" lang="en-IN" sz="850" spc="-1" strike="noStrike">
              <a:latin typeface="Arial"/>
            </a:endParaRPr>
          </a:p>
        </p:txBody>
      </p:sp>
      <p:sp>
        <p:nvSpPr>
          <p:cNvPr id="318" name="Text 89"/>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7 / 22</a:t>
            </a:r>
            <a:endParaRPr b="0" lang="en-IN" sz="900" spc="-1" strike="noStrike">
              <a:latin typeface="Arial"/>
            </a:endParaRPr>
          </a:p>
        </p:txBody>
      </p:sp>
      <p:sp>
        <p:nvSpPr>
          <p:cNvPr id="319" name="Shape 90"/>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20"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RESEARCH QUESTIONS</a:t>
            </a:r>
            <a:endParaRPr b="0" lang="en-IN" sz="1000" spc="-1" strike="noStrike">
              <a:latin typeface="Arial"/>
            </a:endParaRPr>
          </a:p>
        </p:txBody>
      </p:sp>
      <p:sp>
        <p:nvSpPr>
          <p:cNvPr id="321"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Four RQs — separable by inferential layer</a:t>
            </a:r>
            <a:endParaRPr b="0" lang="en-IN" sz="2200" spc="-1" strike="noStrike">
              <a:latin typeface="Arial"/>
            </a:endParaRPr>
          </a:p>
        </p:txBody>
      </p:sp>
      <p:sp>
        <p:nvSpPr>
          <p:cNvPr id="322" name="Shape 2"/>
          <p:cNvSpPr/>
          <p:nvPr/>
        </p:nvSpPr>
        <p:spPr>
          <a:xfrm>
            <a:off x="457200" y="1325880"/>
            <a:ext cx="8595000" cy="776880"/>
          </a:xfrm>
          <a:prstGeom prst="rect">
            <a:avLst/>
          </a:prstGeom>
          <a:solidFill>
            <a:srgbClr val="1b263b"/>
          </a:solidFill>
          <a:ln w="9525">
            <a:solidFill>
              <a:srgbClr val="334155"/>
            </a:solidFill>
            <a:round/>
          </a:ln>
        </p:spPr>
        <p:style>
          <a:lnRef idx="0"/>
          <a:fillRef idx="0"/>
          <a:effectRef idx="0"/>
          <a:fontRef idx="minor"/>
        </p:style>
      </p:sp>
      <p:sp>
        <p:nvSpPr>
          <p:cNvPr id="323" name="Shape 3"/>
          <p:cNvSpPr/>
          <p:nvPr/>
        </p:nvSpPr>
        <p:spPr>
          <a:xfrm>
            <a:off x="457200" y="1325880"/>
            <a:ext cx="54360" cy="776880"/>
          </a:xfrm>
          <a:prstGeom prst="rect">
            <a:avLst/>
          </a:prstGeom>
          <a:solidFill>
            <a:srgbClr val="06b6d4"/>
          </a:solidFill>
          <a:ln w="12700">
            <a:solidFill>
              <a:srgbClr val="06b6d4"/>
            </a:solidFill>
            <a:round/>
          </a:ln>
        </p:spPr>
        <p:style>
          <a:lnRef idx="0"/>
          <a:fillRef idx="0"/>
          <a:effectRef idx="0"/>
          <a:fontRef idx="minor"/>
        </p:style>
      </p:sp>
      <p:sp>
        <p:nvSpPr>
          <p:cNvPr id="324" name="Text 4"/>
          <p:cNvSpPr/>
          <p:nvPr/>
        </p:nvSpPr>
        <p:spPr>
          <a:xfrm>
            <a:off x="640080" y="1417320"/>
            <a:ext cx="1645560" cy="310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600" spc="-1" strike="noStrike">
                <a:solidFill>
                  <a:srgbClr val="06b6d4"/>
                </a:solidFill>
                <a:latin typeface="Calibri"/>
                <a:ea typeface="Calibri"/>
              </a:rPr>
              <a:t>RQ1</a:t>
            </a:r>
            <a:endParaRPr b="0" lang="en-IN" sz="1600" spc="-1" strike="noStrike">
              <a:latin typeface="Arial"/>
            </a:endParaRPr>
          </a:p>
        </p:txBody>
      </p:sp>
      <p:sp>
        <p:nvSpPr>
          <p:cNvPr id="325" name="Text 5"/>
          <p:cNvSpPr/>
          <p:nvPr/>
        </p:nvSpPr>
        <p:spPr>
          <a:xfrm>
            <a:off x="640080" y="1746360"/>
            <a:ext cx="16455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50" spc="199" strike="noStrike">
                <a:solidFill>
                  <a:srgbClr val="94a3b8"/>
                </a:solidFill>
                <a:latin typeface="Calibri"/>
                <a:ea typeface="Calibri"/>
              </a:rPr>
              <a:t>ARTEFACT-LEVEL</a:t>
            </a:r>
            <a:endParaRPr b="0" lang="en-IN" sz="850" spc="-1" strike="noStrike">
              <a:latin typeface="Arial"/>
            </a:endParaRPr>
          </a:p>
        </p:txBody>
      </p:sp>
      <p:sp>
        <p:nvSpPr>
          <p:cNvPr id="326" name="Text 6"/>
          <p:cNvSpPr/>
          <p:nvPr/>
        </p:nvSpPr>
        <p:spPr>
          <a:xfrm>
            <a:off x="2377440" y="1417320"/>
            <a:ext cx="44344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50" spc="-1" strike="noStrike">
                <a:solidFill>
                  <a:srgbClr val="f8fafc"/>
                </a:solidFill>
                <a:latin typeface="Calibri"/>
                <a:ea typeface="Calibri"/>
              </a:rPr>
              <a:t>Does co-deployment of statistical, graph-ML, and LLM reasoning as peer pipelines under identical inputs improve accuracy and reduce cost vs single-modality baselines?</a:t>
            </a:r>
            <a:endParaRPr b="0" lang="en-IN" sz="1050" spc="-1" strike="noStrike">
              <a:latin typeface="Arial"/>
            </a:endParaRPr>
          </a:p>
        </p:txBody>
      </p:sp>
      <p:sp>
        <p:nvSpPr>
          <p:cNvPr id="327" name="Text 7"/>
          <p:cNvSpPr/>
          <p:nvPr/>
        </p:nvSpPr>
        <p:spPr>
          <a:xfrm>
            <a:off x="6903720" y="1417320"/>
            <a:ext cx="178272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06b6d4"/>
                </a:solidFill>
                <a:latin typeface="Calibri"/>
                <a:ea typeface="Calibri"/>
              </a:rPr>
              <a:t>→ </a:t>
            </a:r>
            <a:r>
              <a:rPr b="0" lang="en-US" sz="950" spc="-1" strike="noStrike">
                <a:solidFill>
                  <a:srgbClr val="06b6d4"/>
                </a:solidFill>
                <a:latin typeface="Calibri"/>
                <a:ea typeface="Calibri"/>
              </a:rPr>
              <a:t>B-family (8 hyp) + decomposing A-H1, A-H2, A-H3, A-H5</a:t>
            </a:r>
            <a:endParaRPr b="0" lang="en-IN" sz="950" spc="-1" strike="noStrike">
              <a:latin typeface="Arial"/>
            </a:endParaRPr>
          </a:p>
        </p:txBody>
      </p:sp>
      <p:sp>
        <p:nvSpPr>
          <p:cNvPr id="328" name="Shape 8"/>
          <p:cNvSpPr/>
          <p:nvPr/>
        </p:nvSpPr>
        <p:spPr>
          <a:xfrm>
            <a:off x="457200" y="2194560"/>
            <a:ext cx="8595000" cy="776880"/>
          </a:xfrm>
          <a:prstGeom prst="rect">
            <a:avLst/>
          </a:prstGeom>
          <a:solidFill>
            <a:srgbClr val="1b263b"/>
          </a:solidFill>
          <a:ln w="9525">
            <a:solidFill>
              <a:srgbClr val="334155"/>
            </a:solidFill>
            <a:round/>
          </a:ln>
        </p:spPr>
        <p:style>
          <a:lnRef idx="0"/>
          <a:fillRef idx="0"/>
          <a:effectRef idx="0"/>
          <a:fontRef idx="minor"/>
        </p:style>
      </p:sp>
      <p:sp>
        <p:nvSpPr>
          <p:cNvPr id="329" name="Shape 9"/>
          <p:cNvSpPr/>
          <p:nvPr/>
        </p:nvSpPr>
        <p:spPr>
          <a:xfrm>
            <a:off x="457200" y="2194560"/>
            <a:ext cx="54360" cy="776880"/>
          </a:xfrm>
          <a:prstGeom prst="rect">
            <a:avLst/>
          </a:prstGeom>
          <a:solidFill>
            <a:srgbClr val="a78bfa"/>
          </a:solidFill>
          <a:ln w="12700">
            <a:solidFill>
              <a:srgbClr val="a78bfa"/>
            </a:solidFill>
            <a:round/>
          </a:ln>
        </p:spPr>
        <p:style>
          <a:lnRef idx="0"/>
          <a:fillRef idx="0"/>
          <a:effectRef idx="0"/>
          <a:fontRef idx="minor"/>
        </p:style>
      </p:sp>
      <p:sp>
        <p:nvSpPr>
          <p:cNvPr id="330" name="Text 10"/>
          <p:cNvSpPr/>
          <p:nvPr/>
        </p:nvSpPr>
        <p:spPr>
          <a:xfrm>
            <a:off x="640080" y="2286000"/>
            <a:ext cx="1645560" cy="310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600" spc="-1" strike="noStrike">
                <a:solidFill>
                  <a:srgbClr val="a78bfa"/>
                </a:solidFill>
                <a:latin typeface="Calibri"/>
                <a:ea typeface="Calibri"/>
              </a:rPr>
              <a:t>RQ2</a:t>
            </a:r>
            <a:endParaRPr b="0" lang="en-IN" sz="1600" spc="-1" strike="noStrike">
              <a:latin typeface="Arial"/>
            </a:endParaRPr>
          </a:p>
        </p:txBody>
      </p:sp>
      <p:sp>
        <p:nvSpPr>
          <p:cNvPr id="331" name="Text 11"/>
          <p:cNvSpPr/>
          <p:nvPr/>
        </p:nvSpPr>
        <p:spPr>
          <a:xfrm>
            <a:off x="640080" y="2615040"/>
            <a:ext cx="16455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50" spc="199" strike="noStrike">
                <a:solidFill>
                  <a:srgbClr val="94a3b8"/>
                </a:solidFill>
                <a:latin typeface="Calibri"/>
                <a:ea typeface="Calibri"/>
              </a:rPr>
              <a:t>META-OBSERVABILITY</a:t>
            </a:r>
            <a:endParaRPr b="0" lang="en-IN" sz="850" spc="-1" strike="noStrike">
              <a:latin typeface="Arial"/>
            </a:endParaRPr>
          </a:p>
        </p:txBody>
      </p:sp>
      <p:sp>
        <p:nvSpPr>
          <p:cNvPr id="332" name="Text 12"/>
          <p:cNvSpPr/>
          <p:nvPr/>
        </p:nvSpPr>
        <p:spPr>
          <a:xfrm>
            <a:off x="2377440" y="2286000"/>
            <a:ext cx="44344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50" spc="-1" strike="noStrike">
                <a:solidFill>
                  <a:srgbClr val="f8fafc"/>
                </a:solidFill>
                <a:latin typeface="Calibri"/>
                <a:ea typeface="Calibri"/>
              </a:rPr>
              <a:t>Does self-telemetry integrated into the same diagnostic apparatus enable detection of reasoning failures within the AI system itself?</a:t>
            </a:r>
            <a:endParaRPr b="0" lang="en-IN" sz="1050" spc="-1" strike="noStrike">
              <a:latin typeface="Arial"/>
            </a:endParaRPr>
          </a:p>
        </p:txBody>
      </p:sp>
      <p:sp>
        <p:nvSpPr>
          <p:cNvPr id="333" name="Text 13"/>
          <p:cNvSpPr/>
          <p:nvPr/>
        </p:nvSpPr>
        <p:spPr>
          <a:xfrm>
            <a:off x="6903720" y="2286000"/>
            <a:ext cx="178272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06b6d4"/>
                </a:solidFill>
                <a:latin typeface="Calibri"/>
                <a:ea typeface="Calibri"/>
              </a:rPr>
              <a:t>→ </a:t>
            </a:r>
            <a:r>
              <a:rPr b="0" lang="en-US" sz="950" spc="-1" strike="noStrike">
                <a:solidFill>
                  <a:srgbClr val="06b6d4"/>
                </a:solidFill>
                <a:latin typeface="Calibri"/>
                <a:ea typeface="Calibri"/>
              </a:rPr>
              <a:t>E-H6 (exploratory; IOL detection latency)</a:t>
            </a:r>
            <a:endParaRPr b="0" lang="en-IN" sz="950" spc="-1" strike="noStrike">
              <a:latin typeface="Arial"/>
            </a:endParaRPr>
          </a:p>
        </p:txBody>
      </p:sp>
      <p:sp>
        <p:nvSpPr>
          <p:cNvPr id="334" name="Shape 14"/>
          <p:cNvSpPr/>
          <p:nvPr/>
        </p:nvSpPr>
        <p:spPr>
          <a:xfrm>
            <a:off x="457200" y="3063240"/>
            <a:ext cx="8595000" cy="776880"/>
          </a:xfrm>
          <a:prstGeom prst="rect">
            <a:avLst/>
          </a:prstGeom>
          <a:solidFill>
            <a:srgbClr val="1b263b"/>
          </a:solidFill>
          <a:ln w="9525">
            <a:solidFill>
              <a:srgbClr val="334155"/>
            </a:solidFill>
            <a:round/>
          </a:ln>
        </p:spPr>
        <p:style>
          <a:lnRef idx="0"/>
          <a:fillRef idx="0"/>
          <a:effectRef idx="0"/>
          <a:fontRef idx="minor"/>
        </p:style>
      </p:sp>
      <p:sp>
        <p:nvSpPr>
          <p:cNvPr id="335" name="Shape 15"/>
          <p:cNvSpPr/>
          <p:nvPr/>
        </p:nvSpPr>
        <p:spPr>
          <a:xfrm>
            <a:off x="457200" y="3063240"/>
            <a:ext cx="54360" cy="776880"/>
          </a:xfrm>
          <a:prstGeom prst="rect">
            <a:avLst/>
          </a:prstGeom>
          <a:solidFill>
            <a:srgbClr val="f97316"/>
          </a:solidFill>
          <a:ln w="12700">
            <a:solidFill>
              <a:srgbClr val="f97316"/>
            </a:solidFill>
            <a:round/>
          </a:ln>
        </p:spPr>
        <p:style>
          <a:lnRef idx="0"/>
          <a:fillRef idx="0"/>
          <a:effectRef idx="0"/>
          <a:fontRef idx="minor"/>
        </p:style>
      </p:sp>
      <p:sp>
        <p:nvSpPr>
          <p:cNvPr id="336" name="Text 16"/>
          <p:cNvSpPr/>
          <p:nvPr/>
        </p:nvSpPr>
        <p:spPr>
          <a:xfrm>
            <a:off x="640080" y="3154680"/>
            <a:ext cx="1645560" cy="310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600" spc="-1" strike="noStrike">
                <a:solidFill>
                  <a:srgbClr val="f97316"/>
                </a:solidFill>
                <a:latin typeface="Calibri"/>
                <a:ea typeface="Calibri"/>
              </a:rPr>
              <a:t>RQ3</a:t>
            </a:r>
            <a:endParaRPr b="0" lang="en-IN" sz="1600" spc="-1" strike="noStrike">
              <a:latin typeface="Arial"/>
            </a:endParaRPr>
          </a:p>
        </p:txBody>
      </p:sp>
      <p:sp>
        <p:nvSpPr>
          <p:cNvPr id="337" name="Text 17"/>
          <p:cNvSpPr/>
          <p:nvPr/>
        </p:nvSpPr>
        <p:spPr>
          <a:xfrm>
            <a:off x="640080" y="3483720"/>
            <a:ext cx="16455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50" spc="199" strike="noStrike">
                <a:solidFill>
                  <a:srgbClr val="94a3b8"/>
                </a:solidFill>
                <a:latin typeface="Calibri"/>
                <a:ea typeface="Calibri"/>
              </a:rPr>
              <a:t>PER-MECHANISM</a:t>
            </a:r>
            <a:endParaRPr b="0" lang="en-IN" sz="850" spc="-1" strike="noStrike">
              <a:latin typeface="Arial"/>
            </a:endParaRPr>
          </a:p>
        </p:txBody>
      </p:sp>
      <p:sp>
        <p:nvSpPr>
          <p:cNvPr id="338" name="Text 18"/>
          <p:cNvSpPr/>
          <p:nvPr/>
        </p:nvSpPr>
        <p:spPr>
          <a:xfrm>
            <a:off x="2377440" y="3154680"/>
            <a:ext cx="44344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50" spc="-1" strike="noStrike">
                <a:solidFill>
                  <a:srgbClr val="f8fafc"/>
                </a:solidFill>
                <a:latin typeface="Calibri"/>
                <a:ea typeface="Calibri"/>
              </a:rPr>
              <a:t>Does each named architectural mechanism (C2–C6) individually contribute to accuracy, cost, and safety, as determined by ablation?</a:t>
            </a:r>
            <a:endParaRPr b="0" lang="en-IN" sz="1050" spc="-1" strike="noStrike">
              <a:latin typeface="Arial"/>
            </a:endParaRPr>
          </a:p>
        </p:txBody>
      </p:sp>
      <p:sp>
        <p:nvSpPr>
          <p:cNvPr id="339" name="Text 19"/>
          <p:cNvSpPr/>
          <p:nvPr/>
        </p:nvSpPr>
        <p:spPr>
          <a:xfrm>
            <a:off x="6903720" y="3154680"/>
            <a:ext cx="178272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06b6d4"/>
                </a:solidFill>
                <a:latin typeface="Calibri"/>
                <a:ea typeface="Calibri"/>
              </a:rPr>
              <a:t>→ </a:t>
            </a:r>
            <a:r>
              <a:rPr b="0" lang="en-US" sz="950" spc="-1" strike="noStrike">
                <a:solidFill>
                  <a:srgbClr val="06b6d4"/>
                </a:solidFill>
                <a:latin typeface="Calibri"/>
                <a:ea typeface="Calibri"/>
              </a:rPr>
              <a:t>A-family (8 confirmatory ablation hypotheses)</a:t>
            </a:r>
            <a:endParaRPr b="0" lang="en-IN" sz="950" spc="-1" strike="noStrike">
              <a:latin typeface="Arial"/>
            </a:endParaRPr>
          </a:p>
        </p:txBody>
      </p:sp>
      <p:sp>
        <p:nvSpPr>
          <p:cNvPr id="340" name="Shape 20"/>
          <p:cNvSpPr/>
          <p:nvPr/>
        </p:nvSpPr>
        <p:spPr>
          <a:xfrm>
            <a:off x="457200" y="3931920"/>
            <a:ext cx="8595000" cy="776880"/>
          </a:xfrm>
          <a:prstGeom prst="rect">
            <a:avLst/>
          </a:prstGeom>
          <a:solidFill>
            <a:srgbClr val="1b263b"/>
          </a:solidFill>
          <a:ln w="9525">
            <a:solidFill>
              <a:srgbClr val="334155"/>
            </a:solidFill>
            <a:round/>
          </a:ln>
        </p:spPr>
        <p:style>
          <a:lnRef idx="0"/>
          <a:fillRef idx="0"/>
          <a:effectRef idx="0"/>
          <a:fontRef idx="minor"/>
        </p:style>
      </p:sp>
      <p:sp>
        <p:nvSpPr>
          <p:cNvPr id="341" name="Shape 21"/>
          <p:cNvSpPr/>
          <p:nvPr/>
        </p:nvSpPr>
        <p:spPr>
          <a:xfrm>
            <a:off x="457200" y="3931920"/>
            <a:ext cx="54360" cy="776880"/>
          </a:xfrm>
          <a:prstGeom prst="rect">
            <a:avLst/>
          </a:prstGeom>
          <a:solidFill>
            <a:srgbClr val="10b981"/>
          </a:solidFill>
          <a:ln w="12700">
            <a:solidFill>
              <a:srgbClr val="10b981"/>
            </a:solidFill>
            <a:round/>
          </a:ln>
        </p:spPr>
        <p:style>
          <a:lnRef idx="0"/>
          <a:fillRef idx="0"/>
          <a:effectRef idx="0"/>
          <a:fontRef idx="minor"/>
        </p:style>
      </p:sp>
      <p:sp>
        <p:nvSpPr>
          <p:cNvPr id="342" name="Text 22"/>
          <p:cNvSpPr/>
          <p:nvPr/>
        </p:nvSpPr>
        <p:spPr>
          <a:xfrm>
            <a:off x="640080" y="4023360"/>
            <a:ext cx="1645560" cy="310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600" spc="-1" strike="noStrike">
                <a:solidFill>
                  <a:srgbClr val="10b981"/>
                </a:solidFill>
                <a:latin typeface="Calibri"/>
                <a:ea typeface="Calibri"/>
              </a:rPr>
              <a:t>RQ4</a:t>
            </a:r>
            <a:endParaRPr b="0" lang="en-IN" sz="1600" spc="-1" strike="noStrike">
              <a:latin typeface="Arial"/>
            </a:endParaRPr>
          </a:p>
        </p:txBody>
      </p:sp>
      <p:sp>
        <p:nvSpPr>
          <p:cNvPr id="343" name="Text 23"/>
          <p:cNvSpPr/>
          <p:nvPr/>
        </p:nvSpPr>
        <p:spPr>
          <a:xfrm>
            <a:off x="640080" y="4352400"/>
            <a:ext cx="16455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850" spc="199" strike="noStrike">
                <a:solidFill>
                  <a:srgbClr val="94a3b8"/>
                </a:solidFill>
                <a:latin typeface="Calibri"/>
                <a:ea typeface="Calibri"/>
              </a:rPr>
              <a:t>HUMAN-INTERACTION</a:t>
            </a:r>
            <a:endParaRPr b="0" lang="en-IN" sz="850" spc="-1" strike="noStrike">
              <a:latin typeface="Arial"/>
            </a:endParaRPr>
          </a:p>
        </p:txBody>
      </p:sp>
      <p:sp>
        <p:nvSpPr>
          <p:cNvPr id="344" name="Text 24"/>
          <p:cNvSpPr/>
          <p:nvPr/>
        </p:nvSpPr>
        <p:spPr>
          <a:xfrm>
            <a:off x="2377440" y="4023360"/>
            <a:ext cx="443448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50" spc="-1" strike="noStrike">
                <a:solidFill>
                  <a:srgbClr val="f8fafc"/>
                </a:solidFill>
                <a:latin typeface="Calibri"/>
                <a:ea typeface="Calibri"/>
              </a:rPr>
              <a:t>Does Chain-of-Evidence narrative rendering improve SRE interpretation accuracy, decision time, and trust?</a:t>
            </a:r>
            <a:endParaRPr b="0" lang="en-IN" sz="1050" spc="-1" strike="noStrike">
              <a:latin typeface="Arial"/>
            </a:endParaRPr>
          </a:p>
        </p:txBody>
      </p:sp>
      <p:sp>
        <p:nvSpPr>
          <p:cNvPr id="345" name="Text 25"/>
          <p:cNvSpPr/>
          <p:nvPr/>
        </p:nvSpPr>
        <p:spPr>
          <a:xfrm>
            <a:off x="6903720" y="4023360"/>
            <a:ext cx="178272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06b6d4"/>
                </a:solidFill>
                <a:latin typeface="Calibri"/>
                <a:ea typeface="Calibri"/>
              </a:rPr>
              <a:t>→ </a:t>
            </a:r>
            <a:r>
              <a:rPr b="0" lang="en-US" sz="950" spc="-1" strike="noStrike">
                <a:solidFill>
                  <a:srgbClr val="06b6d4"/>
                </a:solidFill>
                <a:latin typeface="Calibri"/>
                <a:ea typeface="Calibri"/>
              </a:rPr>
              <a:t>E-H7 (within-subjects user study, n = 24)</a:t>
            </a:r>
            <a:endParaRPr b="0" lang="en-IN" sz="950" spc="-1" strike="noStrike">
              <a:latin typeface="Arial"/>
            </a:endParaRPr>
          </a:p>
        </p:txBody>
      </p:sp>
      <p:sp>
        <p:nvSpPr>
          <p:cNvPr id="346" name="Text 26"/>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Problem &amp; Gap</a:t>
            </a:r>
            <a:endParaRPr b="0" lang="en-IN" sz="850" spc="-1" strike="noStrike">
              <a:latin typeface="Arial"/>
            </a:endParaRPr>
          </a:p>
        </p:txBody>
      </p:sp>
      <p:sp>
        <p:nvSpPr>
          <p:cNvPr id="347" name="Text 27"/>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8 / 22</a:t>
            </a:r>
            <a:endParaRPr b="0" lang="en-IN" sz="900" spc="-1" strike="noStrike">
              <a:latin typeface="Arial"/>
            </a:endParaRPr>
          </a:p>
        </p:txBody>
      </p:sp>
      <p:sp>
        <p:nvSpPr>
          <p:cNvPr id="348" name="Shape 28"/>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49"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HYPOTHESIS FAMILIES</a:t>
            </a:r>
            <a:endParaRPr b="0" lang="en-IN" sz="1000" spc="-1" strike="noStrike">
              <a:latin typeface="Arial"/>
            </a:endParaRPr>
          </a:p>
        </p:txBody>
      </p:sp>
      <p:sp>
        <p:nvSpPr>
          <p:cNvPr id="350"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Three pre-registered families — A and B corrected separately under Holm–Bonferroni</a:t>
            </a:r>
            <a:endParaRPr b="0" lang="en-IN" sz="2200" spc="-1" strike="noStrike">
              <a:latin typeface="Arial"/>
            </a:endParaRPr>
          </a:p>
        </p:txBody>
      </p:sp>
      <p:sp>
        <p:nvSpPr>
          <p:cNvPr id="351" name="Shape 2"/>
          <p:cNvSpPr/>
          <p:nvPr/>
        </p:nvSpPr>
        <p:spPr>
          <a:xfrm>
            <a:off x="269640" y="1280160"/>
            <a:ext cx="2788560" cy="3108600"/>
          </a:xfrm>
          <a:prstGeom prst="rect">
            <a:avLst/>
          </a:prstGeom>
          <a:solidFill>
            <a:srgbClr val="1b263b"/>
          </a:solidFill>
          <a:ln w="9525">
            <a:solidFill>
              <a:srgbClr val="334155"/>
            </a:solidFill>
            <a:round/>
          </a:ln>
        </p:spPr>
        <p:style>
          <a:lnRef idx="0"/>
          <a:fillRef idx="0"/>
          <a:effectRef idx="0"/>
          <a:fontRef idx="minor"/>
        </p:style>
      </p:sp>
      <p:sp>
        <p:nvSpPr>
          <p:cNvPr id="352" name="Shape 3"/>
          <p:cNvSpPr/>
          <p:nvPr/>
        </p:nvSpPr>
        <p:spPr>
          <a:xfrm>
            <a:off x="498240" y="1508760"/>
            <a:ext cx="502560" cy="502560"/>
          </a:xfrm>
          <a:prstGeom prst="ellipse">
            <a:avLst/>
          </a:prstGeom>
          <a:solidFill>
            <a:srgbClr val="06b6d4"/>
          </a:solidFill>
          <a:ln w="12700">
            <a:solidFill>
              <a:srgbClr val="06b6d4"/>
            </a:solidFill>
            <a:round/>
          </a:ln>
        </p:spPr>
        <p:style>
          <a:lnRef idx="0"/>
          <a:fillRef idx="0"/>
          <a:effectRef idx="0"/>
          <a:fontRef idx="minor"/>
        </p:style>
      </p:sp>
      <p:sp>
        <p:nvSpPr>
          <p:cNvPr id="353" name="Text 4"/>
          <p:cNvSpPr/>
          <p:nvPr/>
        </p:nvSpPr>
        <p:spPr>
          <a:xfrm>
            <a:off x="498240" y="1508760"/>
            <a:ext cx="5025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400" spc="-1" strike="noStrike">
                <a:solidFill>
                  <a:srgbClr val="0d1b2a"/>
                </a:solidFill>
                <a:latin typeface="Calibri"/>
                <a:ea typeface="Calibri"/>
              </a:rPr>
              <a:t>A</a:t>
            </a:r>
            <a:endParaRPr b="0" lang="en-IN" sz="2400" spc="-1" strike="noStrike">
              <a:latin typeface="Arial"/>
            </a:endParaRPr>
          </a:p>
        </p:txBody>
      </p:sp>
      <p:sp>
        <p:nvSpPr>
          <p:cNvPr id="354" name="Text 5"/>
          <p:cNvSpPr/>
          <p:nvPr/>
        </p:nvSpPr>
        <p:spPr>
          <a:xfrm>
            <a:off x="1138320" y="1463040"/>
            <a:ext cx="17827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6b6d4"/>
                </a:solidFill>
                <a:latin typeface="Calibri"/>
                <a:ea typeface="Calibri"/>
              </a:rPr>
              <a:t>ABLATION</a:t>
            </a:r>
            <a:endParaRPr b="0" lang="en-IN" sz="1200" spc="-1" strike="noStrike">
              <a:latin typeface="Arial"/>
            </a:endParaRPr>
          </a:p>
        </p:txBody>
      </p:sp>
      <p:sp>
        <p:nvSpPr>
          <p:cNvPr id="355" name="Text 6"/>
          <p:cNvSpPr/>
          <p:nvPr/>
        </p:nvSpPr>
        <p:spPr>
          <a:xfrm>
            <a:off x="1138320" y="1737360"/>
            <a:ext cx="17827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94a3b8"/>
                </a:solidFill>
                <a:latin typeface="Calibri"/>
                <a:ea typeface="Calibri"/>
              </a:rPr>
              <a:t>8 hypotheses</a:t>
            </a:r>
            <a:endParaRPr b="0" lang="en-IN" sz="1100" spc="-1" strike="noStrike">
              <a:latin typeface="Arial"/>
            </a:endParaRPr>
          </a:p>
        </p:txBody>
      </p:sp>
      <p:sp>
        <p:nvSpPr>
          <p:cNvPr id="356" name="Text 7"/>
          <p:cNvSpPr/>
          <p:nvPr/>
        </p:nvSpPr>
        <p:spPr>
          <a:xfrm>
            <a:off x="498240" y="2148840"/>
            <a:ext cx="2331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299" strike="noStrike">
                <a:solidFill>
                  <a:srgbClr val="f97316"/>
                </a:solidFill>
                <a:latin typeface="Calibri"/>
                <a:ea typeface="Calibri"/>
              </a:rPr>
              <a:t>INTERNAL MECHANISM</a:t>
            </a:r>
            <a:endParaRPr b="0" lang="en-IN" sz="900" spc="-1" strike="noStrike">
              <a:latin typeface="Arial"/>
            </a:endParaRPr>
          </a:p>
        </p:txBody>
      </p:sp>
      <p:sp>
        <p:nvSpPr>
          <p:cNvPr id="357" name="Text 8"/>
          <p:cNvSpPr/>
          <p:nvPr/>
        </p:nvSpPr>
        <p:spPr>
          <a:xfrm>
            <a:off x="498240" y="2395800"/>
            <a:ext cx="233136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Confirmatory · Wilcoxon signed-rank · Holm–Bonferroni rank-1 α = 0.00625</a:t>
            </a:r>
            <a:endParaRPr b="0" lang="en-IN" sz="950" spc="-1" strike="noStrike">
              <a:latin typeface="Arial"/>
            </a:endParaRPr>
          </a:p>
        </p:txBody>
      </p:sp>
      <p:sp>
        <p:nvSpPr>
          <p:cNvPr id="358" name="Text 9"/>
          <p:cNvSpPr/>
          <p:nvPr/>
        </p:nvSpPr>
        <p:spPr>
          <a:xfrm>
            <a:off x="543960" y="3063240"/>
            <a:ext cx="2285640" cy="118836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A-H1 LLM contribution</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A-H2 LLM-only sufficiency</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A-H3 D-pipe statistical floor</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A-H4 Consensus on ambiguous*</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A-H5 Uniform routing → CpR↑</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A-H6 Snapshot identity violation</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A-H7 Hallucination without LLM</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A-H8 No-structural bundle*</a:t>
            </a:r>
            <a:endParaRPr b="0" lang="en-IN" sz="900" spc="-1" strike="noStrike">
              <a:latin typeface="Arial"/>
            </a:endParaRPr>
          </a:p>
        </p:txBody>
      </p:sp>
      <p:sp>
        <p:nvSpPr>
          <p:cNvPr id="359" name="Shape 10"/>
          <p:cNvSpPr/>
          <p:nvPr/>
        </p:nvSpPr>
        <p:spPr>
          <a:xfrm>
            <a:off x="3177720" y="1280160"/>
            <a:ext cx="2788560" cy="3108600"/>
          </a:xfrm>
          <a:prstGeom prst="rect">
            <a:avLst/>
          </a:prstGeom>
          <a:solidFill>
            <a:srgbClr val="1b263b"/>
          </a:solidFill>
          <a:ln w="9525">
            <a:solidFill>
              <a:srgbClr val="334155"/>
            </a:solidFill>
            <a:round/>
          </a:ln>
        </p:spPr>
        <p:style>
          <a:lnRef idx="0"/>
          <a:fillRef idx="0"/>
          <a:effectRef idx="0"/>
          <a:fontRef idx="minor"/>
        </p:style>
      </p:sp>
      <p:sp>
        <p:nvSpPr>
          <p:cNvPr id="360" name="Shape 11"/>
          <p:cNvSpPr/>
          <p:nvPr/>
        </p:nvSpPr>
        <p:spPr>
          <a:xfrm>
            <a:off x="3406320" y="1508760"/>
            <a:ext cx="502560" cy="502560"/>
          </a:xfrm>
          <a:prstGeom prst="ellipse">
            <a:avLst/>
          </a:prstGeom>
          <a:solidFill>
            <a:srgbClr val="3b82f6"/>
          </a:solidFill>
          <a:ln w="12700">
            <a:solidFill>
              <a:srgbClr val="3b82f6"/>
            </a:solidFill>
            <a:round/>
          </a:ln>
        </p:spPr>
        <p:style>
          <a:lnRef idx="0"/>
          <a:fillRef idx="0"/>
          <a:effectRef idx="0"/>
          <a:fontRef idx="minor"/>
        </p:style>
      </p:sp>
      <p:sp>
        <p:nvSpPr>
          <p:cNvPr id="361" name="Text 12"/>
          <p:cNvSpPr/>
          <p:nvPr/>
        </p:nvSpPr>
        <p:spPr>
          <a:xfrm>
            <a:off x="3406320" y="1508760"/>
            <a:ext cx="5025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400" spc="-1" strike="noStrike">
                <a:solidFill>
                  <a:srgbClr val="0d1b2a"/>
                </a:solidFill>
                <a:latin typeface="Calibri"/>
                <a:ea typeface="Calibri"/>
              </a:rPr>
              <a:t>B</a:t>
            </a:r>
            <a:endParaRPr b="0" lang="en-IN" sz="2400" spc="-1" strike="noStrike">
              <a:latin typeface="Arial"/>
            </a:endParaRPr>
          </a:p>
        </p:txBody>
      </p:sp>
      <p:sp>
        <p:nvSpPr>
          <p:cNvPr id="362" name="Text 13"/>
          <p:cNvSpPr/>
          <p:nvPr/>
        </p:nvSpPr>
        <p:spPr>
          <a:xfrm>
            <a:off x="4046400" y="1463040"/>
            <a:ext cx="17827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3b82f6"/>
                </a:solidFill>
                <a:latin typeface="Calibri"/>
                <a:ea typeface="Calibri"/>
              </a:rPr>
              <a:t>BASELINE-COMPARISON</a:t>
            </a:r>
            <a:endParaRPr b="0" lang="en-IN" sz="1200" spc="-1" strike="noStrike">
              <a:latin typeface="Arial"/>
            </a:endParaRPr>
          </a:p>
        </p:txBody>
      </p:sp>
      <p:sp>
        <p:nvSpPr>
          <p:cNvPr id="363" name="Text 14"/>
          <p:cNvSpPr/>
          <p:nvPr/>
        </p:nvSpPr>
        <p:spPr>
          <a:xfrm>
            <a:off x="4046400" y="1737360"/>
            <a:ext cx="17827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94a3b8"/>
                </a:solidFill>
                <a:latin typeface="Calibri"/>
                <a:ea typeface="Calibri"/>
              </a:rPr>
              <a:t>8 hypotheses</a:t>
            </a:r>
            <a:endParaRPr b="0" lang="en-IN" sz="1100" spc="-1" strike="noStrike">
              <a:latin typeface="Arial"/>
            </a:endParaRPr>
          </a:p>
        </p:txBody>
      </p:sp>
      <p:sp>
        <p:nvSpPr>
          <p:cNvPr id="364" name="Text 15"/>
          <p:cNvSpPr/>
          <p:nvPr/>
        </p:nvSpPr>
        <p:spPr>
          <a:xfrm>
            <a:off x="3406320" y="2148840"/>
            <a:ext cx="2331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299" strike="noStrike">
                <a:solidFill>
                  <a:srgbClr val="f97316"/>
                </a:solidFill>
                <a:latin typeface="Calibri"/>
                <a:ea typeface="Calibri"/>
              </a:rPr>
              <a:t>EXTERNAL ADVANTAGE</a:t>
            </a:r>
            <a:endParaRPr b="0" lang="en-IN" sz="900" spc="-1" strike="noStrike">
              <a:latin typeface="Arial"/>
            </a:endParaRPr>
          </a:p>
        </p:txBody>
      </p:sp>
      <p:sp>
        <p:nvSpPr>
          <p:cNvPr id="365" name="Text 16"/>
          <p:cNvSpPr/>
          <p:nvPr/>
        </p:nvSpPr>
        <p:spPr>
          <a:xfrm>
            <a:off x="3406320" y="2395800"/>
            <a:ext cx="233136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Confirmatory · McNemar exact + Wilcoxon · Holm–Bonferroni rank-1 α = 0.00625</a:t>
            </a:r>
            <a:endParaRPr b="0" lang="en-IN" sz="950" spc="-1" strike="noStrike">
              <a:latin typeface="Arial"/>
            </a:endParaRPr>
          </a:p>
        </p:txBody>
      </p:sp>
      <p:sp>
        <p:nvSpPr>
          <p:cNvPr id="366" name="Text 17"/>
          <p:cNvSpPr/>
          <p:nvPr/>
        </p:nvSpPr>
        <p:spPr>
          <a:xfrm>
            <a:off x="3452040" y="3063240"/>
            <a:ext cx="2285640" cy="118836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B-H1 vs Baseline 1 (HR@3)</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B-H2 vs Baseline 2 (HR@3)</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B-H3 vs Baseline 3 (HR@3)</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B-H4 vs Baseline 4 (HR@3)</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B-H5 vs Baseline 5 (HR@3)</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B-H6 log-MTTR vs best</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B-H7 log-Cost vs best</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B-H8 Avg@5 vs best</a:t>
            </a:r>
            <a:endParaRPr b="0" lang="en-IN" sz="900" spc="-1" strike="noStrike">
              <a:latin typeface="Arial"/>
            </a:endParaRPr>
          </a:p>
        </p:txBody>
      </p:sp>
      <p:sp>
        <p:nvSpPr>
          <p:cNvPr id="367" name="Shape 18"/>
          <p:cNvSpPr/>
          <p:nvPr/>
        </p:nvSpPr>
        <p:spPr>
          <a:xfrm>
            <a:off x="6085440" y="1280160"/>
            <a:ext cx="2788560" cy="3108600"/>
          </a:xfrm>
          <a:prstGeom prst="rect">
            <a:avLst/>
          </a:prstGeom>
          <a:solidFill>
            <a:srgbClr val="1b263b"/>
          </a:solidFill>
          <a:ln w="9525">
            <a:solidFill>
              <a:srgbClr val="334155"/>
            </a:solidFill>
            <a:round/>
          </a:ln>
        </p:spPr>
        <p:style>
          <a:lnRef idx="0"/>
          <a:fillRef idx="0"/>
          <a:effectRef idx="0"/>
          <a:fontRef idx="minor"/>
        </p:style>
      </p:sp>
      <p:sp>
        <p:nvSpPr>
          <p:cNvPr id="368" name="Shape 19"/>
          <p:cNvSpPr/>
          <p:nvPr/>
        </p:nvSpPr>
        <p:spPr>
          <a:xfrm>
            <a:off x="6314040" y="1508760"/>
            <a:ext cx="502560" cy="502560"/>
          </a:xfrm>
          <a:prstGeom prst="ellipse">
            <a:avLst/>
          </a:prstGeom>
          <a:solidFill>
            <a:srgbClr val="a78bfa"/>
          </a:solidFill>
          <a:ln w="12700">
            <a:solidFill>
              <a:srgbClr val="a78bfa"/>
            </a:solidFill>
            <a:round/>
          </a:ln>
        </p:spPr>
        <p:style>
          <a:lnRef idx="0"/>
          <a:fillRef idx="0"/>
          <a:effectRef idx="0"/>
          <a:fontRef idx="minor"/>
        </p:style>
      </p:sp>
      <p:sp>
        <p:nvSpPr>
          <p:cNvPr id="369" name="Text 20"/>
          <p:cNvSpPr/>
          <p:nvPr/>
        </p:nvSpPr>
        <p:spPr>
          <a:xfrm>
            <a:off x="6314040" y="1508760"/>
            <a:ext cx="502560" cy="5025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2400" spc="-1" strike="noStrike">
                <a:solidFill>
                  <a:srgbClr val="0d1b2a"/>
                </a:solidFill>
                <a:latin typeface="Calibri"/>
                <a:ea typeface="Calibri"/>
              </a:rPr>
              <a:t>E</a:t>
            </a:r>
            <a:endParaRPr b="0" lang="en-IN" sz="2400" spc="-1" strike="noStrike">
              <a:latin typeface="Arial"/>
            </a:endParaRPr>
          </a:p>
        </p:txBody>
      </p:sp>
      <p:sp>
        <p:nvSpPr>
          <p:cNvPr id="370" name="Text 21"/>
          <p:cNvSpPr/>
          <p:nvPr/>
        </p:nvSpPr>
        <p:spPr>
          <a:xfrm>
            <a:off x="6954120" y="1463040"/>
            <a:ext cx="17827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a78bfa"/>
                </a:solidFill>
                <a:latin typeface="Calibri"/>
                <a:ea typeface="Calibri"/>
              </a:rPr>
              <a:t>EXPLORATORY</a:t>
            </a:r>
            <a:endParaRPr b="0" lang="en-IN" sz="1200" spc="-1" strike="noStrike">
              <a:latin typeface="Arial"/>
            </a:endParaRPr>
          </a:p>
        </p:txBody>
      </p:sp>
      <p:sp>
        <p:nvSpPr>
          <p:cNvPr id="371" name="Text 22"/>
          <p:cNvSpPr/>
          <p:nvPr/>
        </p:nvSpPr>
        <p:spPr>
          <a:xfrm>
            <a:off x="6954120" y="1737360"/>
            <a:ext cx="17827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100" spc="-1" strike="noStrike">
                <a:solidFill>
                  <a:srgbClr val="94a3b8"/>
                </a:solidFill>
                <a:latin typeface="Calibri"/>
                <a:ea typeface="Calibri"/>
              </a:rPr>
              <a:t>10 hypotheses</a:t>
            </a:r>
            <a:endParaRPr b="0" lang="en-IN" sz="1100" spc="-1" strike="noStrike">
              <a:latin typeface="Arial"/>
            </a:endParaRPr>
          </a:p>
        </p:txBody>
      </p:sp>
      <p:sp>
        <p:nvSpPr>
          <p:cNvPr id="372" name="Text 23"/>
          <p:cNvSpPr/>
          <p:nvPr/>
        </p:nvSpPr>
        <p:spPr>
          <a:xfrm>
            <a:off x="6314040" y="2148840"/>
            <a:ext cx="233136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00" spc="299" strike="noStrike">
                <a:solidFill>
                  <a:srgbClr val="f97316"/>
                </a:solidFill>
                <a:latin typeface="Calibri"/>
                <a:ea typeface="Calibri"/>
              </a:rPr>
              <a:t>FUTURE PRE-REG</a:t>
            </a:r>
            <a:endParaRPr b="0" lang="en-IN" sz="900" spc="-1" strike="noStrike">
              <a:latin typeface="Arial"/>
            </a:endParaRPr>
          </a:p>
        </p:txBody>
      </p:sp>
      <p:sp>
        <p:nvSpPr>
          <p:cNvPr id="373" name="Text 24"/>
          <p:cNvSpPr/>
          <p:nvPr/>
        </p:nvSpPr>
        <p:spPr>
          <a:xfrm>
            <a:off x="6314040" y="2395800"/>
            <a:ext cx="2331360" cy="639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Point estimates + 95% BCa bootstrap CI · No FWER correction</a:t>
            </a:r>
            <a:endParaRPr b="0" lang="en-IN" sz="950" spc="-1" strike="noStrike">
              <a:latin typeface="Arial"/>
            </a:endParaRPr>
          </a:p>
        </p:txBody>
      </p:sp>
      <p:sp>
        <p:nvSpPr>
          <p:cNvPr id="374" name="Text 25"/>
          <p:cNvSpPr/>
          <p:nvPr/>
        </p:nvSpPr>
        <p:spPr>
          <a:xfrm>
            <a:off x="6359760" y="3063240"/>
            <a:ext cx="2285640" cy="118836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E-H1 Cognitive (n=12)</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E-H2/H3 Routing diagnostics</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E-H4 FGSV synthetic</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E-H5 Online RRE</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E-H6 IOL detection latency</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E-H7 User study (n=24)</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E-H8/H9 Drift / cost</a:t>
            </a:r>
            <a:endParaRPr b="0" lang="en-IN" sz="900" spc="-1" strike="noStrike">
              <a:latin typeface="Arial"/>
            </a:endParaRPr>
          </a:p>
          <a:p>
            <a:pPr marL="343080" indent="-343080">
              <a:lnSpc>
                <a:spcPct val="100000"/>
              </a:lnSpc>
              <a:buClr>
                <a:srgbClr val="f8fafc"/>
              </a:buClr>
              <a:buFont typeface="Symbol" charset="2"/>
              <a:buChar char=""/>
            </a:pPr>
            <a:r>
              <a:rPr b="0" lang="en-US" sz="900" spc="-1" strike="noStrike">
                <a:solidFill>
                  <a:srgbClr val="f8fafc"/>
                </a:solidFill>
                <a:latin typeface="Calibri"/>
                <a:ea typeface="Calibri"/>
              </a:rPr>
              <a:t>E-H10 Bundle attribution</a:t>
            </a:r>
            <a:endParaRPr b="0" lang="en-IN" sz="900" spc="-1" strike="noStrike">
              <a:latin typeface="Arial"/>
            </a:endParaRPr>
          </a:p>
        </p:txBody>
      </p:sp>
      <p:sp>
        <p:nvSpPr>
          <p:cNvPr id="375" name="Shape 26"/>
          <p:cNvSpPr/>
          <p:nvPr/>
        </p:nvSpPr>
        <p:spPr>
          <a:xfrm>
            <a:off x="457200" y="4434840"/>
            <a:ext cx="8595000" cy="365400"/>
          </a:xfrm>
          <a:prstGeom prst="rect">
            <a:avLst/>
          </a:prstGeom>
          <a:solidFill>
            <a:srgbClr val="243549"/>
          </a:solidFill>
          <a:ln w="9525">
            <a:solidFill>
              <a:srgbClr val="334155"/>
            </a:solidFill>
            <a:round/>
          </a:ln>
        </p:spPr>
        <p:style>
          <a:lnRef idx="0"/>
          <a:fillRef idx="0"/>
          <a:effectRef idx="0"/>
          <a:fontRef idx="minor"/>
        </p:style>
      </p:sp>
      <p:sp>
        <p:nvSpPr>
          <p:cNvPr id="376" name="Shape 27"/>
          <p:cNvSpPr/>
          <p:nvPr/>
        </p:nvSpPr>
        <p:spPr>
          <a:xfrm>
            <a:off x="457200" y="4434840"/>
            <a:ext cx="54360" cy="365400"/>
          </a:xfrm>
          <a:prstGeom prst="rect">
            <a:avLst/>
          </a:prstGeom>
          <a:solidFill>
            <a:srgbClr val="f97316"/>
          </a:solidFill>
          <a:ln w="12700">
            <a:solidFill>
              <a:srgbClr val="f97316"/>
            </a:solidFill>
            <a:round/>
          </a:ln>
        </p:spPr>
        <p:style>
          <a:lnRef idx="0"/>
          <a:fillRef idx="0"/>
          <a:effectRef idx="0"/>
          <a:fontRef idx="minor"/>
        </p:style>
      </p:sp>
      <p:sp>
        <p:nvSpPr>
          <p:cNvPr id="377" name="Text 28"/>
          <p:cNvSpPr/>
          <p:nvPr/>
        </p:nvSpPr>
        <p:spPr>
          <a:xfrm>
            <a:off x="640080" y="4434840"/>
            <a:ext cx="836640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100" spc="-1" strike="noStrike">
                <a:solidFill>
                  <a:srgbClr val="f8fafc"/>
                </a:solidFill>
                <a:latin typeface="Calibri"/>
                <a:ea typeface="Calibri"/>
              </a:rPr>
              <a:t>A and B corrected separately because they answer different inferential questions. Pre-registered at OSF freeze — not post-hoc α-padding.</a:t>
            </a:r>
            <a:endParaRPr b="0" lang="en-IN" sz="1100" spc="-1" strike="noStrike">
              <a:latin typeface="Arial"/>
            </a:endParaRPr>
          </a:p>
        </p:txBody>
      </p:sp>
      <p:sp>
        <p:nvSpPr>
          <p:cNvPr id="378" name="Text 29"/>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Problem &amp; Gap</a:t>
            </a:r>
            <a:endParaRPr b="0" lang="en-IN" sz="850" spc="-1" strike="noStrike">
              <a:latin typeface="Arial"/>
            </a:endParaRPr>
          </a:p>
        </p:txBody>
      </p:sp>
      <p:sp>
        <p:nvSpPr>
          <p:cNvPr id="379" name="Text 30"/>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9 / 22</a:t>
            </a:r>
            <a:endParaRPr b="0" lang="en-IN" sz="900" spc="-1" strike="noStrike">
              <a:latin typeface="Arial"/>
            </a:endParaRPr>
          </a:p>
        </p:txBody>
      </p:sp>
      <p:sp>
        <p:nvSpPr>
          <p:cNvPr id="380" name="Shape 31"/>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81"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CONCEPTUAL ↔ FORMAL HYPOTHESIS MAPPING</a:t>
            </a:r>
            <a:endParaRPr b="0" lang="en-IN" sz="1000" spc="-1" strike="noStrike">
              <a:latin typeface="Arial"/>
            </a:endParaRPr>
          </a:p>
        </p:txBody>
      </p:sp>
      <p:sp>
        <p:nvSpPr>
          <p:cNvPr id="382"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Chapter 1 orients the framework — Chapter 3 binds the falsifiable propositions</a:t>
            </a:r>
            <a:endParaRPr b="0" lang="en-IN" sz="2200" spc="-1" strike="noStrike">
              <a:latin typeface="Arial"/>
            </a:endParaRPr>
          </a:p>
        </p:txBody>
      </p:sp>
      <p:sp>
        <p:nvSpPr>
          <p:cNvPr id="383" name="Shape 2"/>
          <p:cNvSpPr/>
          <p:nvPr/>
        </p:nvSpPr>
        <p:spPr>
          <a:xfrm>
            <a:off x="457200" y="1325880"/>
            <a:ext cx="3245760" cy="411120"/>
          </a:xfrm>
          <a:prstGeom prst="rect">
            <a:avLst/>
          </a:prstGeom>
          <a:solidFill>
            <a:srgbClr val="164e63"/>
          </a:solidFill>
          <a:ln w="9525">
            <a:solidFill>
              <a:srgbClr val="334155"/>
            </a:solidFill>
            <a:round/>
          </a:ln>
        </p:spPr>
        <p:style>
          <a:lnRef idx="0"/>
          <a:fillRef idx="0"/>
          <a:effectRef idx="0"/>
          <a:fontRef idx="minor"/>
        </p:style>
      </p:sp>
      <p:sp>
        <p:nvSpPr>
          <p:cNvPr id="384" name="Text 3"/>
          <p:cNvSpPr/>
          <p:nvPr/>
        </p:nvSpPr>
        <p:spPr>
          <a:xfrm>
            <a:off x="594360" y="1325880"/>
            <a:ext cx="310860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a78bfa"/>
                </a:solidFill>
                <a:latin typeface="Calibri"/>
                <a:ea typeface="Calibri"/>
              </a:rPr>
              <a:t>CONCEPTUAL HYPOTHESIS  (§1.8 — orienting)</a:t>
            </a:r>
            <a:endParaRPr b="0" lang="en-IN" sz="950" spc="-1" strike="noStrike">
              <a:latin typeface="Arial"/>
            </a:endParaRPr>
          </a:p>
        </p:txBody>
      </p:sp>
      <p:sp>
        <p:nvSpPr>
          <p:cNvPr id="385" name="Shape 4"/>
          <p:cNvSpPr/>
          <p:nvPr/>
        </p:nvSpPr>
        <p:spPr>
          <a:xfrm>
            <a:off x="3703320" y="1325880"/>
            <a:ext cx="4068720" cy="411120"/>
          </a:xfrm>
          <a:prstGeom prst="rect">
            <a:avLst/>
          </a:prstGeom>
          <a:solidFill>
            <a:srgbClr val="164e63"/>
          </a:solidFill>
          <a:ln w="9525">
            <a:solidFill>
              <a:srgbClr val="334155"/>
            </a:solidFill>
            <a:round/>
          </a:ln>
        </p:spPr>
        <p:style>
          <a:lnRef idx="0"/>
          <a:fillRef idx="0"/>
          <a:effectRef idx="0"/>
          <a:fontRef idx="minor"/>
        </p:style>
      </p:sp>
      <p:sp>
        <p:nvSpPr>
          <p:cNvPr id="386" name="Text 5"/>
          <p:cNvSpPr/>
          <p:nvPr/>
        </p:nvSpPr>
        <p:spPr>
          <a:xfrm>
            <a:off x="3840480" y="1325880"/>
            <a:ext cx="393156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06b6d4"/>
                </a:solidFill>
                <a:latin typeface="Calibri"/>
                <a:ea typeface="Calibri"/>
              </a:rPr>
              <a:t>FORMAL OPERATIONALISATION  (§3.8.1 — pre-registered, binding)</a:t>
            </a:r>
            <a:endParaRPr b="0" lang="en-IN" sz="950" spc="-1" strike="noStrike">
              <a:latin typeface="Arial"/>
            </a:endParaRPr>
          </a:p>
        </p:txBody>
      </p:sp>
      <p:sp>
        <p:nvSpPr>
          <p:cNvPr id="387" name="Shape 6"/>
          <p:cNvSpPr/>
          <p:nvPr/>
        </p:nvSpPr>
        <p:spPr>
          <a:xfrm>
            <a:off x="7772400" y="1325880"/>
            <a:ext cx="1279800" cy="411120"/>
          </a:xfrm>
          <a:prstGeom prst="rect">
            <a:avLst/>
          </a:prstGeom>
          <a:solidFill>
            <a:srgbClr val="164e63"/>
          </a:solidFill>
          <a:ln w="9525">
            <a:solidFill>
              <a:srgbClr val="334155"/>
            </a:solidFill>
            <a:round/>
          </a:ln>
        </p:spPr>
        <p:style>
          <a:lnRef idx="0"/>
          <a:fillRef idx="0"/>
          <a:effectRef idx="0"/>
          <a:fontRef idx="minor"/>
        </p:style>
      </p:sp>
      <p:sp>
        <p:nvSpPr>
          <p:cNvPr id="388" name="Text 7"/>
          <p:cNvSpPr/>
          <p:nvPr/>
        </p:nvSpPr>
        <p:spPr>
          <a:xfrm>
            <a:off x="7909560" y="1325880"/>
            <a:ext cx="11426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94a3b8"/>
                </a:solidFill>
                <a:latin typeface="Calibri"/>
                <a:ea typeface="Calibri"/>
              </a:rPr>
              <a:t>NOTE</a:t>
            </a:r>
            <a:endParaRPr b="0" lang="en-IN" sz="950" spc="-1" strike="noStrike">
              <a:latin typeface="Arial"/>
            </a:endParaRPr>
          </a:p>
        </p:txBody>
      </p:sp>
      <p:sp>
        <p:nvSpPr>
          <p:cNvPr id="389" name="Shape 8"/>
          <p:cNvSpPr/>
          <p:nvPr/>
        </p:nvSpPr>
        <p:spPr>
          <a:xfrm>
            <a:off x="457200" y="1737360"/>
            <a:ext cx="3245760" cy="712800"/>
          </a:xfrm>
          <a:prstGeom prst="rect">
            <a:avLst/>
          </a:prstGeom>
          <a:solidFill>
            <a:srgbClr val="162236"/>
          </a:solidFill>
          <a:ln w="6350">
            <a:solidFill>
              <a:srgbClr val="334155"/>
            </a:solidFill>
            <a:round/>
          </a:ln>
        </p:spPr>
        <p:style>
          <a:lnRef idx="0"/>
          <a:fillRef idx="0"/>
          <a:effectRef idx="0"/>
          <a:fontRef idx="minor"/>
        </p:style>
      </p:sp>
      <p:sp>
        <p:nvSpPr>
          <p:cNvPr id="390" name="Text 9"/>
          <p:cNvSpPr/>
          <p:nvPr/>
        </p:nvSpPr>
        <p:spPr>
          <a:xfrm>
            <a:off x="621720" y="1737360"/>
            <a:ext cx="306288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a78bfa"/>
                </a:solidFill>
                <a:latin typeface="Calibri"/>
                <a:ea typeface="Calibri"/>
              </a:rPr>
              <a:t>H1  </a:t>
            </a:r>
            <a:r>
              <a:rPr b="0" i="1" lang="en-US" sz="1200" spc="-1" strike="noStrike">
                <a:solidFill>
                  <a:srgbClr val="f8fafc"/>
                </a:solidFill>
                <a:latin typeface="Calibri"/>
                <a:ea typeface="Calibri"/>
              </a:rPr>
              <a:t>Hybrid AI reduces MTTR</a:t>
            </a:r>
            <a:endParaRPr b="0" lang="en-IN" sz="1200" spc="-1" strike="noStrike">
              <a:latin typeface="Arial"/>
            </a:endParaRPr>
          </a:p>
        </p:txBody>
      </p:sp>
      <p:sp>
        <p:nvSpPr>
          <p:cNvPr id="391" name="Shape 10"/>
          <p:cNvSpPr/>
          <p:nvPr/>
        </p:nvSpPr>
        <p:spPr>
          <a:xfrm>
            <a:off x="3703320" y="1737360"/>
            <a:ext cx="4068720" cy="712800"/>
          </a:xfrm>
          <a:prstGeom prst="rect">
            <a:avLst/>
          </a:prstGeom>
          <a:solidFill>
            <a:srgbClr val="1b263b"/>
          </a:solidFill>
          <a:ln w="6350">
            <a:solidFill>
              <a:srgbClr val="334155"/>
            </a:solidFill>
            <a:round/>
          </a:ln>
        </p:spPr>
        <p:style>
          <a:lnRef idx="0"/>
          <a:fillRef idx="0"/>
          <a:effectRef idx="0"/>
          <a:fontRef idx="minor"/>
        </p:style>
      </p:sp>
      <p:sp>
        <p:nvSpPr>
          <p:cNvPr id="392" name="Text 11"/>
          <p:cNvSpPr/>
          <p:nvPr/>
        </p:nvSpPr>
        <p:spPr>
          <a:xfrm>
            <a:off x="3867840" y="1737360"/>
            <a:ext cx="388584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06b6d4"/>
                </a:solidFill>
                <a:latin typeface="Calibri"/>
                <a:ea typeface="Calibri"/>
              </a:rPr>
              <a:t>→  </a:t>
            </a:r>
            <a:r>
              <a:rPr b="1" lang="en-US" sz="1200" spc="-1" strike="noStrike">
                <a:solidFill>
                  <a:srgbClr val="06b6d4"/>
                </a:solidFill>
                <a:latin typeface="Calibri"/>
                <a:ea typeface="Calibri"/>
              </a:rPr>
              <a:t>B-H6  +  A-H1 · A-H2 · A-H3</a:t>
            </a:r>
            <a:endParaRPr b="0" lang="en-IN" sz="1200" spc="-1" strike="noStrike">
              <a:latin typeface="Arial"/>
            </a:endParaRPr>
          </a:p>
        </p:txBody>
      </p:sp>
      <p:sp>
        <p:nvSpPr>
          <p:cNvPr id="393" name="Shape 12"/>
          <p:cNvSpPr/>
          <p:nvPr/>
        </p:nvSpPr>
        <p:spPr>
          <a:xfrm>
            <a:off x="7772400" y="1737360"/>
            <a:ext cx="1279800" cy="712800"/>
          </a:xfrm>
          <a:prstGeom prst="rect">
            <a:avLst/>
          </a:prstGeom>
          <a:solidFill>
            <a:srgbClr val="162236"/>
          </a:solidFill>
          <a:ln w="6350">
            <a:solidFill>
              <a:srgbClr val="334155"/>
            </a:solidFill>
            <a:round/>
          </a:ln>
        </p:spPr>
        <p:style>
          <a:lnRef idx="0"/>
          <a:fillRef idx="0"/>
          <a:effectRef idx="0"/>
          <a:fontRef idx="minor"/>
        </p:style>
      </p:sp>
      <p:sp>
        <p:nvSpPr>
          <p:cNvPr id="394" name="Text 13"/>
          <p:cNvSpPr/>
          <p:nvPr/>
        </p:nvSpPr>
        <p:spPr>
          <a:xfrm>
            <a:off x="7909560" y="1737360"/>
            <a:ext cx="109692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decomposed by ablation</a:t>
            </a:r>
            <a:endParaRPr b="0" lang="en-IN" sz="950" spc="-1" strike="noStrike">
              <a:latin typeface="Arial"/>
            </a:endParaRPr>
          </a:p>
        </p:txBody>
      </p:sp>
      <p:sp>
        <p:nvSpPr>
          <p:cNvPr id="395" name="Shape 14"/>
          <p:cNvSpPr/>
          <p:nvPr/>
        </p:nvSpPr>
        <p:spPr>
          <a:xfrm>
            <a:off x="457200" y="2450520"/>
            <a:ext cx="3245760" cy="712800"/>
          </a:xfrm>
          <a:prstGeom prst="rect">
            <a:avLst/>
          </a:prstGeom>
          <a:solidFill>
            <a:srgbClr val="162236"/>
          </a:solidFill>
          <a:ln w="6350">
            <a:solidFill>
              <a:srgbClr val="334155"/>
            </a:solidFill>
            <a:round/>
          </a:ln>
        </p:spPr>
        <p:style>
          <a:lnRef idx="0"/>
          <a:fillRef idx="0"/>
          <a:effectRef idx="0"/>
          <a:fontRef idx="minor"/>
        </p:style>
      </p:sp>
      <p:sp>
        <p:nvSpPr>
          <p:cNvPr id="396" name="Text 15"/>
          <p:cNvSpPr/>
          <p:nvPr/>
        </p:nvSpPr>
        <p:spPr>
          <a:xfrm>
            <a:off x="621720" y="2450520"/>
            <a:ext cx="306288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a78bfa"/>
                </a:solidFill>
                <a:latin typeface="Calibri"/>
                <a:ea typeface="Calibri"/>
              </a:rPr>
              <a:t>H2  </a:t>
            </a:r>
            <a:r>
              <a:rPr b="0" i="1" lang="en-US" sz="1200" spc="-1" strike="noStrike">
                <a:solidFill>
                  <a:srgbClr val="f8fafc"/>
                </a:solidFill>
                <a:latin typeface="Calibri"/>
                <a:ea typeface="Calibri"/>
              </a:rPr>
              <a:t>Multimodal data improves accuracy</a:t>
            </a:r>
            <a:endParaRPr b="0" lang="en-IN" sz="1200" spc="-1" strike="noStrike">
              <a:latin typeface="Arial"/>
            </a:endParaRPr>
          </a:p>
        </p:txBody>
      </p:sp>
      <p:sp>
        <p:nvSpPr>
          <p:cNvPr id="397" name="Shape 16"/>
          <p:cNvSpPr/>
          <p:nvPr/>
        </p:nvSpPr>
        <p:spPr>
          <a:xfrm>
            <a:off x="3703320" y="2450520"/>
            <a:ext cx="4068720" cy="712800"/>
          </a:xfrm>
          <a:prstGeom prst="rect">
            <a:avLst/>
          </a:prstGeom>
          <a:solidFill>
            <a:srgbClr val="1b263b"/>
          </a:solidFill>
          <a:ln w="6350">
            <a:solidFill>
              <a:srgbClr val="334155"/>
            </a:solidFill>
            <a:round/>
          </a:ln>
        </p:spPr>
        <p:style>
          <a:lnRef idx="0"/>
          <a:fillRef idx="0"/>
          <a:effectRef idx="0"/>
          <a:fontRef idx="minor"/>
        </p:style>
      </p:sp>
      <p:sp>
        <p:nvSpPr>
          <p:cNvPr id="398" name="Text 17"/>
          <p:cNvSpPr/>
          <p:nvPr/>
        </p:nvSpPr>
        <p:spPr>
          <a:xfrm>
            <a:off x="3867840" y="2450520"/>
            <a:ext cx="388584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06b6d4"/>
                </a:solidFill>
                <a:latin typeface="Calibri"/>
                <a:ea typeface="Calibri"/>
              </a:rPr>
              <a:t>→  </a:t>
            </a:r>
            <a:r>
              <a:rPr b="1" lang="en-US" sz="1200" spc="-1" strike="noStrike">
                <a:solidFill>
                  <a:srgbClr val="06b6d4"/>
                </a:solidFill>
                <a:latin typeface="Calibri"/>
                <a:ea typeface="Calibri"/>
              </a:rPr>
              <a:t>B-H1 … B-H5  +  A-H8</a:t>
            </a:r>
            <a:endParaRPr b="0" lang="en-IN" sz="1200" spc="-1" strike="noStrike">
              <a:latin typeface="Arial"/>
            </a:endParaRPr>
          </a:p>
        </p:txBody>
      </p:sp>
      <p:sp>
        <p:nvSpPr>
          <p:cNvPr id="399" name="Shape 18"/>
          <p:cNvSpPr/>
          <p:nvPr/>
        </p:nvSpPr>
        <p:spPr>
          <a:xfrm>
            <a:off x="7772400" y="2450520"/>
            <a:ext cx="1279800" cy="712800"/>
          </a:xfrm>
          <a:prstGeom prst="rect">
            <a:avLst/>
          </a:prstGeom>
          <a:solidFill>
            <a:srgbClr val="162236"/>
          </a:solidFill>
          <a:ln w="6350">
            <a:solidFill>
              <a:srgbClr val="334155"/>
            </a:solidFill>
            <a:round/>
          </a:ln>
        </p:spPr>
        <p:style>
          <a:lnRef idx="0"/>
          <a:fillRef idx="0"/>
          <a:effectRef idx="0"/>
          <a:fontRef idx="minor"/>
        </p:style>
      </p:sp>
      <p:sp>
        <p:nvSpPr>
          <p:cNvPr id="400" name="Text 19"/>
          <p:cNvSpPr/>
          <p:nvPr/>
        </p:nvSpPr>
        <p:spPr>
          <a:xfrm>
            <a:off x="7909560" y="2450520"/>
            <a:ext cx="109692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bundle-level test</a:t>
            </a:r>
            <a:endParaRPr b="0" lang="en-IN" sz="950" spc="-1" strike="noStrike">
              <a:latin typeface="Arial"/>
            </a:endParaRPr>
          </a:p>
        </p:txBody>
      </p:sp>
      <p:sp>
        <p:nvSpPr>
          <p:cNvPr id="401" name="Shape 20"/>
          <p:cNvSpPr/>
          <p:nvPr/>
        </p:nvSpPr>
        <p:spPr>
          <a:xfrm>
            <a:off x="457200" y="3163680"/>
            <a:ext cx="3245760" cy="712800"/>
          </a:xfrm>
          <a:prstGeom prst="rect">
            <a:avLst/>
          </a:prstGeom>
          <a:solidFill>
            <a:srgbClr val="162236"/>
          </a:solidFill>
          <a:ln w="6350">
            <a:solidFill>
              <a:srgbClr val="334155"/>
            </a:solidFill>
            <a:round/>
          </a:ln>
        </p:spPr>
        <p:style>
          <a:lnRef idx="0"/>
          <a:fillRef idx="0"/>
          <a:effectRef idx="0"/>
          <a:fontRef idx="minor"/>
        </p:style>
      </p:sp>
      <p:sp>
        <p:nvSpPr>
          <p:cNvPr id="402" name="Text 21"/>
          <p:cNvSpPr/>
          <p:nvPr/>
        </p:nvSpPr>
        <p:spPr>
          <a:xfrm>
            <a:off x="621720" y="3163680"/>
            <a:ext cx="306288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a78bfa"/>
                </a:solidFill>
                <a:latin typeface="Calibri"/>
                <a:ea typeface="Calibri"/>
              </a:rPr>
              <a:t>H3  </a:t>
            </a:r>
            <a:r>
              <a:rPr b="0" i="1" lang="en-US" sz="1200" spc="-1" strike="noStrike">
                <a:solidFill>
                  <a:srgbClr val="f8fafc"/>
                </a:solidFill>
                <a:latin typeface="Calibri"/>
                <a:ea typeface="Calibri"/>
              </a:rPr>
              <a:t>Explainable AI builds operations-team trust</a:t>
            </a:r>
            <a:endParaRPr b="0" lang="en-IN" sz="1200" spc="-1" strike="noStrike">
              <a:latin typeface="Arial"/>
            </a:endParaRPr>
          </a:p>
        </p:txBody>
      </p:sp>
      <p:sp>
        <p:nvSpPr>
          <p:cNvPr id="403" name="Shape 22"/>
          <p:cNvSpPr/>
          <p:nvPr/>
        </p:nvSpPr>
        <p:spPr>
          <a:xfrm>
            <a:off x="3703320" y="3163680"/>
            <a:ext cx="4068720" cy="712800"/>
          </a:xfrm>
          <a:prstGeom prst="rect">
            <a:avLst/>
          </a:prstGeom>
          <a:solidFill>
            <a:srgbClr val="1b263b"/>
          </a:solidFill>
          <a:ln w="6350">
            <a:solidFill>
              <a:srgbClr val="334155"/>
            </a:solidFill>
            <a:round/>
          </a:ln>
        </p:spPr>
        <p:style>
          <a:lnRef idx="0"/>
          <a:fillRef idx="0"/>
          <a:effectRef idx="0"/>
          <a:fontRef idx="minor"/>
        </p:style>
      </p:sp>
      <p:sp>
        <p:nvSpPr>
          <p:cNvPr id="404" name="Text 23"/>
          <p:cNvSpPr/>
          <p:nvPr/>
        </p:nvSpPr>
        <p:spPr>
          <a:xfrm>
            <a:off x="3867840" y="3163680"/>
            <a:ext cx="388584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06b6d4"/>
                </a:solidFill>
                <a:latin typeface="Calibri"/>
                <a:ea typeface="Calibri"/>
              </a:rPr>
              <a:t>→  </a:t>
            </a:r>
            <a:r>
              <a:rPr b="1" lang="en-US" sz="1200" spc="-1" strike="noStrike">
                <a:solidFill>
                  <a:srgbClr val="06b6d4"/>
                </a:solidFill>
                <a:latin typeface="Calibri"/>
                <a:ea typeface="Calibri"/>
              </a:rPr>
              <a:t>E-H7</a:t>
            </a:r>
            <a:endParaRPr b="0" lang="en-IN" sz="1200" spc="-1" strike="noStrike">
              <a:latin typeface="Arial"/>
            </a:endParaRPr>
          </a:p>
        </p:txBody>
      </p:sp>
      <p:sp>
        <p:nvSpPr>
          <p:cNvPr id="405" name="Shape 24"/>
          <p:cNvSpPr/>
          <p:nvPr/>
        </p:nvSpPr>
        <p:spPr>
          <a:xfrm>
            <a:off x="7772400" y="3163680"/>
            <a:ext cx="1279800" cy="712800"/>
          </a:xfrm>
          <a:prstGeom prst="rect">
            <a:avLst/>
          </a:prstGeom>
          <a:solidFill>
            <a:srgbClr val="162236"/>
          </a:solidFill>
          <a:ln w="6350">
            <a:solidFill>
              <a:srgbClr val="334155"/>
            </a:solidFill>
            <a:round/>
          </a:ln>
        </p:spPr>
        <p:style>
          <a:lnRef idx="0"/>
          <a:fillRef idx="0"/>
          <a:effectRef idx="0"/>
          <a:fontRef idx="minor"/>
        </p:style>
      </p:sp>
      <p:sp>
        <p:nvSpPr>
          <p:cNvPr id="406" name="Text 25"/>
          <p:cNvSpPr/>
          <p:nvPr/>
        </p:nvSpPr>
        <p:spPr>
          <a:xfrm>
            <a:off x="7909560" y="3163680"/>
            <a:ext cx="109692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user study, n = 24</a:t>
            </a:r>
            <a:endParaRPr b="0" lang="en-IN" sz="950" spc="-1" strike="noStrike">
              <a:latin typeface="Arial"/>
            </a:endParaRPr>
          </a:p>
        </p:txBody>
      </p:sp>
      <p:sp>
        <p:nvSpPr>
          <p:cNvPr id="407" name="Shape 26"/>
          <p:cNvSpPr/>
          <p:nvPr/>
        </p:nvSpPr>
        <p:spPr>
          <a:xfrm>
            <a:off x="457200" y="3877200"/>
            <a:ext cx="3245760" cy="712800"/>
          </a:xfrm>
          <a:prstGeom prst="rect">
            <a:avLst/>
          </a:prstGeom>
          <a:solidFill>
            <a:srgbClr val="162236"/>
          </a:solidFill>
          <a:ln w="6350">
            <a:solidFill>
              <a:srgbClr val="334155"/>
            </a:solidFill>
            <a:round/>
          </a:ln>
        </p:spPr>
        <p:style>
          <a:lnRef idx="0"/>
          <a:fillRef idx="0"/>
          <a:effectRef idx="0"/>
          <a:fontRef idx="minor"/>
        </p:style>
      </p:sp>
      <p:sp>
        <p:nvSpPr>
          <p:cNvPr id="408" name="Text 27"/>
          <p:cNvSpPr/>
          <p:nvPr/>
        </p:nvSpPr>
        <p:spPr>
          <a:xfrm>
            <a:off x="621720" y="3877200"/>
            <a:ext cx="306288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a78bfa"/>
                </a:solidFill>
                <a:latin typeface="Calibri"/>
                <a:ea typeface="Calibri"/>
              </a:rPr>
              <a:t>H4  </a:t>
            </a:r>
            <a:r>
              <a:rPr b="0" i="1" lang="en-US" sz="1200" spc="-1" strike="noStrike">
                <a:solidFill>
                  <a:srgbClr val="f8fafc"/>
                </a:solidFill>
                <a:latin typeface="Calibri"/>
                <a:ea typeface="Calibri"/>
              </a:rPr>
              <a:t>Hybrid systems scale better</a:t>
            </a:r>
            <a:endParaRPr b="0" lang="en-IN" sz="1200" spc="-1" strike="noStrike">
              <a:latin typeface="Arial"/>
            </a:endParaRPr>
          </a:p>
        </p:txBody>
      </p:sp>
      <p:sp>
        <p:nvSpPr>
          <p:cNvPr id="409" name="Shape 28"/>
          <p:cNvSpPr/>
          <p:nvPr/>
        </p:nvSpPr>
        <p:spPr>
          <a:xfrm>
            <a:off x="3703320" y="3877200"/>
            <a:ext cx="4068720" cy="712800"/>
          </a:xfrm>
          <a:prstGeom prst="rect">
            <a:avLst/>
          </a:prstGeom>
          <a:solidFill>
            <a:srgbClr val="1b263b"/>
          </a:solidFill>
          <a:ln w="6350">
            <a:solidFill>
              <a:srgbClr val="334155"/>
            </a:solidFill>
            <a:round/>
          </a:ln>
        </p:spPr>
        <p:style>
          <a:lnRef idx="0"/>
          <a:fillRef idx="0"/>
          <a:effectRef idx="0"/>
          <a:fontRef idx="minor"/>
        </p:style>
      </p:sp>
      <p:sp>
        <p:nvSpPr>
          <p:cNvPr id="410" name="Text 29"/>
          <p:cNvSpPr/>
          <p:nvPr/>
        </p:nvSpPr>
        <p:spPr>
          <a:xfrm>
            <a:off x="3867840" y="3877200"/>
            <a:ext cx="388584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400" spc="-1" strike="noStrike">
                <a:solidFill>
                  <a:srgbClr val="06b6d4"/>
                </a:solidFill>
                <a:latin typeface="Calibri"/>
                <a:ea typeface="Calibri"/>
              </a:rPr>
              <a:t>→  </a:t>
            </a:r>
            <a:r>
              <a:rPr b="1" lang="en-US" sz="1200" spc="-1" strike="noStrike">
                <a:solidFill>
                  <a:srgbClr val="06b6d4"/>
                </a:solidFill>
                <a:latin typeface="Calibri"/>
                <a:ea typeface="Calibri"/>
              </a:rPr>
              <a:t>out of confirmatory scope</a:t>
            </a:r>
            <a:endParaRPr b="0" lang="en-IN" sz="1200" spc="-1" strike="noStrike">
              <a:latin typeface="Arial"/>
            </a:endParaRPr>
          </a:p>
        </p:txBody>
      </p:sp>
      <p:sp>
        <p:nvSpPr>
          <p:cNvPr id="411" name="Shape 30"/>
          <p:cNvSpPr/>
          <p:nvPr/>
        </p:nvSpPr>
        <p:spPr>
          <a:xfrm>
            <a:off x="7772400" y="3877200"/>
            <a:ext cx="1279800" cy="712800"/>
          </a:xfrm>
          <a:prstGeom prst="rect">
            <a:avLst/>
          </a:prstGeom>
          <a:solidFill>
            <a:srgbClr val="162236"/>
          </a:solidFill>
          <a:ln w="6350">
            <a:solidFill>
              <a:srgbClr val="334155"/>
            </a:solidFill>
            <a:round/>
          </a:ln>
        </p:spPr>
        <p:style>
          <a:lnRef idx="0"/>
          <a:fillRef idx="0"/>
          <a:effectRef idx="0"/>
          <a:fontRef idx="minor"/>
        </p:style>
      </p:sp>
      <p:sp>
        <p:nvSpPr>
          <p:cNvPr id="412" name="Text 31"/>
          <p:cNvSpPr/>
          <p:nvPr/>
        </p:nvSpPr>
        <p:spPr>
          <a:xfrm>
            <a:off x="7909560" y="3877200"/>
            <a:ext cx="1096920" cy="712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separate scaling experiment §3.11.5</a:t>
            </a:r>
            <a:endParaRPr b="0" lang="en-IN" sz="950" spc="-1" strike="noStrike">
              <a:latin typeface="Arial"/>
            </a:endParaRPr>
          </a:p>
        </p:txBody>
      </p:sp>
      <p:sp>
        <p:nvSpPr>
          <p:cNvPr id="413" name="Shape 32"/>
          <p:cNvSpPr/>
          <p:nvPr/>
        </p:nvSpPr>
        <p:spPr>
          <a:xfrm>
            <a:off x="457200" y="4434840"/>
            <a:ext cx="8595000" cy="365400"/>
          </a:xfrm>
          <a:prstGeom prst="rect">
            <a:avLst/>
          </a:prstGeom>
          <a:solidFill>
            <a:srgbClr val="243549"/>
          </a:solidFill>
          <a:ln w="9525">
            <a:solidFill>
              <a:srgbClr val="334155"/>
            </a:solidFill>
            <a:round/>
          </a:ln>
        </p:spPr>
        <p:style>
          <a:lnRef idx="0"/>
          <a:fillRef idx="0"/>
          <a:effectRef idx="0"/>
          <a:fontRef idx="minor"/>
        </p:style>
      </p:sp>
      <p:sp>
        <p:nvSpPr>
          <p:cNvPr id="414" name="Shape 33"/>
          <p:cNvSpPr/>
          <p:nvPr/>
        </p:nvSpPr>
        <p:spPr>
          <a:xfrm>
            <a:off x="457200" y="4434840"/>
            <a:ext cx="54360" cy="365400"/>
          </a:xfrm>
          <a:prstGeom prst="rect">
            <a:avLst/>
          </a:prstGeom>
          <a:solidFill>
            <a:srgbClr val="f97316"/>
          </a:solidFill>
          <a:ln w="12700">
            <a:solidFill>
              <a:srgbClr val="f97316"/>
            </a:solidFill>
            <a:round/>
          </a:ln>
        </p:spPr>
        <p:style>
          <a:lnRef idx="0"/>
          <a:fillRef idx="0"/>
          <a:effectRef idx="0"/>
          <a:fontRef idx="minor"/>
        </p:style>
      </p:sp>
      <p:sp>
        <p:nvSpPr>
          <p:cNvPr id="415" name="Text 34"/>
          <p:cNvSpPr/>
          <p:nvPr/>
        </p:nvSpPr>
        <p:spPr>
          <a:xfrm>
            <a:off x="640080" y="4434840"/>
            <a:ext cx="836640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100" spc="-1" strike="noStrike">
                <a:solidFill>
                  <a:srgbClr val="f8fafc"/>
                </a:solidFill>
                <a:latin typeface="Calibri"/>
                <a:ea typeface="Calibri"/>
              </a:rPr>
              <a:t>Two complementary layers — not contradictory. Chapter 3 hypotheses are binding under the deviation log.</a:t>
            </a:r>
            <a:endParaRPr b="0" lang="en-IN" sz="1100" spc="-1" strike="noStrike">
              <a:latin typeface="Arial"/>
            </a:endParaRPr>
          </a:p>
        </p:txBody>
      </p:sp>
      <p:sp>
        <p:nvSpPr>
          <p:cNvPr id="416" name="Text 35"/>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Problem &amp; Gap</a:t>
            </a:r>
            <a:endParaRPr b="0" lang="en-IN" sz="850" spc="-1" strike="noStrike">
              <a:latin typeface="Arial"/>
            </a:endParaRPr>
          </a:p>
        </p:txBody>
      </p:sp>
      <p:sp>
        <p:nvSpPr>
          <p:cNvPr id="417" name="Text 36"/>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10 / 22</a:t>
            </a:r>
            <a:endParaRPr b="0" lang="en-IN" sz="900" spc="-1" strike="noStrike">
              <a:latin typeface="Arial"/>
            </a:endParaRPr>
          </a:p>
        </p:txBody>
      </p:sp>
      <p:sp>
        <p:nvSpPr>
          <p:cNvPr id="418" name="Shape 37"/>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19"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WHY DESIGN SCIENCE RESEARCH</a:t>
            </a:r>
            <a:endParaRPr b="0" lang="en-IN" sz="1000" spc="-1" strike="noStrike">
              <a:latin typeface="Arial"/>
            </a:endParaRPr>
          </a:p>
        </p:txBody>
      </p:sp>
      <p:sp>
        <p:nvSpPr>
          <p:cNvPr id="420"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The artefact is the contribution — DSR is the framework that demands ablation-first design</a:t>
            </a:r>
            <a:endParaRPr b="0" lang="en-IN" sz="2200" spc="-1" strike="noStrike">
              <a:latin typeface="Arial"/>
            </a:endParaRPr>
          </a:p>
        </p:txBody>
      </p:sp>
      <p:sp>
        <p:nvSpPr>
          <p:cNvPr id="421" name="Shape 2"/>
          <p:cNvSpPr/>
          <p:nvPr/>
        </p:nvSpPr>
        <p:spPr>
          <a:xfrm>
            <a:off x="1280160" y="2011680"/>
            <a:ext cx="2468520" cy="1188360"/>
          </a:xfrm>
          <a:prstGeom prst="ellipse">
            <a:avLst/>
          </a:prstGeom>
          <a:solidFill>
            <a:srgbClr val="06b6d4">
              <a:alpha val="30000"/>
            </a:srgbClr>
          </a:solidFill>
          <a:ln w="19050">
            <a:solidFill>
              <a:srgbClr val="06b6d4"/>
            </a:solidFill>
            <a:round/>
          </a:ln>
        </p:spPr>
        <p:style>
          <a:lnRef idx="0"/>
          <a:fillRef idx="0"/>
          <a:effectRef idx="0"/>
          <a:fontRef idx="minor"/>
        </p:style>
      </p:sp>
      <p:sp>
        <p:nvSpPr>
          <p:cNvPr id="422" name="Text 3"/>
          <p:cNvSpPr/>
          <p:nvPr/>
        </p:nvSpPr>
        <p:spPr>
          <a:xfrm>
            <a:off x="1280160" y="2423160"/>
            <a:ext cx="246852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00" spc="299" strike="noStrike">
                <a:solidFill>
                  <a:srgbClr val="f8fafc"/>
                </a:solidFill>
                <a:latin typeface="Calibri"/>
                <a:ea typeface="Calibri"/>
              </a:rPr>
              <a:t>RELEVANCE</a:t>
            </a:r>
            <a:endParaRPr b="0" lang="en-IN" sz="1300" spc="-1" strike="noStrike">
              <a:latin typeface="Arial"/>
            </a:endParaRPr>
          </a:p>
        </p:txBody>
      </p:sp>
      <p:sp>
        <p:nvSpPr>
          <p:cNvPr id="423" name="Shape 4"/>
          <p:cNvSpPr/>
          <p:nvPr/>
        </p:nvSpPr>
        <p:spPr>
          <a:xfrm>
            <a:off x="3200400" y="2468880"/>
            <a:ext cx="2468520" cy="1188360"/>
          </a:xfrm>
          <a:prstGeom prst="ellipse">
            <a:avLst/>
          </a:prstGeom>
          <a:solidFill>
            <a:srgbClr val="f97316">
              <a:alpha val="30000"/>
            </a:srgbClr>
          </a:solidFill>
          <a:ln w="19050">
            <a:solidFill>
              <a:srgbClr val="f97316"/>
            </a:solidFill>
            <a:round/>
          </a:ln>
        </p:spPr>
        <p:style>
          <a:lnRef idx="0"/>
          <a:fillRef idx="0"/>
          <a:effectRef idx="0"/>
          <a:fontRef idx="minor"/>
        </p:style>
      </p:sp>
      <p:sp>
        <p:nvSpPr>
          <p:cNvPr id="424" name="Text 5"/>
          <p:cNvSpPr/>
          <p:nvPr/>
        </p:nvSpPr>
        <p:spPr>
          <a:xfrm>
            <a:off x="3200400" y="2880360"/>
            <a:ext cx="246852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00" spc="299" strike="noStrike">
                <a:solidFill>
                  <a:srgbClr val="f8fafc"/>
                </a:solidFill>
                <a:latin typeface="Calibri"/>
                <a:ea typeface="Calibri"/>
              </a:rPr>
              <a:t>DESIGN</a:t>
            </a:r>
            <a:endParaRPr b="0" lang="en-IN" sz="1300" spc="-1" strike="noStrike">
              <a:latin typeface="Arial"/>
            </a:endParaRPr>
          </a:p>
        </p:txBody>
      </p:sp>
      <p:sp>
        <p:nvSpPr>
          <p:cNvPr id="425" name="Shape 6"/>
          <p:cNvSpPr/>
          <p:nvPr/>
        </p:nvSpPr>
        <p:spPr>
          <a:xfrm>
            <a:off x="1280160" y="3291840"/>
            <a:ext cx="2468520" cy="1188360"/>
          </a:xfrm>
          <a:prstGeom prst="ellipse">
            <a:avLst/>
          </a:prstGeom>
          <a:solidFill>
            <a:srgbClr val="a78bfa">
              <a:alpha val="30000"/>
            </a:srgbClr>
          </a:solidFill>
          <a:ln w="19050">
            <a:solidFill>
              <a:srgbClr val="a78bfa"/>
            </a:solidFill>
            <a:round/>
          </a:ln>
        </p:spPr>
        <p:style>
          <a:lnRef idx="0"/>
          <a:fillRef idx="0"/>
          <a:effectRef idx="0"/>
          <a:fontRef idx="minor"/>
        </p:style>
      </p:sp>
      <p:sp>
        <p:nvSpPr>
          <p:cNvPr id="426" name="Text 7"/>
          <p:cNvSpPr/>
          <p:nvPr/>
        </p:nvSpPr>
        <p:spPr>
          <a:xfrm>
            <a:off x="1280160" y="3703320"/>
            <a:ext cx="246852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300" spc="299" strike="noStrike">
                <a:solidFill>
                  <a:srgbClr val="f8fafc"/>
                </a:solidFill>
                <a:latin typeface="Calibri"/>
                <a:ea typeface="Calibri"/>
              </a:rPr>
              <a:t>RIGOUR</a:t>
            </a:r>
            <a:endParaRPr b="0" lang="en-IN" sz="1300" spc="-1" strike="noStrike">
              <a:latin typeface="Arial"/>
            </a:endParaRPr>
          </a:p>
        </p:txBody>
      </p:sp>
      <p:sp>
        <p:nvSpPr>
          <p:cNvPr id="427" name="Shape 8"/>
          <p:cNvSpPr/>
          <p:nvPr/>
        </p:nvSpPr>
        <p:spPr>
          <a:xfrm>
            <a:off x="5029200" y="1280160"/>
            <a:ext cx="3657240" cy="3382920"/>
          </a:xfrm>
          <a:prstGeom prst="rect">
            <a:avLst/>
          </a:prstGeom>
          <a:solidFill>
            <a:srgbClr val="162236"/>
          </a:solidFill>
          <a:ln w="9525">
            <a:solidFill>
              <a:srgbClr val="334155"/>
            </a:solidFill>
            <a:round/>
          </a:ln>
        </p:spPr>
        <p:style>
          <a:lnRef idx="0"/>
          <a:fillRef idx="0"/>
          <a:effectRef idx="0"/>
          <a:fontRef idx="minor"/>
        </p:style>
      </p:sp>
      <p:sp>
        <p:nvSpPr>
          <p:cNvPr id="428" name="Text 9"/>
          <p:cNvSpPr/>
          <p:nvPr/>
        </p:nvSpPr>
        <p:spPr>
          <a:xfrm>
            <a:off x="5257800" y="1463040"/>
            <a:ext cx="33829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THREE CYCLES</a:t>
            </a:r>
            <a:endParaRPr b="0" lang="en-IN" sz="1000" spc="-1" strike="noStrike">
              <a:latin typeface="Arial"/>
            </a:endParaRPr>
          </a:p>
        </p:txBody>
      </p:sp>
      <p:sp>
        <p:nvSpPr>
          <p:cNvPr id="429" name="Shape 10"/>
          <p:cNvSpPr/>
          <p:nvPr/>
        </p:nvSpPr>
        <p:spPr>
          <a:xfrm>
            <a:off x="5212080" y="1828800"/>
            <a:ext cx="54360" cy="639720"/>
          </a:xfrm>
          <a:prstGeom prst="rect">
            <a:avLst/>
          </a:prstGeom>
          <a:solidFill>
            <a:srgbClr val="06b6d4"/>
          </a:solidFill>
          <a:ln w="12700">
            <a:solidFill>
              <a:srgbClr val="06b6d4"/>
            </a:solidFill>
            <a:round/>
          </a:ln>
        </p:spPr>
        <p:style>
          <a:lnRef idx="0"/>
          <a:fillRef idx="0"/>
          <a:effectRef idx="0"/>
          <a:fontRef idx="minor"/>
        </p:style>
      </p:sp>
      <p:sp>
        <p:nvSpPr>
          <p:cNvPr id="430" name="Text 11"/>
          <p:cNvSpPr/>
          <p:nvPr/>
        </p:nvSpPr>
        <p:spPr>
          <a:xfrm>
            <a:off x="5340240" y="1783080"/>
            <a:ext cx="82260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6b6d4"/>
                </a:solidFill>
                <a:latin typeface="Calibri"/>
                <a:ea typeface="Calibri"/>
              </a:rPr>
              <a:t>Relevance</a:t>
            </a:r>
            <a:endParaRPr b="0" lang="en-IN" sz="1200" spc="-1" strike="noStrike">
              <a:latin typeface="Arial"/>
            </a:endParaRPr>
          </a:p>
        </p:txBody>
      </p:sp>
      <p:sp>
        <p:nvSpPr>
          <p:cNvPr id="431" name="Text 12"/>
          <p:cNvSpPr/>
          <p:nvPr/>
        </p:nvSpPr>
        <p:spPr>
          <a:xfrm>
            <a:off x="5340240" y="2075760"/>
            <a:ext cx="324576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f8fafc"/>
                </a:solidFill>
                <a:latin typeface="Calibri"/>
                <a:ea typeface="Calibri"/>
              </a:rPr>
              <a:t>Microservice failure economics; agentic-AI fault classes for which no AIOps framework provides first-class diagnostic support</a:t>
            </a:r>
            <a:endParaRPr b="0" lang="en-IN" sz="1050" spc="-1" strike="noStrike">
              <a:latin typeface="Arial"/>
            </a:endParaRPr>
          </a:p>
        </p:txBody>
      </p:sp>
      <p:sp>
        <p:nvSpPr>
          <p:cNvPr id="432" name="Shape 13"/>
          <p:cNvSpPr/>
          <p:nvPr/>
        </p:nvSpPr>
        <p:spPr>
          <a:xfrm>
            <a:off x="5212080" y="2697480"/>
            <a:ext cx="54360" cy="639720"/>
          </a:xfrm>
          <a:prstGeom prst="rect">
            <a:avLst/>
          </a:prstGeom>
          <a:solidFill>
            <a:srgbClr val="f97316"/>
          </a:solidFill>
          <a:ln w="12700">
            <a:solidFill>
              <a:srgbClr val="f97316"/>
            </a:solidFill>
            <a:round/>
          </a:ln>
        </p:spPr>
        <p:style>
          <a:lnRef idx="0"/>
          <a:fillRef idx="0"/>
          <a:effectRef idx="0"/>
          <a:fontRef idx="minor"/>
        </p:style>
      </p:sp>
      <p:sp>
        <p:nvSpPr>
          <p:cNvPr id="433" name="Text 14"/>
          <p:cNvSpPr/>
          <p:nvPr/>
        </p:nvSpPr>
        <p:spPr>
          <a:xfrm>
            <a:off x="5340240" y="2651760"/>
            <a:ext cx="82260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97316"/>
                </a:solidFill>
                <a:latin typeface="Calibri"/>
                <a:ea typeface="Calibri"/>
              </a:rPr>
              <a:t>Design</a:t>
            </a:r>
            <a:endParaRPr b="0" lang="en-IN" sz="1200" spc="-1" strike="noStrike">
              <a:latin typeface="Arial"/>
            </a:endParaRPr>
          </a:p>
        </p:txBody>
      </p:sp>
      <p:sp>
        <p:nvSpPr>
          <p:cNvPr id="434" name="Text 15"/>
          <p:cNvSpPr/>
          <p:nvPr/>
        </p:nvSpPr>
        <p:spPr>
          <a:xfrm>
            <a:off x="5340240" y="2944440"/>
            <a:ext cx="324576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f8fafc"/>
                </a:solidFill>
                <a:latin typeface="Calibri"/>
                <a:ea typeface="Calibri"/>
              </a:rPr>
              <a:t>HELIOS construction; iterative refinement; pre-registered ablation evaluation</a:t>
            </a:r>
            <a:endParaRPr b="0" lang="en-IN" sz="1050" spc="-1" strike="noStrike">
              <a:latin typeface="Arial"/>
            </a:endParaRPr>
          </a:p>
        </p:txBody>
      </p:sp>
      <p:sp>
        <p:nvSpPr>
          <p:cNvPr id="435" name="Shape 16"/>
          <p:cNvSpPr/>
          <p:nvPr/>
        </p:nvSpPr>
        <p:spPr>
          <a:xfrm>
            <a:off x="5212080" y="3566160"/>
            <a:ext cx="54360" cy="639720"/>
          </a:xfrm>
          <a:prstGeom prst="rect">
            <a:avLst/>
          </a:prstGeom>
          <a:solidFill>
            <a:srgbClr val="a78bfa"/>
          </a:solidFill>
          <a:ln w="12700">
            <a:solidFill>
              <a:srgbClr val="a78bfa"/>
            </a:solidFill>
            <a:round/>
          </a:ln>
        </p:spPr>
        <p:style>
          <a:lnRef idx="0"/>
          <a:fillRef idx="0"/>
          <a:effectRef idx="0"/>
          <a:fontRef idx="minor"/>
        </p:style>
      </p:sp>
      <p:sp>
        <p:nvSpPr>
          <p:cNvPr id="436" name="Text 17"/>
          <p:cNvSpPr/>
          <p:nvPr/>
        </p:nvSpPr>
        <p:spPr>
          <a:xfrm>
            <a:off x="5340240" y="3520440"/>
            <a:ext cx="82260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a78bfa"/>
                </a:solidFill>
                <a:latin typeface="Calibri"/>
                <a:ea typeface="Calibri"/>
              </a:rPr>
              <a:t>Rigour</a:t>
            </a:r>
            <a:endParaRPr b="0" lang="en-IN" sz="1200" spc="-1" strike="noStrike">
              <a:latin typeface="Arial"/>
            </a:endParaRPr>
          </a:p>
        </p:txBody>
      </p:sp>
      <p:sp>
        <p:nvSpPr>
          <p:cNvPr id="437" name="Text 18"/>
          <p:cNvSpPr/>
          <p:nvPr/>
        </p:nvSpPr>
        <p:spPr>
          <a:xfrm>
            <a:off x="5340240" y="3813120"/>
            <a:ext cx="324576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f8fafc"/>
                </a:solidFill>
                <a:latin typeface="Calibri"/>
                <a:ea typeface="Calibri"/>
              </a:rPr>
              <a:t>Systematic comparator differentiation per contribution; runtime-enforced evaluation rigour as transferable knowledge contribution</a:t>
            </a:r>
            <a:endParaRPr b="0" lang="en-IN" sz="1050" spc="-1" strike="noStrike">
              <a:latin typeface="Arial"/>
            </a:endParaRPr>
          </a:p>
        </p:txBody>
      </p:sp>
      <p:sp>
        <p:nvSpPr>
          <p:cNvPr id="438" name="Shape 19"/>
          <p:cNvSpPr/>
          <p:nvPr/>
        </p:nvSpPr>
        <p:spPr>
          <a:xfrm>
            <a:off x="457200" y="4434840"/>
            <a:ext cx="8595000" cy="365400"/>
          </a:xfrm>
          <a:prstGeom prst="rect">
            <a:avLst/>
          </a:prstGeom>
          <a:solidFill>
            <a:srgbClr val="243549"/>
          </a:solidFill>
          <a:ln w="9525">
            <a:solidFill>
              <a:srgbClr val="334155"/>
            </a:solidFill>
            <a:round/>
          </a:ln>
        </p:spPr>
        <p:style>
          <a:lnRef idx="0"/>
          <a:fillRef idx="0"/>
          <a:effectRef idx="0"/>
          <a:fontRef idx="minor"/>
        </p:style>
      </p:sp>
      <p:sp>
        <p:nvSpPr>
          <p:cNvPr id="439" name="Shape 20"/>
          <p:cNvSpPr/>
          <p:nvPr/>
        </p:nvSpPr>
        <p:spPr>
          <a:xfrm>
            <a:off x="457200" y="4434840"/>
            <a:ext cx="54360" cy="365400"/>
          </a:xfrm>
          <a:prstGeom prst="rect">
            <a:avLst/>
          </a:prstGeom>
          <a:solidFill>
            <a:srgbClr val="f97316"/>
          </a:solidFill>
          <a:ln w="12700">
            <a:solidFill>
              <a:srgbClr val="f97316"/>
            </a:solidFill>
            <a:round/>
          </a:ln>
        </p:spPr>
        <p:style>
          <a:lnRef idx="0"/>
          <a:fillRef idx="0"/>
          <a:effectRef idx="0"/>
          <a:fontRef idx="minor"/>
        </p:style>
      </p:sp>
      <p:sp>
        <p:nvSpPr>
          <p:cNvPr id="440" name="Text 21"/>
          <p:cNvSpPr/>
          <p:nvPr/>
        </p:nvSpPr>
        <p:spPr>
          <a:xfrm>
            <a:off x="640080" y="4434840"/>
            <a:ext cx="836640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f8fafc"/>
                </a:solidFill>
                <a:latin typeface="Calibri"/>
                <a:ea typeface="Calibri"/>
              </a:rPr>
              <a:t>DSR is not "no statistics." Hevner's framework explicitly includes empirical evaluation. Classification: DSR with embedded controlled quantitative comparison.</a:t>
            </a:r>
            <a:endParaRPr b="0" lang="en-IN" sz="1100" spc="-1" strike="noStrike">
              <a:latin typeface="Arial"/>
            </a:endParaRPr>
          </a:p>
        </p:txBody>
      </p:sp>
      <p:sp>
        <p:nvSpPr>
          <p:cNvPr id="441" name="Text 22"/>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Methodology</a:t>
            </a:r>
            <a:endParaRPr b="0" lang="en-IN" sz="850" spc="-1" strike="noStrike">
              <a:latin typeface="Arial"/>
            </a:endParaRPr>
          </a:p>
        </p:txBody>
      </p:sp>
      <p:sp>
        <p:nvSpPr>
          <p:cNvPr id="442" name="Text 23"/>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11 / 22</a:t>
            </a:r>
            <a:endParaRPr b="0" lang="en-IN" sz="900" spc="-1" strike="noStrike">
              <a:latin typeface="Arial"/>
            </a:endParaRPr>
          </a:p>
        </p:txBody>
      </p:sp>
      <p:sp>
        <p:nvSpPr>
          <p:cNvPr id="443" name="Shape 24"/>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44"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PHILOSOPHICAL STANCE</a:t>
            </a:r>
            <a:endParaRPr b="0" lang="en-IN" sz="1000" spc="-1" strike="noStrike">
              <a:latin typeface="Arial"/>
            </a:endParaRPr>
          </a:p>
        </p:txBody>
      </p:sp>
      <p:sp>
        <p:nvSpPr>
          <p:cNvPr id="445"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Critical realism with pragmatist orientation toward artefact evaluation</a:t>
            </a:r>
            <a:endParaRPr b="0" lang="en-IN" sz="2200" spc="-1" strike="noStrike">
              <a:latin typeface="Arial"/>
            </a:endParaRPr>
          </a:p>
        </p:txBody>
      </p:sp>
      <p:sp>
        <p:nvSpPr>
          <p:cNvPr id="446" name="Shape 2"/>
          <p:cNvSpPr/>
          <p:nvPr/>
        </p:nvSpPr>
        <p:spPr>
          <a:xfrm>
            <a:off x="457200" y="1280160"/>
            <a:ext cx="8595000" cy="776880"/>
          </a:xfrm>
          <a:prstGeom prst="rect">
            <a:avLst/>
          </a:prstGeom>
          <a:solidFill>
            <a:srgbClr val="162236"/>
          </a:solidFill>
          <a:ln w="9525">
            <a:solidFill>
              <a:srgbClr val="334155"/>
            </a:solidFill>
            <a:round/>
          </a:ln>
        </p:spPr>
        <p:style>
          <a:lnRef idx="0"/>
          <a:fillRef idx="0"/>
          <a:effectRef idx="0"/>
          <a:fontRef idx="minor"/>
        </p:style>
      </p:sp>
      <p:sp>
        <p:nvSpPr>
          <p:cNvPr id="447" name="Text 3"/>
          <p:cNvSpPr/>
          <p:nvPr/>
        </p:nvSpPr>
        <p:spPr>
          <a:xfrm>
            <a:off x="640080" y="1325880"/>
            <a:ext cx="8229240" cy="6854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1400" spc="-1" strike="noStrike">
                <a:solidFill>
                  <a:srgbClr val="f8fafc"/>
                </a:solidFill>
                <a:latin typeface="Calibri"/>
                <a:ea typeface="Calibri"/>
              </a:rPr>
              <a:t>Microservice failures are produced by real, structural generative mechanisms — fault propagation, resource cascades, agent reasoning failures.</a:t>
            </a:r>
            <a:endParaRPr b="0" lang="en-IN" sz="1400" spc="-1" strike="noStrike">
              <a:latin typeface="Arial"/>
            </a:endParaRPr>
          </a:p>
        </p:txBody>
      </p:sp>
      <p:sp>
        <p:nvSpPr>
          <p:cNvPr id="448" name="Shape 4"/>
          <p:cNvSpPr/>
          <p:nvPr/>
        </p:nvSpPr>
        <p:spPr>
          <a:xfrm>
            <a:off x="457200" y="2194560"/>
            <a:ext cx="4114440" cy="2285640"/>
          </a:xfrm>
          <a:prstGeom prst="rect">
            <a:avLst/>
          </a:prstGeom>
          <a:solidFill>
            <a:srgbClr val="1b263b"/>
          </a:solidFill>
          <a:ln w="9525">
            <a:solidFill>
              <a:srgbClr val="334155"/>
            </a:solidFill>
            <a:round/>
          </a:ln>
        </p:spPr>
        <p:style>
          <a:lnRef idx="0"/>
          <a:fillRef idx="0"/>
          <a:effectRef idx="0"/>
          <a:fontRef idx="minor"/>
        </p:style>
      </p:sp>
      <p:sp>
        <p:nvSpPr>
          <p:cNvPr id="449" name="Shape 5"/>
          <p:cNvSpPr/>
          <p:nvPr/>
        </p:nvSpPr>
        <p:spPr>
          <a:xfrm>
            <a:off x="457200" y="2194560"/>
            <a:ext cx="54360" cy="2285640"/>
          </a:xfrm>
          <a:prstGeom prst="rect">
            <a:avLst/>
          </a:prstGeom>
          <a:solidFill>
            <a:srgbClr val="06b6d4"/>
          </a:solidFill>
          <a:ln w="12700">
            <a:solidFill>
              <a:srgbClr val="06b6d4"/>
            </a:solidFill>
            <a:round/>
          </a:ln>
        </p:spPr>
        <p:style>
          <a:lnRef idx="0"/>
          <a:fillRef idx="0"/>
          <a:effectRef idx="0"/>
          <a:fontRef idx="minor"/>
        </p:style>
      </p:sp>
      <p:sp>
        <p:nvSpPr>
          <p:cNvPr id="450" name="Text 6"/>
          <p:cNvSpPr/>
          <p:nvPr/>
        </p:nvSpPr>
        <p:spPr>
          <a:xfrm>
            <a:off x="685800" y="2377440"/>
            <a:ext cx="374868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299" strike="noStrike">
                <a:solidFill>
                  <a:srgbClr val="06b6d4"/>
                </a:solidFill>
                <a:latin typeface="Calibri"/>
                <a:ea typeface="Calibri"/>
              </a:rPr>
              <a:t>REALIST COMMITMENT</a:t>
            </a:r>
            <a:endParaRPr b="0" lang="en-IN" sz="1100" spc="-1" strike="noStrike">
              <a:latin typeface="Arial"/>
            </a:endParaRPr>
          </a:p>
        </p:txBody>
      </p:sp>
      <p:sp>
        <p:nvSpPr>
          <p:cNvPr id="451" name="Text 7"/>
          <p:cNvSpPr/>
          <p:nvPr/>
        </p:nvSpPr>
        <p:spPr>
          <a:xfrm>
            <a:off x="685800" y="2788920"/>
            <a:ext cx="3748680" cy="150840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601"/>
              </a:spcAft>
              <a:buClr>
                <a:srgbClr val="f8fafc"/>
              </a:buClr>
              <a:buFont typeface="Symbol" charset="2"/>
              <a:buChar char=""/>
            </a:pPr>
            <a:r>
              <a:rPr b="0" lang="en-US" sz="1200" spc="-1" strike="noStrike">
                <a:solidFill>
                  <a:srgbClr val="f8fafc"/>
                </a:solidFill>
                <a:latin typeface="Calibri"/>
                <a:ea typeface="Calibri"/>
              </a:rPr>
              <a:t>The mechanisms exist — the fault really did originate at service S, three hops upstream</a:t>
            </a:r>
            <a:endParaRPr b="0" lang="en-IN" sz="1200" spc="-1" strike="noStrike">
              <a:latin typeface="Arial"/>
            </a:endParaRPr>
          </a:p>
          <a:p>
            <a:pPr marL="343080" indent="-343080">
              <a:lnSpc>
                <a:spcPct val="100000"/>
              </a:lnSpc>
              <a:spcAft>
                <a:spcPts val="601"/>
              </a:spcAft>
              <a:buClr>
                <a:srgbClr val="f8fafc"/>
              </a:buClr>
              <a:buFont typeface="Symbol" charset="2"/>
              <a:buChar char=""/>
            </a:pPr>
            <a:r>
              <a:rPr b="0" lang="en-US" sz="1200" spc="-1" strike="noStrike">
                <a:solidFill>
                  <a:srgbClr val="f8fafc"/>
                </a:solidFill>
                <a:latin typeface="Calibri"/>
                <a:ea typeface="Calibri"/>
              </a:rPr>
              <a:t>RCA is fallible inference because mechanisms are only partially observable through telemetry</a:t>
            </a:r>
            <a:endParaRPr b="0" lang="en-IN" sz="1200" spc="-1" strike="noStrike">
              <a:latin typeface="Arial"/>
            </a:endParaRPr>
          </a:p>
        </p:txBody>
      </p:sp>
      <p:sp>
        <p:nvSpPr>
          <p:cNvPr id="452" name="Shape 8"/>
          <p:cNvSpPr/>
          <p:nvPr/>
        </p:nvSpPr>
        <p:spPr>
          <a:xfrm>
            <a:off x="4572000" y="2194560"/>
            <a:ext cx="4114440" cy="2285640"/>
          </a:xfrm>
          <a:prstGeom prst="rect">
            <a:avLst/>
          </a:prstGeom>
          <a:solidFill>
            <a:srgbClr val="1b263b"/>
          </a:solidFill>
          <a:ln w="9525">
            <a:solidFill>
              <a:srgbClr val="334155"/>
            </a:solidFill>
            <a:round/>
          </a:ln>
        </p:spPr>
        <p:style>
          <a:lnRef idx="0"/>
          <a:fillRef idx="0"/>
          <a:effectRef idx="0"/>
          <a:fontRef idx="minor"/>
        </p:style>
      </p:sp>
      <p:sp>
        <p:nvSpPr>
          <p:cNvPr id="453" name="Shape 9"/>
          <p:cNvSpPr/>
          <p:nvPr/>
        </p:nvSpPr>
        <p:spPr>
          <a:xfrm>
            <a:off x="4572000" y="2194560"/>
            <a:ext cx="54360" cy="2285640"/>
          </a:xfrm>
          <a:prstGeom prst="rect">
            <a:avLst/>
          </a:prstGeom>
          <a:solidFill>
            <a:srgbClr val="f97316"/>
          </a:solidFill>
          <a:ln w="12700">
            <a:solidFill>
              <a:srgbClr val="f97316"/>
            </a:solidFill>
            <a:round/>
          </a:ln>
        </p:spPr>
        <p:style>
          <a:lnRef idx="0"/>
          <a:fillRef idx="0"/>
          <a:effectRef idx="0"/>
          <a:fontRef idx="minor"/>
        </p:style>
      </p:sp>
      <p:sp>
        <p:nvSpPr>
          <p:cNvPr id="454" name="Text 10"/>
          <p:cNvSpPr/>
          <p:nvPr/>
        </p:nvSpPr>
        <p:spPr>
          <a:xfrm>
            <a:off x="4800600" y="2377440"/>
            <a:ext cx="374868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299" strike="noStrike">
                <a:solidFill>
                  <a:srgbClr val="f97316"/>
                </a:solidFill>
                <a:latin typeface="Calibri"/>
                <a:ea typeface="Calibri"/>
              </a:rPr>
              <a:t>PRAGMATIST COMMITMENT</a:t>
            </a:r>
            <a:endParaRPr b="0" lang="en-IN" sz="1100" spc="-1" strike="noStrike">
              <a:latin typeface="Arial"/>
            </a:endParaRPr>
          </a:p>
        </p:txBody>
      </p:sp>
      <p:sp>
        <p:nvSpPr>
          <p:cNvPr id="455" name="Text 11"/>
          <p:cNvSpPr/>
          <p:nvPr/>
        </p:nvSpPr>
        <p:spPr>
          <a:xfrm>
            <a:off x="4800600" y="2788920"/>
            <a:ext cx="3748680" cy="150840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601"/>
              </a:spcAft>
              <a:buClr>
                <a:srgbClr val="f8fafc"/>
              </a:buClr>
              <a:buFont typeface="Symbol" charset="2"/>
              <a:buChar char=""/>
            </a:pPr>
            <a:r>
              <a:rPr b="0" lang="en-US" sz="1200" spc="-1" strike="noStrike">
                <a:solidFill>
                  <a:srgbClr val="f8fafc"/>
                </a:solidFill>
                <a:latin typeface="Calibri"/>
                <a:ea typeface="Calibri"/>
              </a:rPr>
              <a:t>HELIOS is validated by demonstrated utility under pre-registered protocol</a:t>
            </a:r>
            <a:endParaRPr b="0" lang="en-IN" sz="1200" spc="-1" strike="noStrike">
              <a:latin typeface="Arial"/>
            </a:endParaRPr>
          </a:p>
          <a:p>
            <a:pPr marL="343080" indent="-343080">
              <a:lnSpc>
                <a:spcPct val="100000"/>
              </a:lnSpc>
              <a:spcAft>
                <a:spcPts val="601"/>
              </a:spcAft>
              <a:buClr>
                <a:srgbClr val="f8fafc"/>
              </a:buClr>
              <a:buFont typeface="Symbol" charset="2"/>
              <a:buChar char=""/>
            </a:pPr>
            <a:r>
              <a:rPr b="0" lang="en-US" sz="1200" spc="-1" strike="noStrike">
                <a:solidFill>
                  <a:srgbClr val="f8fafc"/>
                </a:solidFill>
                <a:latin typeface="Calibri"/>
                <a:ea typeface="Calibri"/>
              </a:rPr>
              <a:t>Falsifiability lives at the contribution level — every C1–C6 is ablatable</a:t>
            </a:r>
            <a:endParaRPr b="0" lang="en-IN" sz="1200" spc="-1" strike="noStrike">
              <a:latin typeface="Arial"/>
            </a:endParaRPr>
          </a:p>
        </p:txBody>
      </p:sp>
      <p:sp>
        <p:nvSpPr>
          <p:cNvPr id="456" name="Text 12"/>
          <p:cNvSpPr/>
          <p:nvPr/>
        </p:nvSpPr>
        <p:spPr>
          <a:xfrm>
            <a:off x="457200" y="4617720"/>
            <a:ext cx="8595000" cy="2739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1000" spc="-1" strike="noStrike">
                <a:solidFill>
                  <a:srgbClr val="94a3b8"/>
                </a:solidFill>
                <a:latin typeface="Calibri"/>
                <a:ea typeface="Calibri"/>
              </a:rPr>
              <a:t>"A modest epistemic posture appropriate to a doctoral research artefact" — proposal §3.2</a:t>
            </a:r>
            <a:endParaRPr b="0" lang="en-IN" sz="1000" spc="-1" strike="noStrike">
              <a:latin typeface="Arial"/>
            </a:endParaRPr>
          </a:p>
        </p:txBody>
      </p:sp>
      <p:sp>
        <p:nvSpPr>
          <p:cNvPr id="457" name="Text 13"/>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Methodology</a:t>
            </a:r>
            <a:endParaRPr b="0" lang="en-IN" sz="850" spc="-1" strike="noStrike">
              <a:latin typeface="Arial"/>
            </a:endParaRPr>
          </a:p>
        </p:txBody>
      </p:sp>
      <p:sp>
        <p:nvSpPr>
          <p:cNvPr id="458" name="Text 14"/>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12 / 22</a:t>
            </a:r>
            <a:endParaRPr b="0" lang="en-IN" sz="900" spc="-1" strike="noStrike">
              <a:latin typeface="Arial"/>
            </a:endParaRPr>
          </a:p>
        </p:txBody>
      </p:sp>
      <p:sp>
        <p:nvSpPr>
          <p:cNvPr id="459" name="Shape 15"/>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60"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C1 — RUNTIME-ENFORCED DSR RIGOUR</a:t>
            </a:r>
            <a:endParaRPr b="0" lang="en-IN" sz="1000" spc="-1" strike="noStrike">
              <a:latin typeface="Arial"/>
            </a:endParaRPr>
          </a:p>
        </p:txBody>
      </p:sp>
      <p:sp>
        <p:nvSpPr>
          <p:cNvPr id="461"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Pre-registration is not a reporting convention — it is a runtime invariant of the artefact</a:t>
            </a:r>
            <a:endParaRPr b="0" lang="en-IN" sz="2200" spc="-1" strike="noStrike">
              <a:latin typeface="Arial"/>
            </a:endParaRPr>
          </a:p>
        </p:txBody>
      </p:sp>
      <p:sp>
        <p:nvSpPr>
          <p:cNvPr id="462" name="Shape 2"/>
          <p:cNvSpPr/>
          <p:nvPr/>
        </p:nvSpPr>
        <p:spPr>
          <a:xfrm>
            <a:off x="269640" y="1280160"/>
            <a:ext cx="2788560" cy="1371240"/>
          </a:xfrm>
          <a:prstGeom prst="rect">
            <a:avLst/>
          </a:prstGeom>
          <a:solidFill>
            <a:srgbClr val="1b263b"/>
          </a:solidFill>
          <a:ln w="9525">
            <a:solidFill>
              <a:srgbClr val="334155"/>
            </a:solidFill>
            <a:round/>
          </a:ln>
        </p:spPr>
        <p:style>
          <a:lnRef idx="0"/>
          <a:fillRef idx="0"/>
          <a:effectRef idx="0"/>
          <a:fontRef idx="minor"/>
        </p:style>
      </p:sp>
      <p:sp>
        <p:nvSpPr>
          <p:cNvPr id="463" name="Shape 3"/>
          <p:cNvSpPr/>
          <p:nvPr/>
        </p:nvSpPr>
        <p:spPr>
          <a:xfrm>
            <a:off x="452520" y="1508760"/>
            <a:ext cx="502560" cy="502560"/>
          </a:xfrm>
          <a:prstGeom prst="ellipse">
            <a:avLst/>
          </a:prstGeom>
          <a:solidFill>
            <a:srgbClr val="164e63"/>
          </a:solidFill>
          <a:ln w="12700">
            <a:solidFill>
              <a:srgbClr val="06b6d4"/>
            </a:solidFill>
            <a:round/>
          </a:ln>
        </p:spPr>
        <p:style>
          <a:lnRef idx="0"/>
          <a:fillRef idx="0"/>
          <a:effectRef idx="0"/>
          <a:fontRef idx="minor"/>
        </p:style>
      </p:sp>
      <p:pic>
        <p:nvPicPr>
          <p:cNvPr id="464" name="Image 0" descr="preencoded.png"/>
          <p:cNvPicPr/>
          <p:nvPr/>
        </p:nvPicPr>
        <p:blipFill>
          <a:blip r:embed="rId1"/>
          <a:stretch/>
        </p:blipFill>
        <p:spPr>
          <a:xfrm>
            <a:off x="562320" y="1618560"/>
            <a:ext cx="282960" cy="282960"/>
          </a:xfrm>
          <a:prstGeom prst="rect">
            <a:avLst/>
          </a:prstGeom>
          <a:ln w="0">
            <a:noFill/>
          </a:ln>
        </p:spPr>
      </p:pic>
      <p:sp>
        <p:nvSpPr>
          <p:cNvPr id="465" name="Text 4"/>
          <p:cNvSpPr/>
          <p:nvPr/>
        </p:nvSpPr>
        <p:spPr>
          <a:xfrm>
            <a:off x="1046880" y="1444680"/>
            <a:ext cx="18741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f8fafc"/>
                </a:solidFill>
                <a:latin typeface="Calibri"/>
                <a:ea typeface="Calibri"/>
              </a:rPr>
              <a:t>Variant</a:t>
            </a:r>
            <a:endParaRPr b="0" lang="en-IN" sz="1250" spc="-1" strike="noStrike">
              <a:latin typeface="Arial"/>
            </a:endParaRPr>
          </a:p>
          <a:p>
            <a:pPr>
              <a:lnSpc>
                <a:spcPct val="100000"/>
              </a:lnSpc>
              <a:buNone/>
              <a:tabLst>
                <a:tab algn="l" pos="0"/>
              </a:tabLst>
            </a:pPr>
            <a:r>
              <a:rPr b="1" lang="en-US" sz="1250" spc="-1" strike="noStrike">
                <a:solidFill>
                  <a:srgbClr val="f8fafc"/>
                </a:solidFill>
                <a:latin typeface="Calibri"/>
                <a:ea typeface="Calibri"/>
              </a:rPr>
              <a:t>Control Layer</a:t>
            </a:r>
            <a:endParaRPr b="0" lang="en-IN" sz="1250" spc="-1" strike="noStrike">
              <a:latin typeface="Arial"/>
            </a:endParaRPr>
          </a:p>
        </p:txBody>
      </p:sp>
      <p:sp>
        <p:nvSpPr>
          <p:cNvPr id="466" name="Text 5"/>
          <p:cNvSpPr/>
          <p:nvPr/>
        </p:nvSpPr>
        <p:spPr>
          <a:xfrm>
            <a:off x="452520" y="2057400"/>
            <a:ext cx="246852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Variant identity at binary level (content-hashed manifest)</a:t>
            </a:r>
            <a:endParaRPr b="0" lang="en-IN" sz="950" spc="-1" strike="noStrike">
              <a:latin typeface="Arial"/>
            </a:endParaRPr>
          </a:p>
        </p:txBody>
      </p:sp>
      <p:sp>
        <p:nvSpPr>
          <p:cNvPr id="467" name="Shape 6"/>
          <p:cNvSpPr/>
          <p:nvPr/>
        </p:nvSpPr>
        <p:spPr>
          <a:xfrm>
            <a:off x="3177720" y="1280160"/>
            <a:ext cx="2788560" cy="1371240"/>
          </a:xfrm>
          <a:prstGeom prst="rect">
            <a:avLst/>
          </a:prstGeom>
          <a:solidFill>
            <a:srgbClr val="1b263b"/>
          </a:solidFill>
          <a:ln w="9525">
            <a:solidFill>
              <a:srgbClr val="334155"/>
            </a:solidFill>
            <a:round/>
          </a:ln>
        </p:spPr>
        <p:style>
          <a:lnRef idx="0"/>
          <a:fillRef idx="0"/>
          <a:effectRef idx="0"/>
          <a:fontRef idx="minor"/>
        </p:style>
      </p:sp>
      <p:sp>
        <p:nvSpPr>
          <p:cNvPr id="468" name="Shape 7"/>
          <p:cNvSpPr/>
          <p:nvPr/>
        </p:nvSpPr>
        <p:spPr>
          <a:xfrm>
            <a:off x="3360600" y="1508760"/>
            <a:ext cx="502560" cy="502560"/>
          </a:xfrm>
          <a:prstGeom prst="ellipse">
            <a:avLst/>
          </a:prstGeom>
          <a:solidFill>
            <a:srgbClr val="164e63"/>
          </a:solidFill>
          <a:ln w="12700">
            <a:solidFill>
              <a:srgbClr val="06b6d4"/>
            </a:solidFill>
            <a:round/>
          </a:ln>
        </p:spPr>
        <p:style>
          <a:lnRef idx="0"/>
          <a:fillRef idx="0"/>
          <a:effectRef idx="0"/>
          <a:fontRef idx="minor"/>
        </p:style>
      </p:sp>
      <p:pic>
        <p:nvPicPr>
          <p:cNvPr id="469" name="Image 1" descr="preencoded.png"/>
          <p:cNvPicPr/>
          <p:nvPr/>
        </p:nvPicPr>
        <p:blipFill>
          <a:blip r:embed="rId2"/>
          <a:stretch/>
        </p:blipFill>
        <p:spPr>
          <a:xfrm>
            <a:off x="3470040" y="1618560"/>
            <a:ext cx="282960" cy="282960"/>
          </a:xfrm>
          <a:prstGeom prst="rect">
            <a:avLst/>
          </a:prstGeom>
          <a:ln w="0">
            <a:noFill/>
          </a:ln>
        </p:spPr>
      </p:pic>
      <p:sp>
        <p:nvSpPr>
          <p:cNvPr id="470" name="Text 8"/>
          <p:cNvSpPr/>
          <p:nvPr/>
        </p:nvSpPr>
        <p:spPr>
          <a:xfrm>
            <a:off x="3954960" y="1444680"/>
            <a:ext cx="18741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f8fafc"/>
                </a:solidFill>
                <a:latin typeface="Calibri"/>
                <a:ea typeface="Calibri"/>
              </a:rPr>
              <a:t>Snapshot</a:t>
            </a:r>
            <a:endParaRPr b="0" lang="en-IN" sz="1250" spc="-1" strike="noStrike">
              <a:latin typeface="Arial"/>
            </a:endParaRPr>
          </a:p>
          <a:p>
            <a:pPr>
              <a:lnSpc>
                <a:spcPct val="100000"/>
              </a:lnSpc>
              <a:buNone/>
              <a:tabLst>
                <a:tab algn="l" pos="0"/>
              </a:tabLst>
            </a:pPr>
            <a:r>
              <a:rPr b="1" lang="en-US" sz="1250" spc="-1" strike="noStrike">
                <a:solidFill>
                  <a:srgbClr val="f8fafc"/>
                </a:solidFill>
                <a:latin typeface="Calibri"/>
                <a:ea typeface="Calibri"/>
              </a:rPr>
              <a:t>Hash Registry</a:t>
            </a:r>
            <a:endParaRPr b="0" lang="en-IN" sz="1250" spc="-1" strike="noStrike">
              <a:latin typeface="Arial"/>
            </a:endParaRPr>
          </a:p>
        </p:txBody>
      </p:sp>
      <p:sp>
        <p:nvSpPr>
          <p:cNvPr id="471" name="Text 9"/>
          <p:cNvSpPr/>
          <p:nvPr/>
        </p:nvSpPr>
        <p:spPr>
          <a:xfrm>
            <a:off x="3360600" y="2057400"/>
            <a:ext cx="246852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Input identity across variants (content-addressed UEG-C snapshots)</a:t>
            </a:r>
            <a:endParaRPr b="0" lang="en-IN" sz="950" spc="-1" strike="noStrike">
              <a:latin typeface="Arial"/>
            </a:endParaRPr>
          </a:p>
        </p:txBody>
      </p:sp>
      <p:sp>
        <p:nvSpPr>
          <p:cNvPr id="472" name="Shape 10"/>
          <p:cNvSpPr/>
          <p:nvPr/>
        </p:nvSpPr>
        <p:spPr>
          <a:xfrm>
            <a:off x="6085440" y="1280160"/>
            <a:ext cx="2788560" cy="1371240"/>
          </a:xfrm>
          <a:prstGeom prst="rect">
            <a:avLst/>
          </a:prstGeom>
          <a:solidFill>
            <a:srgbClr val="1b263b"/>
          </a:solidFill>
          <a:ln w="9525">
            <a:solidFill>
              <a:srgbClr val="334155"/>
            </a:solidFill>
            <a:round/>
          </a:ln>
        </p:spPr>
        <p:style>
          <a:lnRef idx="0"/>
          <a:fillRef idx="0"/>
          <a:effectRef idx="0"/>
          <a:fontRef idx="minor"/>
        </p:style>
      </p:sp>
      <p:sp>
        <p:nvSpPr>
          <p:cNvPr id="473" name="Shape 11"/>
          <p:cNvSpPr/>
          <p:nvPr/>
        </p:nvSpPr>
        <p:spPr>
          <a:xfrm>
            <a:off x="6268320" y="1508760"/>
            <a:ext cx="502560" cy="502560"/>
          </a:xfrm>
          <a:prstGeom prst="ellipse">
            <a:avLst/>
          </a:prstGeom>
          <a:solidFill>
            <a:srgbClr val="164e63"/>
          </a:solidFill>
          <a:ln w="12700">
            <a:solidFill>
              <a:srgbClr val="06b6d4"/>
            </a:solidFill>
            <a:round/>
          </a:ln>
        </p:spPr>
        <p:style>
          <a:lnRef idx="0"/>
          <a:fillRef idx="0"/>
          <a:effectRef idx="0"/>
          <a:fontRef idx="minor"/>
        </p:style>
      </p:sp>
      <p:pic>
        <p:nvPicPr>
          <p:cNvPr id="474" name="Image 2" descr="preencoded.png"/>
          <p:cNvPicPr/>
          <p:nvPr/>
        </p:nvPicPr>
        <p:blipFill>
          <a:blip r:embed="rId3"/>
          <a:stretch/>
        </p:blipFill>
        <p:spPr>
          <a:xfrm>
            <a:off x="6378120" y="1618560"/>
            <a:ext cx="282960" cy="282960"/>
          </a:xfrm>
          <a:prstGeom prst="rect">
            <a:avLst/>
          </a:prstGeom>
          <a:ln w="0">
            <a:noFill/>
          </a:ln>
        </p:spPr>
      </p:pic>
      <p:sp>
        <p:nvSpPr>
          <p:cNvPr id="475" name="Text 12"/>
          <p:cNvSpPr/>
          <p:nvPr/>
        </p:nvSpPr>
        <p:spPr>
          <a:xfrm>
            <a:off x="6862680" y="1444680"/>
            <a:ext cx="18741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f8fafc"/>
                </a:solidFill>
                <a:latin typeface="Calibri"/>
                <a:ea typeface="Calibri"/>
              </a:rPr>
              <a:t>Metric</a:t>
            </a:r>
            <a:endParaRPr b="0" lang="en-IN" sz="1250" spc="-1" strike="noStrike">
              <a:latin typeface="Arial"/>
            </a:endParaRPr>
          </a:p>
          <a:p>
            <a:pPr>
              <a:lnSpc>
                <a:spcPct val="100000"/>
              </a:lnSpc>
              <a:buNone/>
              <a:tabLst>
                <a:tab algn="l" pos="0"/>
              </a:tabLst>
            </a:pPr>
            <a:r>
              <a:rPr b="1" lang="en-US" sz="1250" spc="-1" strike="noStrike">
                <a:solidFill>
                  <a:srgbClr val="f8fafc"/>
                </a:solidFill>
                <a:latin typeface="Calibri"/>
                <a:ea typeface="Calibri"/>
              </a:rPr>
              <a:t>Integrity Gate</a:t>
            </a:r>
            <a:endParaRPr b="0" lang="en-IN" sz="1250" spc="-1" strike="noStrike">
              <a:latin typeface="Arial"/>
            </a:endParaRPr>
          </a:p>
        </p:txBody>
      </p:sp>
      <p:sp>
        <p:nvSpPr>
          <p:cNvPr id="476" name="Text 13"/>
          <p:cNvSpPr/>
          <p:nvPr/>
        </p:nvSpPr>
        <p:spPr>
          <a:xfrm>
            <a:off x="6268320" y="2057400"/>
            <a:ext cx="246852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Runtime rejection of incomplete cells — no zero-imputation</a:t>
            </a:r>
            <a:endParaRPr b="0" lang="en-IN" sz="950" spc="-1" strike="noStrike">
              <a:latin typeface="Arial"/>
            </a:endParaRPr>
          </a:p>
        </p:txBody>
      </p:sp>
      <p:sp>
        <p:nvSpPr>
          <p:cNvPr id="477" name="Shape 14"/>
          <p:cNvSpPr/>
          <p:nvPr/>
        </p:nvSpPr>
        <p:spPr>
          <a:xfrm>
            <a:off x="269640" y="2770560"/>
            <a:ext cx="2788560" cy="1371240"/>
          </a:xfrm>
          <a:prstGeom prst="rect">
            <a:avLst/>
          </a:prstGeom>
          <a:solidFill>
            <a:srgbClr val="1b263b"/>
          </a:solidFill>
          <a:ln w="9525">
            <a:solidFill>
              <a:srgbClr val="334155"/>
            </a:solidFill>
            <a:round/>
          </a:ln>
        </p:spPr>
        <p:style>
          <a:lnRef idx="0"/>
          <a:fillRef idx="0"/>
          <a:effectRef idx="0"/>
          <a:fontRef idx="minor"/>
        </p:style>
      </p:sp>
      <p:sp>
        <p:nvSpPr>
          <p:cNvPr id="478" name="Shape 15"/>
          <p:cNvSpPr/>
          <p:nvPr/>
        </p:nvSpPr>
        <p:spPr>
          <a:xfrm>
            <a:off x="452520" y="2999160"/>
            <a:ext cx="502560" cy="502560"/>
          </a:xfrm>
          <a:prstGeom prst="ellipse">
            <a:avLst/>
          </a:prstGeom>
          <a:solidFill>
            <a:srgbClr val="164e63"/>
          </a:solidFill>
          <a:ln w="12700">
            <a:solidFill>
              <a:srgbClr val="06b6d4"/>
            </a:solidFill>
            <a:round/>
          </a:ln>
        </p:spPr>
        <p:style>
          <a:lnRef idx="0"/>
          <a:fillRef idx="0"/>
          <a:effectRef idx="0"/>
          <a:fontRef idx="minor"/>
        </p:style>
      </p:sp>
      <p:pic>
        <p:nvPicPr>
          <p:cNvPr id="479" name="Image 3" descr="preencoded.png"/>
          <p:cNvPicPr/>
          <p:nvPr/>
        </p:nvPicPr>
        <p:blipFill>
          <a:blip r:embed="rId4"/>
          <a:stretch/>
        </p:blipFill>
        <p:spPr>
          <a:xfrm>
            <a:off x="562320" y="3108960"/>
            <a:ext cx="282960" cy="282960"/>
          </a:xfrm>
          <a:prstGeom prst="rect">
            <a:avLst/>
          </a:prstGeom>
          <a:ln w="0">
            <a:noFill/>
          </a:ln>
        </p:spPr>
      </p:pic>
      <p:sp>
        <p:nvSpPr>
          <p:cNvPr id="480" name="Text 16"/>
          <p:cNvSpPr/>
          <p:nvPr/>
        </p:nvSpPr>
        <p:spPr>
          <a:xfrm>
            <a:off x="1046880" y="2935080"/>
            <a:ext cx="18741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f8fafc"/>
                </a:solidFill>
                <a:latin typeface="Calibri"/>
                <a:ea typeface="Calibri"/>
              </a:rPr>
              <a:t>Exclusion</a:t>
            </a:r>
            <a:endParaRPr b="0" lang="en-IN" sz="1250" spc="-1" strike="noStrike">
              <a:latin typeface="Arial"/>
            </a:endParaRPr>
          </a:p>
          <a:p>
            <a:pPr>
              <a:lnSpc>
                <a:spcPct val="100000"/>
              </a:lnSpc>
              <a:buNone/>
              <a:tabLst>
                <a:tab algn="l" pos="0"/>
              </a:tabLst>
            </a:pPr>
            <a:r>
              <a:rPr b="1" lang="en-US" sz="1250" spc="-1" strike="noStrike">
                <a:solidFill>
                  <a:srgbClr val="f8fafc"/>
                </a:solidFill>
                <a:latin typeface="Calibri"/>
                <a:ea typeface="Calibri"/>
              </a:rPr>
              <a:t>Ledger</a:t>
            </a:r>
            <a:endParaRPr b="0" lang="en-IN" sz="1250" spc="-1" strike="noStrike">
              <a:latin typeface="Arial"/>
            </a:endParaRPr>
          </a:p>
        </p:txBody>
      </p:sp>
      <p:sp>
        <p:nvSpPr>
          <p:cNvPr id="481" name="Text 17"/>
          <p:cNvSpPr/>
          <p:nvPr/>
        </p:nvSpPr>
        <p:spPr>
          <a:xfrm>
            <a:off x="452520" y="3547800"/>
            <a:ext cx="246852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Cryptographically signed, append-only — every excluded run logged</a:t>
            </a:r>
            <a:endParaRPr b="0" lang="en-IN" sz="950" spc="-1" strike="noStrike">
              <a:latin typeface="Arial"/>
            </a:endParaRPr>
          </a:p>
        </p:txBody>
      </p:sp>
      <p:sp>
        <p:nvSpPr>
          <p:cNvPr id="482" name="Shape 18"/>
          <p:cNvSpPr/>
          <p:nvPr/>
        </p:nvSpPr>
        <p:spPr>
          <a:xfrm>
            <a:off x="3177720" y="2770560"/>
            <a:ext cx="2788560" cy="1371240"/>
          </a:xfrm>
          <a:prstGeom prst="rect">
            <a:avLst/>
          </a:prstGeom>
          <a:solidFill>
            <a:srgbClr val="1b263b"/>
          </a:solidFill>
          <a:ln w="9525">
            <a:solidFill>
              <a:srgbClr val="334155"/>
            </a:solidFill>
            <a:round/>
          </a:ln>
        </p:spPr>
        <p:style>
          <a:lnRef idx="0"/>
          <a:fillRef idx="0"/>
          <a:effectRef idx="0"/>
          <a:fontRef idx="minor"/>
        </p:style>
      </p:sp>
      <p:sp>
        <p:nvSpPr>
          <p:cNvPr id="483" name="Shape 19"/>
          <p:cNvSpPr/>
          <p:nvPr/>
        </p:nvSpPr>
        <p:spPr>
          <a:xfrm>
            <a:off x="3360600" y="2999160"/>
            <a:ext cx="502560" cy="502560"/>
          </a:xfrm>
          <a:prstGeom prst="ellipse">
            <a:avLst/>
          </a:prstGeom>
          <a:solidFill>
            <a:srgbClr val="164e63"/>
          </a:solidFill>
          <a:ln w="12700">
            <a:solidFill>
              <a:srgbClr val="06b6d4"/>
            </a:solidFill>
            <a:round/>
          </a:ln>
        </p:spPr>
        <p:style>
          <a:lnRef idx="0"/>
          <a:fillRef idx="0"/>
          <a:effectRef idx="0"/>
          <a:fontRef idx="minor"/>
        </p:style>
      </p:sp>
      <p:pic>
        <p:nvPicPr>
          <p:cNvPr id="484" name="Image 4" descr="preencoded.png"/>
          <p:cNvPicPr/>
          <p:nvPr/>
        </p:nvPicPr>
        <p:blipFill>
          <a:blip r:embed="rId5"/>
          <a:stretch/>
        </p:blipFill>
        <p:spPr>
          <a:xfrm>
            <a:off x="3470040" y="3108960"/>
            <a:ext cx="282960" cy="282960"/>
          </a:xfrm>
          <a:prstGeom prst="rect">
            <a:avLst/>
          </a:prstGeom>
          <a:ln w="0">
            <a:noFill/>
          </a:ln>
        </p:spPr>
      </p:pic>
      <p:sp>
        <p:nvSpPr>
          <p:cNvPr id="485" name="Text 20"/>
          <p:cNvSpPr/>
          <p:nvPr/>
        </p:nvSpPr>
        <p:spPr>
          <a:xfrm>
            <a:off x="3954960" y="2935080"/>
            <a:ext cx="18741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f8fafc"/>
                </a:solidFill>
                <a:latin typeface="Calibri"/>
                <a:ea typeface="Calibri"/>
              </a:rPr>
              <a:t>Deviation</a:t>
            </a:r>
            <a:endParaRPr b="0" lang="en-IN" sz="1250" spc="-1" strike="noStrike">
              <a:latin typeface="Arial"/>
            </a:endParaRPr>
          </a:p>
          <a:p>
            <a:pPr>
              <a:lnSpc>
                <a:spcPct val="100000"/>
              </a:lnSpc>
              <a:buNone/>
              <a:tabLst>
                <a:tab algn="l" pos="0"/>
              </a:tabLst>
            </a:pPr>
            <a:r>
              <a:rPr b="1" lang="en-US" sz="1250" spc="-1" strike="noStrike">
                <a:solidFill>
                  <a:srgbClr val="f8fafc"/>
                </a:solidFill>
                <a:latin typeface="Calibri"/>
                <a:ea typeface="Calibri"/>
              </a:rPr>
              <a:t>Log</a:t>
            </a:r>
            <a:endParaRPr b="0" lang="en-IN" sz="1250" spc="-1" strike="noStrike">
              <a:latin typeface="Arial"/>
            </a:endParaRPr>
          </a:p>
        </p:txBody>
      </p:sp>
      <p:sp>
        <p:nvSpPr>
          <p:cNvPr id="486" name="Text 21"/>
          <p:cNvSpPr/>
          <p:nvPr/>
        </p:nvSpPr>
        <p:spPr>
          <a:xfrm>
            <a:off x="3360600" y="3547800"/>
            <a:ext cx="246852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Cryptographically signed, append-only — every protocol change recorded</a:t>
            </a:r>
            <a:endParaRPr b="0" lang="en-IN" sz="950" spc="-1" strike="noStrike">
              <a:latin typeface="Arial"/>
            </a:endParaRPr>
          </a:p>
        </p:txBody>
      </p:sp>
      <p:sp>
        <p:nvSpPr>
          <p:cNvPr id="487" name="Shape 22"/>
          <p:cNvSpPr/>
          <p:nvPr/>
        </p:nvSpPr>
        <p:spPr>
          <a:xfrm>
            <a:off x="6085440" y="2770560"/>
            <a:ext cx="2788560" cy="1371240"/>
          </a:xfrm>
          <a:prstGeom prst="rect">
            <a:avLst/>
          </a:prstGeom>
          <a:solidFill>
            <a:srgbClr val="1b263b"/>
          </a:solidFill>
          <a:ln w="9525">
            <a:solidFill>
              <a:srgbClr val="334155"/>
            </a:solidFill>
            <a:round/>
          </a:ln>
        </p:spPr>
        <p:style>
          <a:lnRef idx="0"/>
          <a:fillRef idx="0"/>
          <a:effectRef idx="0"/>
          <a:fontRef idx="minor"/>
        </p:style>
      </p:sp>
      <p:sp>
        <p:nvSpPr>
          <p:cNvPr id="488" name="Shape 23"/>
          <p:cNvSpPr/>
          <p:nvPr/>
        </p:nvSpPr>
        <p:spPr>
          <a:xfrm>
            <a:off x="6268320" y="2999160"/>
            <a:ext cx="502560" cy="502560"/>
          </a:xfrm>
          <a:prstGeom prst="ellipse">
            <a:avLst/>
          </a:prstGeom>
          <a:solidFill>
            <a:srgbClr val="164e63"/>
          </a:solidFill>
          <a:ln w="12700">
            <a:solidFill>
              <a:srgbClr val="06b6d4"/>
            </a:solidFill>
            <a:round/>
          </a:ln>
        </p:spPr>
        <p:style>
          <a:lnRef idx="0"/>
          <a:fillRef idx="0"/>
          <a:effectRef idx="0"/>
          <a:fontRef idx="minor"/>
        </p:style>
      </p:sp>
      <p:pic>
        <p:nvPicPr>
          <p:cNvPr id="489" name="Image 5" descr="preencoded.png"/>
          <p:cNvPicPr/>
          <p:nvPr/>
        </p:nvPicPr>
        <p:blipFill>
          <a:blip r:embed="rId6"/>
          <a:stretch/>
        </p:blipFill>
        <p:spPr>
          <a:xfrm>
            <a:off x="6378120" y="3108960"/>
            <a:ext cx="282960" cy="282960"/>
          </a:xfrm>
          <a:prstGeom prst="rect">
            <a:avLst/>
          </a:prstGeom>
          <a:ln w="0">
            <a:noFill/>
          </a:ln>
        </p:spPr>
      </p:pic>
      <p:sp>
        <p:nvSpPr>
          <p:cNvPr id="490" name="Text 24"/>
          <p:cNvSpPr/>
          <p:nvPr/>
        </p:nvSpPr>
        <p:spPr>
          <a:xfrm>
            <a:off x="6862680" y="2935080"/>
            <a:ext cx="18741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50" spc="-1" strike="noStrike">
                <a:solidFill>
                  <a:srgbClr val="f8fafc"/>
                </a:solidFill>
                <a:latin typeface="Calibri"/>
                <a:ea typeface="Calibri"/>
              </a:rPr>
              <a:t>Reconciliation</a:t>
            </a:r>
            <a:endParaRPr b="0" lang="en-IN" sz="1250" spc="-1" strike="noStrike">
              <a:latin typeface="Arial"/>
            </a:endParaRPr>
          </a:p>
          <a:p>
            <a:pPr>
              <a:lnSpc>
                <a:spcPct val="100000"/>
              </a:lnSpc>
              <a:buNone/>
              <a:tabLst>
                <a:tab algn="l" pos="0"/>
              </a:tabLst>
            </a:pPr>
            <a:r>
              <a:rPr b="1" lang="en-US" sz="1250" spc="-1" strike="noStrike">
                <a:solidFill>
                  <a:srgbClr val="f8fafc"/>
                </a:solidFill>
                <a:latin typeface="Calibri"/>
                <a:ea typeface="Calibri"/>
              </a:rPr>
              <a:t>Ledger</a:t>
            </a:r>
            <a:endParaRPr b="0" lang="en-IN" sz="1250" spc="-1" strike="noStrike">
              <a:latin typeface="Arial"/>
            </a:endParaRPr>
          </a:p>
        </p:txBody>
      </p:sp>
      <p:sp>
        <p:nvSpPr>
          <p:cNvPr id="491" name="Text 25"/>
          <p:cNvSpPr/>
          <p:nvPr/>
        </p:nvSpPr>
        <p:spPr>
          <a:xfrm>
            <a:off x="6268320" y="3547800"/>
            <a:ext cx="2468520" cy="548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Two-stage reward correspondence audit</a:t>
            </a:r>
            <a:endParaRPr b="0" lang="en-IN" sz="950" spc="-1" strike="noStrike">
              <a:latin typeface="Arial"/>
            </a:endParaRPr>
          </a:p>
        </p:txBody>
      </p:sp>
      <p:sp>
        <p:nvSpPr>
          <p:cNvPr id="492" name="Shape 26"/>
          <p:cNvSpPr/>
          <p:nvPr/>
        </p:nvSpPr>
        <p:spPr>
          <a:xfrm>
            <a:off x="457200" y="4306680"/>
            <a:ext cx="8595000" cy="502560"/>
          </a:xfrm>
          <a:prstGeom prst="rect">
            <a:avLst/>
          </a:prstGeom>
          <a:solidFill>
            <a:srgbClr val="243549"/>
          </a:solidFill>
          <a:ln w="9525">
            <a:solidFill>
              <a:srgbClr val="334155"/>
            </a:solidFill>
            <a:round/>
          </a:ln>
        </p:spPr>
        <p:style>
          <a:lnRef idx="0"/>
          <a:fillRef idx="0"/>
          <a:effectRef idx="0"/>
          <a:fontRef idx="minor"/>
        </p:style>
      </p:sp>
      <p:sp>
        <p:nvSpPr>
          <p:cNvPr id="493" name="Shape 27"/>
          <p:cNvSpPr/>
          <p:nvPr/>
        </p:nvSpPr>
        <p:spPr>
          <a:xfrm>
            <a:off x="457200" y="4306680"/>
            <a:ext cx="54360" cy="502560"/>
          </a:xfrm>
          <a:prstGeom prst="rect">
            <a:avLst/>
          </a:prstGeom>
          <a:solidFill>
            <a:srgbClr val="f97316"/>
          </a:solidFill>
          <a:ln w="12700">
            <a:solidFill>
              <a:srgbClr val="f97316"/>
            </a:solidFill>
            <a:round/>
          </a:ln>
        </p:spPr>
        <p:style>
          <a:lnRef idx="0"/>
          <a:fillRef idx="0"/>
          <a:effectRef idx="0"/>
          <a:fontRef idx="minor"/>
        </p:style>
      </p:sp>
      <p:sp>
        <p:nvSpPr>
          <p:cNvPr id="494" name="Text 28"/>
          <p:cNvSpPr/>
          <p:nvPr/>
        </p:nvSpPr>
        <p:spPr>
          <a:xfrm>
            <a:off x="640080" y="4306680"/>
            <a:ext cx="8366400" cy="50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200" spc="-1" strike="noStrike">
                <a:solidFill>
                  <a:srgbClr val="f8fafc"/>
                </a:solidFill>
                <a:latin typeface="Calibri"/>
                <a:ea typeface="Calibri"/>
              </a:rPr>
              <a:t>Generalisable beyond HELIOS to AIOps research-method practice — and arguably to DSR research-method practice more broadly.</a:t>
            </a:r>
            <a:endParaRPr b="0" lang="en-IN" sz="1200" spc="-1" strike="noStrike">
              <a:latin typeface="Arial"/>
            </a:endParaRPr>
          </a:p>
        </p:txBody>
      </p:sp>
      <p:sp>
        <p:nvSpPr>
          <p:cNvPr id="495" name="Text 29"/>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Methodology</a:t>
            </a:r>
            <a:endParaRPr b="0" lang="en-IN" sz="850" spc="-1" strike="noStrike">
              <a:latin typeface="Arial"/>
            </a:endParaRPr>
          </a:p>
        </p:txBody>
      </p:sp>
      <p:sp>
        <p:nvSpPr>
          <p:cNvPr id="496" name="Text 30"/>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13 / 22</a:t>
            </a:r>
            <a:endParaRPr b="0" lang="en-IN" sz="900" spc="-1" strike="noStrike">
              <a:latin typeface="Arial"/>
            </a:endParaRPr>
          </a:p>
        </p:txBody>
      </p:sp>
      <p:sp>
        <p:nvSpPr>
          <p:cNvPr id="497" name="Shape 31"/>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98"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HELIOS ARCHITECTURE</a:t>
            </a:r>
            <a:endParaRPr b="0" lang="en-IN" sz="1000" spc="-1" strike="noStrike">
              <a:latin typeface="Arial"/>
            </a:endParaRPr>
          </a:p>
        </p:txBody>
      </p:sp>
      <p:sp>
        <p:nvSpPr>
          <p:cNvPr id="499"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Five layers × five planes — peer pipelines on the same content-hashed snapshot</a:t>
            </a:r>
            <a:endParaRPr b="0" lang="en-IN" sz="2200" spc="-1" strike="noStrike">
              <a:latin typeface="Arial"/>
            </a:endParaRPr>
          </a:p>
        </p:txBody>
      </p:sp>
      <p:sp>
        <p:nvSpPr>
          <p:cNvPr id="500" name="Shape 2"/>
          <p:cNvSpPr/>
          <p:nvPr/>
        </p:nvSpPr>
        <p:spPr>
          <a:xfrm>
            <a:off x="457200" y="1280160"/>
            <a:ext cx="6949080" cy="594000"/>
          </a:xfrm>
          <a:prstGeom prst="rect">
            <a:avLst/>
          </a:prstGeom>
          <a:solidFill>
            <a:srgbClr val="162236"/>
          </a:solidFill>
          <a:ln w="9525">
            <a:solidFill>
              <a:srgbClr val="334155"/>
            </a:solidFill>
            <a:round/>
          </a:ln>
        </p:spPr>
        <p:style>
          <a:lnRef idx="0"/>
          <a:fillRef idx="0"/>
          <a:effectRef idx="0"/>
          <a:fontRef idx="minor"/>
        </p:style>
      </p:sp>
      <p:sp>
        <p:nvSpPr>
          <p:cNvPr id="501" name="Shape 3"/>
          <p:cNvSpPr/>
          <p:nvPr/>
        </p:nvSpPr>
        <p:spPr>
          <a:xfrm>
            <a:off x="457200" y="1280160"/>
            <a:ext cx="72720" cy="594000"/>
          </a:xfrm>
          <a:prstGeom prst="rect">
            <a:avLst/>
          </a:prstGeom>
          <a:solidFill>
            <a:srgbClr val="a78bfa"/>
          </a:solidFill>
          <a:ln w="12700">
            <a:solidFill>
              <a:srgbClr val="a78bfa"/>
            </a:solidFill>
            <a:round/>
          </a:ln>
        </p:spPr>
        <p:style>
          <a:lnRef idx="0"/>
          <a:fillRef idx="0"/>
          <a:effectRef idx="0"/>
          <a:fontRef idx="minor"/>
        </p:style>
      </p:sp>
      <p:sp>
        <p:nvSpPr>
          <p:cNvPr id="502" name="Shape 4"/>
          <p:cNvSpPr/>
          <p:nvPr/>
        </p:nvSpPr>
        <p:spPr>
          <a:xfrm>
            <a:off x="640080" y="1389960"/>
            <a:ext cx="502560" cy="374400"/>
          </a:xfrm>
          <a:prstGeom prst="rect">
            <a:avLst/>
          </a:prstGeom>
          <a:solidFill>
            <a:srgbClr val="a78bfa"/>
          </a:solidFill>
          <a:ln w="12700">
            <a:solidFill>
              <a:srgbClr val="a78bfa"/>
            </a:solidFill>
            <a:round/>
          </a:ln>
        </p:spPr>
        <p:style>
          <a:lnRef idx="0"/>
          <a:fillRef idx="0"/>
          <a:effectRef idx="0"/>
          <a:fontRef idx="minor"/>
        </p:style>
      </p:sp>
      <p:sp>
        <p:nvSpPr>
          <p:cNvPr id="503" name="Text 5"/>
          <p:cNvSpPr/>
          <p:nvPr/>
        </p:nvSpPr>
        <p:spPr>
          <a:xfrm>
            <a:off x="640080" y="1389960"/>
            <a:ext cx="502560" cy="374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0d1b2a"/>
                </a:solidFill>
                <a:latin typeface="Calibri"/>
                <a:ea typeface="Calibri"/>
              </a:rPr>
              <a:t>L4</a:t>
            </a:r>
            <a:endParaRPr b="0" lang="en-IN" sz="1200" spc="-1" strike="noStrike">
              <a:latin typeface="Arial"/>
            </a:endParaRPr>
          </a:p>
        </p:txBody>
      </p:sp>
      <p:sp>
        <p:nvSpPr>
          <p:cNvPr id="504" name="Text 6"/>
          <p:cNvSpPr/>
          <p:nvPr/>
        </p:nvSpPr>
        <p:spPr>
          <a:xfrm>
            <a:off x="1234440" y="1280160"/>
            <a:ext cx="22856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8fafc"/>
                </a:solidFill>
                <a:latin typeface="Calibri"/>
                <a:ea typeface="Calibri"/>
              </a:rPr>
              <a:t>Action &amp; Learning</a:t>
            </a:r>
            <a:endParaRPr b="0" lang="en-IN" sz="1200" spc="-1" strike="noStrike">
              <a:latin typeface="Arial"/>
            </a:endParaRPr>
          </a:p>
        </p:txBody>
      </p:sp>
      <p:sp>
        <p:nvSpPr>
          <p:cNvPr id="505" name="Text 7"/>
          <p:cNvSpPr/>
          <p:nvPr/>
        </p:nvSpPr>
        <p:spPr>
          <a:xfrm>
            <a:off x="3566160" y="1280160"/>
            <a:ext cx="37029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94a3b8"/>
                </a:solidFill>
                <a:latin typeface="Calibri"/>
                <a:ea typeface="Calibri"/>
              </a:rPr>
              <a:t>FGSV (KS-gated shadow) → HITL → Reconciliation</a:t>
            </a:r>
            <a:endParaRPr b="0" lang="en-IN" sz="1050" spc="-1" strike="noStrike">
              <a:latin typeface="Arial"/>
            </a:endParaRPr>
          </a:p>
        </p:txBody>
      </p:sp>
      <p:sp>
        <p:nvSpPr>
          <p:cNvPr id="506" name="Shape 8"/>
          <p:cNvSpPr/>
          <p:nvPr/>
        </p:nvSpPr>
        <p:spPr>
          <a:xfrm>
            <a:off x="457200" y="1947600"/>
            <a:ext cx="6949080" cy="594000"/>
          </a:xfrm>
          <a:prstGeom prst="rect">
            <a:avLst/>
          </a:prstGeom>
          <a:solidFill>
            <a:srgbClr val="162236"/>
          </a:solidFill>
          <a:ln w="9525">
            <a:solidFill>
              <a:srgbClr val="334155"/>
            </a:solidFill>
            <a:round/>
          </a:ln>
        </p:spPr>
        <p:style>
          <a:lnRef idx="0"/>
          <a:fillRef idx="0"/>
          <a:effectRef idx="0"/>
          <a:fontRef idx="minor"/>
        </p:style>
      </p:sp>
      <p:sp>
        <p:nvSpPr>
          <p:cNvPr id="507" name="Shape 9"/>
          <p:cNvSpPr/>
          <p:nvPr/>
        </p:nvSpPr>
        <p:spPr>
          <a:xfrm>
            <a:off x="457200" y="1947600"/>
            <a:ext cx="72720" cy="594000"/>
          </a:xfrm>
          <a:prstGeom prst="rect">
            <a:avLst/>
          </a:prstGeom>
          <a:solidFill>
            <a:srgbClr val="f97316"/>
          </a:solidFill>
          <a:ln w="12700">
            <a:solidFill>
              <a:srgbClr val="f97316"/>
            </a:solidFill>
            <a:round/>
          </a:ln>
        </p:spPr>
        <p:style>
          <a:lnRef idx="0"/>
          <a:fillRef idx="0"/>
          <a:effectRef idx="0"/>
          <a:fontRef idx="minor"/>
        </p:style>
      </p:sp>
      <p:sp>
        <p:nvSpPr>
          <p:cNvPr id="508" name="Shape 10"/>
          <p:cNvSpPr/>
          <p:nvPr/>
        </p:nvSpPr>
        <p:spPr>
          <a:xfrm>
            <a:off x="640080" y="2057400"/>
            <a:ext cx="502560" cy="374400"/>
          </a:xfrm>
          <a:prstGeom prst="rect">
            <a:avLst/>
          </a:prstGeom>
          <a:solidFill>
            <a:srgbClr val="f97316"/>
          </a:solidFill>
          <a:ln w="12700">
            <a:solidFill>
              <a:srgbClr val="f97316"/>
            </a:solidFill>
            <a:round/>
          </a:ln>
        </p:spPr>
        <p:style>
          <a:lnRef idx="0"/>
          <a:fillRef idx="0"/>
          <a:effectRef idx="0"/>
          <a:fontRef idx="minor"/>
        </p:style>
      </p:sp>
      <p:sp>
        <p:nvSpPr>
          <p:cNvPr id="509" name="Text 11"/>
          <p:cNvSpPr/>
          <p:nvPr/>
        </p:nvSpPr>
        <p:spPr>
          <a:xfrm>
            <a:off x="640080" y="2057400"/>
            <a:ext cx="502560" cy="374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0d1b2a"/>
                </a:solidFill>
                <a:latin typeface="Calibri"/>
                <a:ea typeface="Calibri"/>
              </a:rPr>
              <a:t>L3</a:t>
            </a:r>
            <a:endParaRPr b="0" lang="en-IN" sz="1200" spc="-1" strike="noStrike">
              <a:latin typeface="Arial"/>
            </a:endParaRPr>
          </a:p>
        </p:txBody>
      </p:sp>
      <p:sp>
        <p:nvSpPr>
          <p:cNvPr id="510" name="Text 12"/>
          <p:cNvSpPr/>
          <p:nvPr/>
        </p:nvSpPr>
        <p:spPr>
          <a:xfrm>
            <a:off x="1234440" y="1947600"/>
            <a:ext cx="22856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8fafc"/>
                </a:solidFill>
                <a:latin typeface="Calibri"/>
                <a:ea typeface="Calibri"/>
              </a:rPr>
              <a:t>Coordination &amp; Consensus</a:t>
            </a:r>
            <a:endParaRPr b="0" lang="en-IN" sz="1200" spc="-1" strike="noStrike">
              <a:latin typeface="Arial"/>
            </a:endParaRPr>
          </a:p>
        </p:txBody>
      </p:sp>
      <p:sp>
        <p:nvSpPr>
          <p:cNvPr id="511" name="Text 13"/>
          <p:cNvSpPr/>
          <p:nvPr/>
        </p:nvSpPr>
        <p:spPr>
          <a:xfrm>
            <a:off x="3566160" y="1947600"/>
            <a:ext cx="37029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94a3b8"/>
                </a:solidFill>
                <a:latin typeface="Calibri"/>
                <a:ea typeface="Calibri"/>
              </a:rPr>
              <a:t>ACP → ORAR → MAHC (μ, σ) → CoE → Narrative</a:t>
            </a:r>
            <a:endParaRPr b="0" lang="en-IN" sz="1050" spc="-1" strike="noStrike">
              <a:latin typeface="Arial"/>
            </a:endParaRPr>
          </a:p>
        </p:txBody>
      </p:sp>
      <p:sp>
        <p:nvSpPr>
          <p:cNvPr id="512" name="Shape 14"/>
          <p:cNvSpPr/>
          <p:nvPr/>
        </p:nvSpPr>
        <p:spPr>
          <a:xfrm>
            <a:off x="457200" y="2615040"/>
            <a:ext cx="6949080" cy="594000"/>
          </a:xfrm>
          <a:prstGeom prst="rect">
            <a:avLst/>
          </a:prstGeom>
          <a:solidFill>
            <a:srgbClr val="162236"/>
          </a:solidFill>
          <a:ln w="9525">
            <a:solidFill>
              <a:srgbClr val="334155"/>
            </a:solidFill>
            <a:round/>
          </a:ln>
        </p:spPr>
        <p:style>
          <a:lnRef idx="0"/>
          <a:fillRef idx="0"/>
          <a:effectRef idx="0"/>
          <a:fontRef idx="minor"/>
        </p:style>
      </p:sp>
      <p:sp>
        <p:nvSpPr>
          <p:cNvPr id="513" name="Shape 15"/>
          <p:cNvSpPr/>
          <p:nvPr/>
        </p:nvSpPr>
        <p:spPr>
          <a:xfrm>
            <a:off x="457200" y="2615040"/>
            <a:ext cx="72720" cy="594000"/>
          </a:xfrm>
          <a:prstGeom prst="rect">
            <a:avLst/>
          </a:prstGeom>
          <a:solidFill>
            <a:srgbClr val="06b6d4"/>
          </a:solidFill>
          <a:ln w="12700">
            <a:solidFill>
              <a:srgbClr val="06b6d4"/>
            </a:solidFill>
            <a:round/>
          </a:ln>
        </p:spPr>
        <p:style>
          <a:lnRef idx="0"/>
          <a:fillRef idx="0"/>
          <a:effectRef idx="0"/>
          <a:fontRef idx="minor"/>
        </p:style>
      </p:sp>
      <p:sp>
        <p:nvSpPr>
          <p:cNvPr id="514" name="Shape 16"/>
          <p:cNvSpPr/>
          <p:nvPr/>
        </p:nvSpPr>
        <p:spPr>
          <a:xfrm>
            <a:off x="640080" y="2724840"/>
            <a:ext cx="502560" cy="374400"/>
          </a:xfrm>
          <a:prstGeom prst="rect">
            <a:avLst/>
          </a:prstGeom>
          <a:solidFill>
            <a:srgbClr val="06b6d4"/>
          </a:solidFill>
          <a:ln w="12700">
            <a:solidFill>
              <a:srgbClr val="06b6d4"/>
            </a:solidFill>
            <a:round/>
          </a:ln>
        </p:spPr>
        <p:style>
          <a:lnRef idx="0"/>
          <a:fillRef idx="0"/>
          <a:effectRef idx="0"/>
          <a:fontRef idx="minor"/>
        </p:style>
      </p:sp>
      <p:sp>
        <p:nvSpPr>
          <p:cNvPr id="515" name="Text 17"/>
          <p:cNvSpPr/>
          <p:nvPr/>
        </p:nvSpPr>
        <p:spPr>
          <a:xfrm>
            <a:off x="640080" y="2724840"/>
            <a:ext cx="502560" cy="374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0d1b2a"/>
                </a:solidFill>
                <a:latin typeface="Calibri"/>
                <a:ea typeface="Calibri"/>
              </a:rPr>
              <a:t>L2</a:t>
            </a:r>
            <a:endParaRPr b="0" lang="en-IN" sz="1200" spc="-1" strike="noStrike">
              <a:latin typeface="Arial"/>
            </a:endParaRPr>
          </a:p>
        </p:txBody>
      </p:sp>
      <p:sp>
        <p:nvSpPr>
          <p:cNvPr id="516" name="Text 18"/>
          <p:cNvSpPr/>
          <p:nvPr/>
        </p:nvSpPr>
        <p:spPr>
          <a:xfrm>
            <a:off x="1234440" y="2615040"/>
            <a:ext cx="22856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8fafc"/>
                </a:solidFill>
                <a:latin typeface="Calibri"/>
                <a:ea typeface="Calibri"/>
              </a:rPr>
              <a:t>Peer Reasoning Pipelines</a:t>
            </a:r>
            <a:endParaRPr b="0" lang="en-IN" sz="1200" spc="-1" strike="noStrike">
              <a:latin typeface="Arial"/>
            </a:endParaRPr>
          </a:p>
        </p:txBody>
      </p:sp>
      <p:sp>
        <p:nvSpPr>
          <p:cNvPr id="517" name="Text 19"/>
          <p:cNvSpPr/>
          <p:nvPr/>
        </p:nvSpPr>
        <p:spPr>
          <a:xfrm>
            <a:off x="3566160" y="2615040"/>
            <a:ext cx="37029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94a3b8"/>
                </a:solidFill>
                <a:latin typeface="Calibri"/>
                <a:ea typeface="Calibri"/>
              </a:rPr>
              <a:t>D-pipe  ║  G-pipe  ║  L-pipe   (identical inputs)</a:t>
            </a:r>
            <a:endParaRPr b="0" lang="en-IN" sz="1050" spc="-1" strike="noStrike">
              <a:latin typeface="Arial"/>
            </a:endParaRPr>
          </a:p>
        </p:txBody>
      </p:sp>
      <p:sp>
        <p:nvSpPr>
          <p:cNvPr id="518" name="Shape 20"/>
          <p:cNvSpPr/>
          <p:nvPr/>
        </p:nvSpPr>
        <p:spPr>
          <a:xfrm>
            <a:off x="457200" y="3282840"/>
            <a:ext cx="6949080" cy="594000"/>
          </a:xfrm>
          <a:prstGeom prst="rect">
            <a:avLst/>
          </a:prstGeom>
          <a:solidFill>
            <a:srgbClr val="162236"/>
          </a:solidFill>
          <a:ln w="9525">
            <a:solidFill>
              <a:srgbClr val="334155"/>
            </a:solidFill>
            <a:round/>
          </a:ln>
        </p:spPr>
        <p:style>
          <a:lnRef idx="0"/>
          <a:fillRef idx="0"/>
          <a:effectRef idx="0"/>
          <a:fontRef idx="minor"/>
        </p:style>
      </p:sp>
      <p:sp>
        <p:nvSpPr>
          <p:cNvPr id="519" name="Shape 21"/>
          <p:cNvSpPr/>
          <p:nvPr/>
        </p:nvSpPr>
        <p:spPr>
          <a:xfrm>
            <a:off x="457200" y="3282840"/>
            <a:ext cx="72720" cy="594000"/>
          </a:xfrm>
          <a:prstGeom prst="rect">
            <a:avLst/>
          </a:prstGeom>
          <a:solidFill>
            <a:srgbClr val="3b82f6"/>
          </a:solidFill>
          <a:ln w="12700">
            <a:solidFill>
              <a:srgbClr val="3b82f6"/>
            </a:solidFill>
            <a:round/>
          </a:ln>
        </p:spPr>
        <p:style>
          <a:lnRef idx="0"/>
          <a:fillRef idx="0"/>
          <a:effectRef idx="0"/>
          <a:fontRef idx="minor"/>
        </p:style>
      </p:sp>
      <p:sp>
        <p:nvSpPr>
          <p:cNvPr id="520" name="Shape 22"/>
          <p:cNvSpPr/>
          <p:nvPr/>
        </p:nvSpPr>
        <p:spPr>
          <a:xfrm>
            <a:off x="640080" y="3392280"/>
            <a:ext cx="502560" cy="374400"/>
          </a:xfrm>
          <a:prstGeom prst="rect">
            <a:avLst/>
          </a:prstGeom>
          <a:solidFill>
            <a:srgbClr val="3b82f6"/>
          </a:solidFill>
          <a:ln w="12700">
            <a:solidFill>
              <a:srgbClr val="3b82f6"/>
            </a:solidFill>
            <a:round/>
          </a:ln>
        </p:spPr>
        <p:style>
          <a:lnRef idx="0"/>
          <a:fillRef idx="0"/>
          <a:effectRef idx="0"/>
          <a:fontRef idx="minor"/>
        </p:style>
      </p:sp>
      <p:sp>
        <p:nvSpPr>
          <p:cNvPr id="521" name="Text 23"/>
          <p:cNvSpPr/>
          <p:nvPr/>
        </p:nvSpPr>
        <p:spPr>
          <a:xfrm>
            <a:off x="640080" y="3392280"/>
            <a:ext cx="502560" cy="374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0d1b2a"/>
                </a:solidFill>
                <a:latin typeface="Calibri"/>
                <a:ea typeface="Calibri"/>
              </a:rPr>
              <a:t>L1</a:t>
            </a:r>
            <a:endParaRPr b="0" lang="en-IN" sz="1200" spc="-1" strike="noStrike">
              <a:latin typeface="Arial"/>
            </a:endParaRPr>
          </a:p>
        </p:txBody>
      </p:sp>
      <p:sp>
        <p:nvSpPr>
          <p:cNvPr id="522" name="Text 24"/>
          <p:cNvSpPr/>
          <p:nvPr/>
        </p:nvSpPr>
        <p:spPr>
          <a:xfrm>
            <a:off x="1234440" y="3282840"/>
            <a:ext cx="22856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8fafc"/>
                </a:solidFill>
                <a:latin typeface="Calibri"/>
                <a:ea typeface="Calibri"/>
              </a:rPr>
              <a:t>UEG-C Construction</a:t>
            </a:r>
            <a:endParaRPr b="0" lang="en-IN" sz="1200" spc="-1" strike="noStrike">
              <a:latin typeface="Arial"/>
            </a:endParaRPr>
          </a:p>
        </p:txBody>
      </p:sp>
      <p:sp>
        <p:nvSpPr>
          <p:cNvPr id="523" name="Text 25"/>
          <p:cNvSpPr/>
          <p:nvPr/>
        </p:nvSpPr>
        <p:spPr>
          <a:xfrm>
            <a:off x="3566160" y="3282840"/>
            <a:ext cx="37029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94a3b8"/>
                </a:solidFill>
                <a:latin typeface="Calibri"/>
                <a:ea typeface="Calibri"/>
              </a:rPr>
              <a:t>K-hop pruner · 4 typed edges · Agent-Reasoning-Step nodes</a:t>
            </a:r>
            <a:endParaRPr b="0" lang="en-IN" sz="1050" spc="-1" strike="noStrike">
              <a:latin typeface="Arial"/>
            </a:endParaRPr>
          </a:p>
        </p:txBody>
      </p:sp>
      <p:sp>
        <p:nvSpPr>
          <p:cNvPr id="524" name="Shape 26"/>
          <p:cNvSpPr/>
          <p:nvPr/>
        </p:nvSpPr>
        <p:spPr>
          <a:xfrm>
            <a:off x="457200" y="3950280"/>
            <a:ext cx="6949080" cy="594000"/>
          </a:xfrm>
          <a:prstGeom prst="rect">
            <a:avLst/>
          </a:prstGeom>
          <a:solidFill>
            <a:srgbClr val="162236"/>
          </a:solidFill>
          <a:ln w="9525">
            <a:solidFill>
              <a:srgbClr val="334155"/>
            </a:solidFill>
            <a:round/>
          </a:ln>
        </p:spPr>
        <p:style>
          <a:lnRef idx="0"/>
          <a:fillRef idx="0"/>
          <a:effectRef idx="0"/>
          <a:fontRef idx="minor"/>
        </p:style>
      </p:sp>
      <p:sp>
        <p:nvSpPr>
          <p:cNvPr id="525" name="Shape 27"/>
          <p:cNvSpPr/>
          <p:nvPr/>
        </p:nvSpPr>
        <p:spPr>
          <a:xfrm>
            <a:off x="457200" y="3950280"/>
            <a:ext cx="72720" cy="594000"/>
          </a:xfrm>
          <a:prstGeom prst="rect">
            <a:avLst/>
          </a:prstGeom>
          <a:solidFill>
            <a:srgbClr val="10b981"/>
          </a:solidFill>
          <a:ln w="12700">
            <a:solidFill>
              <a:srgbClr val="10b981"/>
            </a:solidFill>
            <a:round/>
          </a:ln>
        </p:spPr>
        <p:style>
          <a:lnRef idx="0"/>
          <a:fillRef idx="0"/>
          <a:effectRef idx="0"/>
          <a:fontRef idx="minor"/>
        </p:style>
      </p:sp>
      <p:sp>
        <p:nvSpPr>
          <p:cNvPr id="526" name="Shape 28"/>
          <p:cNvSpPr/>
          <p:nvPr/>
        </p:nvSpPr>
        <p:spPr>
          <a:xfrm>
            <a:off x="640080" y="4060080"/>
            <a:ext cx="502560" cy="374400"/>
          </a:xfrm>
          <a:prstGeom prst="rect">
            <a:avLst/>
          </a:prstGeom>
          <a:solidFill>
            <a:srgbClr val="10b981"/>
          </a:solidFill>
          <a:ln w="12700">
            <a:solidFill>
              <a:srgbClr val="10b981"/>
            </a:solidFill>
            <a:round/>
          </a:ln>
        </p:spPr>
        <p:style>
          <a:lnRef idx="0"/>
          <a:fillRef idx="0"/>
          <a:effectRef idx="0"/>
          <a:fontRef idx="minor"/>
        </p:style>
      </p:sp>
      <p:sp>
        <p:nvSpPr>
          <p:cNvPr id="527" name="Text 29"/>
          <p:cNvSpPr/>
          <p:nvPr/>
        </p:nvSpPr>
        <p:spPr>
          <a:xfrm>
            <a:off x="640080" y="4060080"/>
            <a:ext cx="502560" cy="374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0d1b2a"/>
                </a:solidFill>
                <a:latin typeface="Calibri"/>
                <a:ea typeface="Calibri"/>
              </a:rPr>
              <a:t>L0</a:t>
            </a:r>
            <a:endParaRPr b="0" lang="en-IN" sz="1200" spc="-1" strike="noStrike">
              <a:latin typeface="Arial"/>
            </a:endParaRPr>
          </a:p>
        </p:txBody>
      </p:sp>
      <p:sp>
        <p:nvSpPr>
          <p:cNvPr id="528" name="Text 30"/>
          <p:cNvSpPr/>
          <p:nvPr/>
        </p:nvSpPr>
        <p:spPr>
          <a:xfrm>
            <a:off x="1234440" y="3950280"/>
            <a:ext cx="22856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8fafc"/>
                </a:solidFill>
                <a:latin typeface="Calibri"/>
                <a:ea typeface="Calibri"/>
              </a:rPr>
              <a:t>Telemetry Ingress</a:t>
            </a:r>
            <a:endParaRPr b="0" lang="en-IN" sz="1200" spc="-1" strike="noStrike">
              <a:latin typeface="Arial"/>
            </a:endParaRPr>
          </a:p>
        </p:txBody>
      </p:sp>
      <p:sp>
        <p:nvSpPr>
          <p:cNvPr id="529" name="Text 31"/>
          <p:cNvSpPr/>
          <p:nvPr/>
        </p:nvSpPr>
        <p:spPr>
          <a:xfrm>
            <a:off x="3566160" y="3950280"/>
            <a:ext cx="370296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50" spc="-1" strike="noStrike">
                <a:solidFill>
                  <a:srgbClr val="94a3b8"/>
                </a:solidFill>
                <a:latin typeface="Calibri"/>
                <a:ea typeface="Calibri"/>
              </a:rPr>
              <a:t>P1 metrics · P2 traces · P3 logs · P4 cognitive · P5 business + Privacy + ARM</a:t>
            </a:r>
            <a:endParaRPr b="0" lang="en-IN" sz="1050" spc="-1" strike="noStrike">
              <a:latin typeface="Arial"/>
            </a:endParaRPr>
          </a:p>
        </p:txBody>
      </p:sp>
      <p:sp>
        <p:nvSpPr>
          <p:cNvPr id="530" name="Shape 32"/>
          <p:cNvSpPr/>
          <p:nvPr/>
        </p:nvSpPr>
        <p:spPr>
          <a:xfrm>
            <a:off x="7589520" y="1280160"/>
            <a:ext cx="1416960" cy="3264120"/>
          </a:xfrm>
          <a:prstGeom prst="rect">
            <a:avLst/>
          </a:prstGeom>
          <a:solidFill>
            <a:srgbClr val="7c2d12"/>
          </a:solidFill>
          <a:ln w="9525">
            <a:solidFill>
              <a:srgbClr val="334155"/>
            </a:solidFill>
            <a:round/>
          </a:ln>
        </p:spPr>
        <p:style>
          <a:lnRef idx="0"/>
          <a:fillRef idx="0"/>
          <a:effectRef idx="0"/>
          <a:fontRef idx="minor"/>
        </p:style>
      </p:sp>
      <p:sp>
        <p:nvSpPr>
          <p:cNvPr id="531" name="Shape 33"/>
          <p:cNvSpPr/>
          <p:nvPr/>
        </p:nvSpPr>
        <p:spPr>
          <a:xfrm>
            <a:off x="7589520" y="1280160"/>
            <a:ext cx="72720" cy="3264120"/>
          </a:xfrm>
          <a:prstGeom prst="rect">
            <a:avLst/>
          </a:prstGeom>
          <a:solidFill>
            <a:srgbClr val="f97316"/>
          </a:solidFill>
          <a:ln w="12700">
            <a:solidFill>
              <a:srgbClr val="f97316"/>
            </a:solidFill>
            <a:round/>
          </a:ln>
        </p:spPr>
        <p:style>
          <a:lnRef idx="0"/>
          <a:fillRef idx="0"/>
          <a:effectRef idx="0"/>
          <a:fontRef idx="minor"/>
        </p:style>
      </p:sp>
      <p:sp>
        <p:nvSpPr>
          <p:cNvPr id="532" name="Text 34"/>
          <p:cNvSpPr/>
          <p:nvPr/>
        </p:nvSpPr>
        <p:spPr>
          <a:xfrm>
            <a:off x="7589520" y="2500920"/>
            <a:ext cx="1416960" cy="4568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100" spc="199" strike="noStrike">
                <a:solidFill>
                  <a:srgbClr val="f97316"/>
                </a:solidFill>
                <a:latin typeface="Calibri"/>
                <a:ea typeface="Calibri"/>
              </a:rPr>
              <a:t>EVALUATION</a:t>
            </a:r>
            <a:endParaRPr b="0" lang="en-IN" sz="1100" spc="-1" strike="noStrike">
              <a:latin typeface="Arial"/>
            </a:endParaRPr>
          </a:p>
          <a:p>
            <a:pPr algn="ctr">
              <a:lnSpc>
                <a:spcPct val="100000"/>
              </a:lnSpc>
              <a:buNone/>
              <a:tabLst>
                <a:tab algn="l" pos="0"/>
              </a:tabLst>
            </a:pPr>
            <a:r>
              <a:rPr b="1" lang="en-US" sz="1100" spc="199" strike="noStrike">
                <a:solidFill>
                  <a:srgbClr val="f97316"/>
                </a:solidFill>
                <a:latin typeface="Calibri"/>
                <a:ea typeface="Calibri"/>
              </a:rPr>
              <a:t>PLANE</a:t>
            </a:r>
            <a:endParaRPr b="0" lang="en-IN" sz="1100" spc="-1" strike="noStrike">
              <a:latin typeface="Arial"/>
            </a:endParaRPr>
          </a:p>
        </p:txBody>
      </p:sp>
      <p:sp>
        <p:nvSpPr>
          <p:cNvPr id="533" name="Text 35"/>
          <p:cNvSpPr/>
          <p:nvPr/>
        </p:nvSpPr>
        <p:spPr>
          <a:xfrm>
            <a:off x="7589520" y="2958120"/>
            <a:ext cx="1416960" cy="6397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900" spc="-1" strike="noStrike">
                <a:solidFill>
                  <a:srgbClr val="f8fafc"/>
                </a:solidFill>
                <a:latin typeface="Calibri"/>
                <a:ea typeface="Calibri"/>
              </a:rPr>
              <a:t>spans all layers</a:t>
            </a:r>
            <a:endParaRPr b="0" lang="en-IN" sz="900" spc="-1" strike="noStrike">
              <a:latin typeface="Arial"/>
            </a:endParaRPr>
          </a:p>
          <a:p>
            <a:pPr algn="ctr">
              <a:lnSpc>
                <a:spcPct val="100000"/>
              </a:lnSpc>
              <a:buNone/>
              <a:tabLst>
                <a:tab algn="l" pos="0"/>
              </a:tabLst>
            </a:pPr>
            <a:r>
              <a:rPr b="0" i="1" lang="en-US" sz="900" spc="-1" strike="noStrike">
                <a:solidFill>
                  <a:srgbClr val="f8fafc"/>
                </a:solidFill>
                <a:latin typeface="Calibri"/>
                <a:ea typeface="Calibri"/>
              </a:rPr>
              <a:t>(C1 apparatus)</a:t>
            </a:r>
            <a:endParaRPr b="0" lang="en-IN" sz="900" spc="-1" strike="noStrike">
              <a:latin typeface="Arial"/>
            </a:endParaRPr>
          </a:p>
        </p:txBody>
      </p:sp>
      <p:sp>
        <p:nvSpPr>
          <p:cNvPr id="534" name="Text 36"/>
          <p:cNvSpPr/>
          <p:nvPr/>
        </p:nvSpPr>
        <p:spPr>
          <a:xfrm>
            <a:off x="457200" y="4572000"/>
            <a:ext cx="8595000" cy="319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1050" spc="-1" strike="noStrike">
                <a:solidFill>
                  <a:srgbClr val="f97316"/>
                </a:solidFill>
                <a:latin typeface="Calibri"/>
                <a:ea typeface="Calibri"/>
              </a:rPr>
              <a:t>Pipelines share no runtime state · any subset disabled by feature flag · variant identity enforced at the binary</a:t>
            </a:r>
            <a:endParaRPr b="0" lang="en-IN" sz="1050" spc="-1" strike="noStrike">
              <a:latin typeface="Arial"/>
            </a:endParaRPr>
          </a:p>
        </p:txBody>
      </p:sp>
      <p:sp>
        <p:nvSpPr>
          <p:cNvPr id="535" name="Text 37"/>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HELIOS Artefact</a:t>
            </a:r>
            <a:endParaRPr b="0" lang="en-IN" sz="850" spc="-1" strike="noStrike">
              <a:latin typeface="Arial"/>
            </a:endParaRPr>
          </a:p>
        </p:txBody>
      </p:sp>
      <p:sp>
        <p:nvSpPr>
          <p:cNvPr id="536" name="Text 38"/>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14 / 22</a:t>
            </a:r>
            <a:endParaRPr b="0" lang="en-IN" sz="900" spc="-1" strike="noStrike">
              <a:latin typeface="Arial"/>
            </a:endParaRPr>
          </a:p>
        </p:txBody>
      </p:sp>
      <p:sp>
        <p:nvSpPr>
          <p:cNvPr id="537" name="Shape 39"/>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538"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THE PEER-PIPELINE INSIGHT</a:t>
            </a:r>
            <a:endParaRPr b="0" lang="en-IN" sz="1000" spc="-1" strike="noStrike">
              <a:latin typeface="Arial"/>
            </a:endParaRPr>
          </a:p>
        </p:txBody>
      </p:sp>
      <p:sp>
        <p:nvSpPr>
          <p:cNvPr id="539"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Central novelty — three paradigms on identical inputs, ablation-first by design</a:t>
            </a:r>
            <a:endParaRPr b="0" lang="en-IN" sz="2200" spc="-1" strike="noStrike">
              <a:latin typeface="Arial"/>
            </a:endParaRPr>
          </a:p>
        </p:txBody>
      </p:sp>
      <p:sp>
        <p:nvSpPr>
          <p:cNvPr id="540" name="Shape 2"/>
          <p:cNvSpPr/>
          <p:nvPr/>
        </p:nvSpPr>
        <p:spPr>
          <a:xfrm>
            <a:off x="457200" y="1417320"/>
            <a:ext cx="1828440" cy="914040"/>
          </a:xfrm>
          <a:prstGeom prst="rect">
            <a:avLst/>
          </a:prstGeom>
          <a:solidFill>
            <a:srgbClr val="243549"/>
          </a:solidFill>
          <a:ln w="9525">
            <a:solidFill>
              <a:srgbClr val="334155"/>
            </a:solidFill>
            <a:round/>
          </a:ln>
        </p:spPr>
        <p:style>
          <a:lnRef idx="0"/>
          <a:fillRef idx="0"/>
          <a:effectRef idx="0"/>
          <a:fontRef idx="minor"/>
        </p:style>
      </p:sp>
      <p:sp>
        <p:nvSpPr>
          <p:cNvPr id="541" name="Shape 3"/>
          <p:cNvSpPr/>
          <p:nvPr/>
        </p:nvSpPr>
        <p:spPr>
          <a:xfrm>
            <a:off x="457200" y="1417320"/>
            <a:ext cx="54360" cy="914040"/>
          </a:xfrm>
          <a:prstGeom prst="rect">
            <a:avLst/>
          </a:prstGeom>
          <a:solidFill>
            <a:srgbClr val="f97316"/>
          </a:solidFill>
          <a:ln w="12700">
            <a:solidFill>
              <a:srgbClr val="f97316"/>
            </a:solidFill>
            <a:round/>
          </a:ln>
        </p:spPr>
        <p:style>
          <a:lnRef idx="0"/>
          <a:fillRef idx="0"/>
          <a:effectRef idx="0"/>
          <a:fontRef idx="minor"/>
        </p:style>
      </p:sp>
      <p:sp>
        <p:nvSpPr>
          <p:cNvPr id="542" name="Text 4"/>
          <p:cNvSpPr/>
          <p:nvPr/>
        </p:nvSpPr>
        <p:spPr>
          <a:xfrm>
            <a:off x="457200" y="1417320"/>
            <a:ext cx="1828440" cy="9140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100" spc="97" strike="noStrike">
                <a:solidFill>
                  <a:srgbClr val="f8fafc"/>
                </a:solidFill>
                <a:latin typeface="Calibri"/>
                <a:ea typeface="Calibri"/>
              </a:rPr>
              <a:t>CONTENT-HASHED</a:t>
            </a:r>
            <a:endParaRPr b="0" lang="en-IN" sz="1100" spc="-1" strike="noStrike">
              <a:latin typeface="Arial"/>
            </a:endParaRPr>
          </a:p>
          <a:p>
            <a:pPr algn="ctr">
              <a:lnSpc>
                <a:spcPct val="100000"/>
              </a:lnSpc>
              <a:buNone/>
              <a:tabLst>
                <a:tab algn="l" pos="0"/>
              </a:tabLst>
            </a:pPr>
            <a:r>
              <a:rPr b="1" lang="en-US" sz="1100" spc="97" strike="noStrike">
                <a:solidFill>
                  <a:srgbClr val="f8fafc"/>
                </a:solidFill>
                <a:latin typeface="Calibri"/>
                <a:ea typeface="Calibri"/>
              </a:rPr>
              <a:t>UEG-C SNAPSHOT</a:t>
            </a:r>
            <a:endParaRPr b="0" lang="en-IN" sz="1100" spc="-1" strike="noStrike">
              <a:latin typeface="Arial"/>
            </a:endParaRPr>
          </a:p>
        </p:txBody>
      </p:sp>
      <p:sp>
        <p:nvSpPr>
          <p:cNvPr id="543" name="Shape 5"/>
          <p:cNvSpPr/>
          <p:nvPr/>
        </p:nvSpPr>
        <p:spPr>
          <a:xfrm>
            <a:off x="3291840" y="1005840"/>
            <a:ext cx="2559960" cy="685440"/>
          </a:xfrm>
          <a:prstGeom prst="rect">
            <a:avLst/>
          </a:prstGeom>
          <a:solidFill>
            <a:srgbClr val="1b263b"/>
          </a:solidFill>
          <a:ln w="9525">
            <a:solidFill>
              <a:srgbClr val="334155"/>
            </a:solidFill>
            <a:round/>
          </a:ln>
        </p:spPr>
        <p:style>
          <a:lnRef idx="0"/>
          <a:fillRef idx="0"/>
          <a:effectRef idx="0"/>
          <a:fontRef idx="minor"/>
        </p:style>
      </p:sp>
      <p:sp>
        <p:nvSpPr>
          <p:cNvPr id="544" name="Shape 6"/>
          <p:cNvSpPr/>
          <p:nvPr/>
        </p:nvSpPr>
        <p:spPr>
          <a:xfrm>
            <a:off x="3291840" y="1005840"/>
            <a:ext cx="54360" cy="685440"/>
          </a:xfrm>
          <a:prstGeom prst="rect">
            <a:avLst/>
          </a:prstGeom>
          <a:solidFill>
            <a:srgbClr val="10b981"/>
          </a:solidFill>
          <a:ln w="12700">
            <a:solidFill>
              <a:srgbClr val="10b981"/>
            </a:solidFill>
            <a:round/>
          </a:ln>
        </p:spPr>
        <p:style>
          <a:lnRef idx="0"/>
          <a:fillRef idx="0"/>
          <a:effectRef idx="0"/>
          <a:fontRef idx="minor"/>
        </p:style>
      </p:sp>
      <p:sp>
        <p:nvSpPr>
          <p:cNvPr id="545" name="Text 7"/>
          <p:cNvSpPr/>
          <p:nvPr/>
        </p:nvSpPr>
        <p:spPr>
          <a:xfrm>
            <a:off x="3474720" y="1097280"/>
            <a:ext cx="228564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10b981"/>
                </a:solidFill>
                <a:latin typeface="Calibri"/>
                <a:ea typeface="Calibri"/>
              </a:rPr>
              <a:t>D-pipe</a:t>
            </a:r>
            <a:endParaRPr b="0" lang="en-IN" sz="1300" spc="-1" strike="noStrike">
              <a:latin typeface="Arial"/>
            </a:endParaRPr>
          </a:p>
        </p:txBody>
      </p:sp>
      <p:sp>
        <p:nvSpPr>
          <p:cNvPr id="546" name="Text 8"/>
          <p:cNvSpPr/>
          <p:nvPr/>
        </p:nvSpPr>
        <p:spPr>
          <a:xfrm>
            <a:off x="3474720" y="1389960"/>
            <a:ext cx="22856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99" strike="noStrike">
                <a:solidFill>
                  <a:srgbClr val="94a3b8"/>
                </a:solidFill>
                <a:latin typeface="Calibri"/>
                <a:ea typeface="Calibri"/>
              </a:rPr>
              <a:t>DETERMINISTIC</a:t>
            </a:r>
            <a:endParaRPr b="0" lang="en-IN" sz="900" spc="-1" strike="noStrike">
              <a:latin typeface="Arial"/>
            </a:endParaRPr>
          </a:p>
        </p:txBody>
      </p:sp>
      <p:sp>
        <p:nvSpPr>
          <p:cNvPr id="547" name="Shape 9"/>
          <p:cNvSpPr/>
          <p:nvPr/>
        </p:nvSpPr>
        <p:spPr>
          <a:xfrm flipV="1">
            <a:off x="2286000" y="1348560"/>
            <a:ext cx="1005840" cy="525960"/>
          </a:xfrm>
          <a:prstGeom prst="line">
            <a:avLst/>
          </a:prstGeom>
          <a:ln w="19050">
            <a:solidFill>
              <a:srgbClr val="475569"/>
            </a:solidFill>
            <a:round/>
          </a:ln>
        </p:spPr>
        <p:style>
          <a:lnRef idx="0"/>
          <a:fillRef idx="0"/>
          <a:effectRef idx="0"/>
          <a:fontRef idx="minor"/>
        </p:style>
      </p:sp>
      <p:sp>
        <p:nvSpPr>
          <p:cNvPr id="548" name="Text 10"/>
          <p:cNvSpPr/>
          <p:nvPr/>
        </p:nvSpPr>
        <p:spPr>
          <a:xfrm>
            <a:off x="6035040" y="1170360"/>
            <a:ext cx="292572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06b6d4"/>
                </a:solidFill>
                <a:latin typeface="Consolas"/>
                <a:ea typeface="Consolas"/>
              </a:rPr>
              <a:t>→ </a:t>
            </a:r>
            <a:r>
              <a:rPr b="0" i="1" lang="en-US" sz="1000" spc="-1" strike="noStrike">
                <a:solidFill>
                  <a:srgbClr val="06b6d4"/>
                </a:solidFill>
                <a:latin typeface="Consolas"/>
                <a:ea typeface="Consolas"/>
              </a:rPr>
              <a:t>(ranked, μ, σ, cost, latency)</a:t>
            </a:r>
            <a:endParaRPr b="0" lang="en-IN" sz="1000" spc="-1" strike="noStrike">
              <a:latin typeface="Arial"/>
            </a:endParaRPr>
          </a:p>
        </p:txBody>
      </p:sp>
      <p:sp>
        <p:nvSpPr>
          <p:cNvPr id="549" name="Shape 11"/>
          <p:cNvSpPr/>
          <p:nvPr/>
        </p:nvSpPr>
        <p:spPr>
          <a:xfrm>
            <a:off x="3291840" y="1874520"/>
            <a:ext cx="2559960" cy="685440"/>
          </a:xfrm>
          <a:prstGeom prst="rect">
            <a:avLst/>
          </a:prstGeom>
          <a:solidFill>
            <a:srgbClr val="1b263b"/>
          </a:solidFill>
          <a:ln w="9525">
            <a:solidFill>
              <a:srgbClr val="334155"/>
            </a:solidFill>
            <a:round/>
          </a:ln>
        </p:spPr>
        <p:style>
          <a:lnRef idx="0"/>
          <a:fillRef idx="0"/>
          <a:effectRef idx="0"/>
          <a:fontRef idx="minor"/>
        </p:style>
      </p:sp>
      <p:sp>
        <p:nvSpPr>
          <p:cNvPr id="550" name="Shape 12"/>
          <p:cNvSpPr/>
          <p:nvPr/>
        </p:nvSpPr>
        <p:spPr>
          <a:xfrm>
            <a:off x="3291840" y="1874520"/>
            <a:ext cx="54360" cy="685440"/>
          </a:xfrm>
          <a:prstGeom prst="rect">
            <a:avLst/>
          </a:prstGeom>
          <a:solidFill>
            <a:srgbClr val="06b6d4"/>
          </a:solidFill>
          <a:ln w="12700">
            <a:solidFill>
              <a:srgbClr val="06b6d4"/>
            </a:solidFill>
            <a:round/>
          </a:ln>
        </p:spPr>
        <p:style>
          <a:lnRef idx="0"/>
          <a:fillRef idx="0"/>
          <a:effectRef idx="0"/>
          <a:fontRef idx="minor"/>
        </p:style>
      </p:sp>
      <p:sp>
        <p:nvSpPr>
          <p:cNvPr id="551" name="Text 13"/>
          <p:cNvSpPr/>
          <p:nvPr/>
        </p:nvSpPr>
        <p:spPr>
          <a:xfrm>
            <a:off x="3474720" y="1965960"/>
            <a:ext cx="228564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06b6d4"/>
                </a:solidFill>
                <a:latin typeface="Calibri"/>
                <a:ea typeface="Calibri"/>
              </a:rPr>
              <a:t>G-pipe</a:t>
            </a:r>
            <a:endParaRPr b="0" lang="en-IN" sz="1300" spc="-1" strike="noStrike">
              <a:latin typeface="Arial"/>
            </a:endParaRPr>
          </a:p>
        </p:txBody>
      </p:sp>
      <p:sp>
        <p:nvSpPr>
          <p:cNvPr id="552" name="Text 14"/>
          <p:cNvSpPr/>
          <p:nvPr/>
        </p:nvSpPr>
        <p:spPr>
          <a:xfrm>
            <a:off x="3474720" y="2258640"/>
            <a:ext cx="22856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99" strike="noStrike">
                <a:solidFill>
                  <a:srgbClr val="94a3b8"/>
                </a:solidFill>
                <a:latin typeface="Calibri"/>
                <a:ea typeface="Calibri"/>
              </a:rPr>
              <a:t>GRAPH-ML</a:t>
            </a:r>
            <a:endParaRPr b="0" lang="en-IN" sz="900" spc="-1" strike="noStrike">
              <a:latin typeface="Arial"/>
            </a:endParaRPr>
          </a:p>
        </p:txBody>
      </p:sp>
      <p:sp>
        <p:nvSpPr>
          <p:cNvPr id="553" name="Shape 15"/>
          <p:cNvSpPr/>
          <p:nvPr/>
        </p:nvSpPr>
        <p:spPr>
          <a:xfrm>
            <a:off x="2286000" y="1874520"/>
            <a:ext cx="1005840" cy="342720"/>
          </a:xfrm>
          <a:prstGeom prst="line">
            <a:avLst/>
          </a:prstGeom>
          <a:ln w="19050">
            <a:solidFill>
              <a:srgbClr val="475569"/>
            </a:solidFill>
            <a:round/>
          </a:ln>
        </p:spPr>
        <p:style>
          <a:lnRef idx="0"/>
          <a:fillRef idx="0"/>
          <a:effectRef idx="0"/>
          <a:fontRef idx="minor"/>
        </p:style>
      </p:sp>
      <p:sp>
        <p:nvSpPr>
          <p:cNvPr id="554" name="Text 16"/>
          <p:cNvSpPr/>
          <p:nvPr/>
        </p:nvSpPr>
        <p:spPr>
          <a:xfrm>
            <a:off x="6035040" y="2039040"/>
            <a:ext cx="292572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06b6d4"/>
                </a:solidFill>
                <a:latin typeface="Consolas"/>
                <a:ea typeface="Consolas"/>
              </a:rPr>
              <a:t>→ </a:t>
            </a:r>
            <a:r>
              <a:rPr b="0" i="1" lang="en-US" sz="1000" spc="-1" strike="noStrike">
                <a:solidFill>
                  <a:srgbClr val="06b6d4"/>
                </a:solidFill>
                <a:latin typeface="Consolas"/>
                <a:ea typeface="Consolas"/>
              </a:rPr>
              <a:t>(ranked, μ, σ, cost, latency)</a:t>
            </a:r>
            <a:endParaRPr b="0" lang="en-IN" sz="1000" spc="-1" strike="noStrike">
              <a:latin typeface="Arial"/>
            </a:endParaRPr>
          </a:p>
        </p:txBody>
      </p:sp>
      <p:sp>
        <p:nvSpPr>
          <p:cNvPr id="555" name="Shape 17"/>
          <p:cNvSpPr/>
          <p:nvPr/>
        </p:nvSpPr>
        <p:spPr>
          <a:xfrm>
            <a:off x="3291840" y="2743200"/>
            <a:ext cx="2559960" cy="685440"/>
          </a:xfrm>
          <a:prstGeom prst="rect">
            <a:avLst/>
          </a:prstGeom>
          <a:solidFill>
            <a:srgbClr val="1b263b"/>
          </a:solidFill>
          <a:ln w="9525">
            <a:solidFill>
              <a:srgbClr val="334155"/>
            </a:solidFill>
            <a:round/>
          </a:ln>
        </p:spPr>
        <p:style>
          <a:lnRef idx="0"/>
          <a:fillRef idx="0"/>
          <a:effectRef idx="0"/>
          <a:fontRef idx="minor"/>
        </p:style>
      </p:sp>
      <p:sp>
        <p:nvSpPr>
          <p:cNvPr id="556" name="Shape 18"/>
          <p:cNvSpPr/>
          <p:nvPr/>
        </p:nvSpPr>
        <p:spPr>
          <a:xfrm>
            <a:off x="3291840" y="2743200"/>
            <a:ext cx="54360" cy="685440"/>
          </a:xfrm>
          <a:prstGeom prst="rect">
            <a:avLst/>
          </a:prstGeom>
          <a:solidFill>
            <a:srgbClr val="a78bfa"/>
          </a:solidFill>
          <a:ln w="12700">
            <a:solidFill>
              <a:srgbClr val="a78bfa"/>
            </a:solidFill>
            <a:round/>
          </a:ln>
        </p:spPr>
        <p:style>
          <a:lnRef idx="0"/>
          <a:fillRef idx="0"/>
          <a:effectRef idx="0"/>
          <a:fontRef idx="minor"/>
        </p:style>
      </p:sp>
      <p:sp>
        <p:nvSpPr>
          <p:cNvPr id="557" name="Text 19"/>
          <p:cNvSpPr/>
          <p:nvPr/>
        </p:nvSpPr>
        <p:spPr>
          <a:xfrm>
            <a:off x="3474720" y="2834640"/>
            <a:ext cx="228564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a78bfa"/>
                </a:solidFill>
                <a:latin typeface="Calibri"/>
                <a:ea typeface="Calibri"/>
              </a:rPr>
              <a:t>L-pipe</a:t>
            </a:r>
            <a:endParaRPr b="0" lang="en-IN" sz="1300" spc="-1" strike="noStrike">
              <a:latin typeface="Arial"/>
            </a:endParaRPr>
          </a:p>
        </p:txBody>
      </p:sp>
      <p:sp>
        <p:nvSpPr>
          <p:cNvPr id="558" name="Text 20"/>
          <p:cNvSpPr/>
          <p:nvPr/>
        </p:nvSpPr>
        <p:spPr>
          <a:xfrm>
            <a:off x="3474720" y="3127320"/>
            <a:ext cx="228564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00" spc="199" strike="noStrike">
                <a:solidFill>
                  <a:srgbClr val="94a3b8"/>
                </a:solidFill>
                <a:latin typeface="Calibri"/>
                <a:ea typeface="Calibri"/>
              </a:rPr>
              <a:t>LLM MULTI-AGENT</a:t>
            </a:r>
            <a:endParaRPr b="0" lang="en-IN" sz="900" spc="-1" strike="noStrike">
              <a:latin typeface="Arial"/>
            </a:endParaRPr>
          </a:p>
        </p:txBody>
      </p:sp>
      <p:sp>
        <p:nvSpPr>
          <p:cNvPr id="559" name="Shape 21"/>
          <p:cNvSpPr/>
          <p:nvPr/>
        </p:nvSpPr>
        <p:spPr>
          <a:xfrm>
            <a:off x="2286000" y="1874520"/>
            <a:ext cx="1005840" cy="1211400"/>
          </a:xfrm>
          <a:prstGeom prst="line">
            <a:avLst/>
          </a:prstGeom>
          <a:ln w="19050">
            <a:solidFill>
              <a:srgbClr val="475569"/>
            </a:solidFill>
            <a:round/>
          </a:ln>
        </p:spPr>
        <p:style>
          <a:lnRef idx="0"/>
          <a:fillRef idx="0"/>
          <a:effectRef idx="0"/>
          <a:fontRef idx="minor"/>
        </p:style>
      </p:sp>
      <p:sp>
        <p:nvSpPr>
          <p:cNvPr id="560" name="Text 22"/>
          <p:cNvSpPr/>
          <p:nvPr/>
        </p:nvSpPr>
        <p:spPr>
          <a:xfrm>
            <a:off x="6035040" y="2907720"/>
            <a:ext cx="292572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06b6d4"/>
                </a:solidFill>
                <a:latin typeface="Consolas"/>
                <a:ea typeface="Consolas"/>
              </a:rPr>
              <a:t>→ </a:t>
            </a:r>
            <a:r>
              <a:rPr b="0" i="1" lang="en-US" sz="1000" spc="-1" strike="noStrike">
                <a:solidFill>
                  <a:srgbClr val="06b6d4"/>
                </a:solidFill>
                <a:latin typeface="Consolas"/>
                <a:ea typeface="Consolas"/>
              </a:rPr>
              <a:t>(ranked, μ, σ, cost, latency)</a:t>
            </a:r>
            <a:endParaRPr b="0" lang="en-IN" sz="1000" spc="-1" strike="noStrike">
              <a:latin typeface="Arial"/>
            </a:endParaRPr>
          </a:p>
        </p:txBody>
      </p:sp>
      <p:sp>
        <p:nvSpPr>
          <p:cNvPr id="561" name="Shape 23"/>
          <p:cNvSpPr/>
          <p:nvPr/>
        </p:nvSpPr>
        <p:spPr>
          <a:xfrm>
            <a:off x="6126480" y="3657600"/>
            <a:ext cx="2559960" cy="456840"/>
          </a:xfrm>
          <a:prstGeom prst="rect">
            <a:avLst/>
          </a:prstGeom>
          <a:solidFill>
            <a:srgbClr val="243549"/>
          </a:solidFill>
          <a:ln w="9525">
            <a:solidFill>
              <a:srgbClr val="334155"/>
            </a:solidFill>
            <a:round/>
          </a:ln>
        </p:spPr>
        <p:style>
          <a:lnRef idx="0"/>
          <a:fillRef idx="0"/>
          <a:effectRef idx="0"/>
          <a:fontRef idx="minor"/>
        </p:style>
      </p:sp>
      <p:sp>
        <p:nvSpPr>
          <p:cNvPr id="562" name="Text 24"/>
          <p:cNvSpPr/>
          <p:nvPr/>
        </p:nvSpPr>
        <p:spPr>
          <a:xfrm>
            <a:off x="6126480" y="3657600"/>
            <a:ext cx="2559960" cy="45684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1200" spc="-1" strike="noStrike">
                <a:solidFill>
                  <a:srgbClr val="f97316"/>
                </a:solidFill>
                <a:latin typeface="Calibri"/>
                <a:ea typeface="Calibri"/>
              </a:rPr>
              <a:t>→ </a:t>
            </a:r>
            <a:r>
              <a:rPr b="1" lang="en-US" sz="1200" spc="-1" strike="noStrike">
                <a:solidFill>
                  <a:srgbClr val="f97316"/>
                </a:solidFill>
                <a:latin typeface="Calibri"/>
                <a:ea typeface="Calibri"/>
              </a:rPr>
              <a:t>MAHC consensus</a:t>
            </a:r>
            <a:endParaRPr b="0" lang="en-IN" sz="1200" spc="-1" strike="noStrike">
              <a:latin typeface="Arial"/>
            </a:endParaRPr>
          </a:p>
        </p:txBody>
      </p:sp>
      <p:sp>
        <p:nvSpPr>
          <p:cNvPr id="563" name="Shape 25"/>
          <p:cNvSpPr/>
          <p:nvPr/>
        </p:nvSpPr>
        <p:spPr>
          <a:xfrm>
            <a:off x="457200" y="4206240"/>
            <a:ext cx="8595000" cy="594000"/>
          </a:xfrm>
          <a:prstGeom prst="rect">
            <a:avLst/>
          </a:prstGeom>
          <a:solidFill>
            <a:srgbClr val="162236"/>
          </a:solidFill>
          <a:ln w="9525">
            <a:solidFill>
              <a:srgbClr val="334155"/>
            </a:solidFill>
            <a:round/>
          </a:ln>
        </p:spPr>
        <p:style>
          <a:lnRef idx="0"/>
          <a:fillRef idx="0"/>
          <a:effectRef idx="0"/>
          <a:fontRef idx="minor"/>
        </p:style>
      </p:sp>
      <p:sp>
        <p:nvSpPr>
          <p:cNvPr id="564" name="Text 26"/>
          <p:cNvSpPr/>
          <p:nvPr/>
        </p:nvSpPr>
        <p:spPr>
          <a:xfrm>
            <a:off x="640080" y="4206240"/>
            <a:ext cx="82292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299" strike="noStrike">
                <a:solidFill>
                  <a:srgbClr val="f97316"/>
                </a:solidFill>
                <a:latin typeface="Calibri"/>
                <a:ea typeface="Calibri"/>
              </a:rPr>
              <a:t>VS.  </a:t>
            </a:r>
            <a:r>
              <a:rPr b="1" lang="en-US" sz="1000" spc="-1" strike="noStrike">
                <a:solidFill>
                  <a:srgbClr val="f8fafc"/>
                </a:solidFill>
                <a:latin typeface="Calibri"/>
                <a:ea typeface="Calibri"/>
              </a:rPr>
              <a:t>mABC </a:t>
            </a:r>
            <a:r>
              <a:rPr b="0" lang="en-US" sz="1000" spc="-1" strike="noStrike">
                <a:solidFill>
                  <a:srgbClr val="94a3b8"/>
                </a:solidFill>
                <a:latin typeface="Calibri"/>
                <a:ea typeface="Calibri"/>
              </a:rPr>
              <a:t>scalar weights · </a:t>
            </a:r>
            <a:r>
              <a:rPr b="1" lang="en-US" sz="1000" spc="-1" strike="noStrike">
                <a:solidFill>
                  <a:srgbClr val="f8fafc"/>
                </a:solidFill>
                <a:latin typeface="Calibri"/>
                <a:ea typeface="Calibri"/>
              </a:rPr>
              <a:t>TAMO </a:t>
            </a:r>
            <a:r>
              <a:rPr b="0" lang="en-US" sz="1000" spc="-1" strike="noStrike">
                <a:solidFill>
                  <a:srgbClr val="94a3b8"/>
                </a:solidFill>
                <a:latin typeface="Calibri"/>
                <a:ea typeface="Calibri"/>
              </a:rPr>
              <a:t>single synthesiser · </a:t>
            </a:r>
            <a:r>
              <a:rPr b="1" lang="en-US" sz="1000" spc="-1" strike="noStrike">
                <a:solidFill>
                  <a:srgbClr val="f8fafc"/>
                </a:solidFill>
                <a:latin typeface="Calibri"/>
                <a:ea typeface="Calibri"/>
              </a:rPr>
              <a:t>Flow-of-Action </a:t>
            </a:r>
            <a:r>
              <a:rPr b="0" lang="en-US" sz="1000" spc="-1" strike="noStrike">
                <a:solidFill>
                  <a:srgbClr val="94a3b8"/>
                </a:solidFill>
                <a:latin typeface="Calibri"/>
                <a:ea typeface="Calibri"/>
              </a:rPr>
              <a:t>sequential cascade · </a:t>
            </a:r>
            <a:r>
              <a:rPr b="1" lang="en-US" sz="1000" spc="-1" strike="noStrike">
                <a:solidFill>
                  <a:srgbClr val="f8fafc"/>
                </a:solidFill>
                <a:latin typeface="Calibri"/>
                <a:ea typeface="Calibri"/>
              </a:rPr>
              <a:t>CHASE </a:t>
            </a:r>
            <a:r>
              <a:rPr b="0" lang="en-US" sz="1000" spc="-1" strike="noStrike">
                <a:solidFill>
                  <a:srgbClr val="94a3b8"/>
                </a:solidFill>
                <a:latin typeface="Calibri"/>
                <a:ea typeface="Calibri"/>
              </a:rPr>
              <a:t>single-mode hypergraph</a:t>
            </a:r>
            <a:endParaRPr b="0" lang="en-IN" sz="1000" spc="-1" strike="noStrike">
              <a:latin typeface="Arial"/>
            </a:endParaRPr>
          </a:p>
        </p:txBody>
      </p:sp>
      <p:sp>
        <p:nvSpPr>
          <p:cNvPr id="565" name="Text 27"/>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HELIOS Artefact</a:t>
            </a:r>
            <a:endParaRPr b="0" lang="en-IN" sz="850" spc="-1" strike="noStrike">
              <a:latin typeface="Arial"/>
            </a:endParaRPr>
          </a:p>
        </p:txBody>
      </p:sp>
      <p:sp>
        <p:nvSpPr>
          <p:cNvPr id="566" name="Text 28"/>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15 / 22</a:t>
            </a:r>
            <a:endParaRPr b="0" lang="en-IN" sz="900" spc="-1" strike="noStrike">
              <a:latin typeface="Arial"/>
            </a:endParaRPr>
          </a:p>
        </p:txBody>
      </p:sp>
      <p:sp>
        <p:nvSpPr>
          <p:cNvPr id="567" name="Shape 29"/>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568"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C2 — UEG-C WITH COGNITIVE NODES</a:t>
            </a:r>
            <a:endParaRPr b="0" lang="en-IN" sz="1000" spc="-1" strike="noStrike">
              <a:latin typeface="Arial"/>
            </a:endParaRPr>
          </a:p>
        </p:txBody>
      </p:sp>
      <p:sp>
        <p:nvSpPr>
          <p:cNvPr id="569"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Four typed edge classes admit cross-domain composition queries</a:t>
            </a:r>
            <a:endParaRPr b="0" lang="en-IN" sz="2200" spc="-1" strike="noStrike">
              <a:latin typeface="Arial"/>
            </a:endParaRPr>
          </a:p>
        </p:txBody>
      </p:sp>
      <p:sp>
        <p:nvSpPr>
          <p:cNvPr id="570" name="Shape 2"/>
          <p:cNvSpPr/>
          <p:nvPr/>
        </p:nvSpPr>
        <p:spPr>
          <a:xfrm>
            <a:off x="457200" y="1280160"/>
            <a:ext cx="4754520" cy="3200040"/>
          </a:xfrm>
          <a:prstGeom prst="rect">
            <a:avLst/>
          </a:prstGeom>
          <a:solidFill>
            <a:srgbClr val="162236"/>
          </a:solidFill>
          <a:ln w="9525">
            <a:solidFill>
              <a:srgbClr val="334155"/>
            </a:solidFill>
            <a:round/>
          </a:ln>
        </p:spPr>
        <p:style>
          <a:lnRef idx="0"/>
          <a:fillRef idx="0"/>
          <a:effectRef idx="0"/>
          <a:fontRef idx="minor"/>
        </p:style>
      </p:sp>
      <p:sp>
        <p:nvSpPr>
          <p:cNvPr id="571" name="Shape 3"/>
          <p:cNvSpPr/>
          <p:nvPr/>
        </p:nvSpPr>
        <p:spPr>
          <a:xfrm flipV="1">
            <a:off x="1508760" y="1901880"/>
            <a:ext cx="1508760" cy="182880"/>
          </a:xfrm>
          <a:prstGeom prst="line">
            <a:avLst/>
          </a:prstGeom>
          <a:ln w="21590">
            <a:solidFill>
              <a:srgbClr val="06b6d4"/>
            </a:solidFill>
            <a:round/>
          </a:ln>
        </p:spPr>
        <p:style>
          <a:lnRef idx="0"/>
          <a:fillRef idx="0"/>
          <a:effectRef idx="0"/>
          <a:fontRef idx="minor"/>
        </p:style>
      </p:sp>
      <p:sp>
        <p:nvSpPr>
          <p:cNvPr id="572" name="Shape 4"/>
          <p:cNvSpPr/>
          <p:nvPr/>
        </p:nvSpPr>
        <p:spPr>
          <a:xfrm>
            <a:off x="3017520" y="1901880"/>
            <a:ext cx="1463040" cy="411480"/>
          </a:xfrm>
          <a:prstGeom prst="line">
            <a:avLst/>
          </a:prstGeom>
          <a:ln w="21590">
            <a:solidFill>
              <a:srgbClr val="fbbf24"/>
            </a:solidFill>
            <a:prstDash val="dash"/>
            <a:round/>
          </a:ln>
        </p:spPr>
        <p:style>
          <a:lnRef idx="0"/>
          <a:fillRef idx="0"/>
          <a:effectRef idx="0"/>
          <a:fontRef idx="minor"/>
        </p:style>
      </p:sp>
      <p:sp>
        <p:nvSpPr>
          <p:cNvPr id="573" name="Shape 5"/>
          <p:cNvSpPr/>
          <p:nvPr/>
        </p:nvSpPr>
        <p:spPr>
          <a:xfrm>
            <a:off x="1508760" y="2084760"/>
            <a:ext cx="2788920" cy="1554480"/>
          </a:xfrm>
          <a:prstGeom prst="line">
            <a:avLst/>
          </a:prstGeom>
          <a:ln w="21590">
            <a:solidFill>
              <a:srgbClr val="a78bfa"/>
            </a:solidFill>
            <a:round/>
          </a:ln>
        </p:spPr>
        <p:style>
          <a:lnRef idx="0"/>
          <a:fillRef idx="0"/>
          <a:effectRef idx="0"/>
          <a:fontRef idx="minor"/>
        </p:style>
      </p:sp>
      <p:sp>
        <p:nvSpPr>
          <p:cNvPr id="574" name="Shape 6"/>
          <p:cNvSpPr/>
          <p:nvPr/>
        </p:nvSpPr>
        <p:spPr>
          <a:xfrm flipV="1">
            <a:off x="4297680" y="2313360"/>
            <a:ext cx="182880" cy="1325880"/>
          </a:xfrm>
          <a:prstGeom prst="line">
            <a:avLst/>
          </a:prstGeom>
          <a:ln w="21590">
            <a:solidFill>
              <a:srgbClr val="ef4444"/>
            </a:solidFill>
            <a:prstDash val="dash"/>
            <a:round/>
          </a:ln>
        </p:spPr>
        <p:style>
          <a:lnRef idx="0"/>
          <a:fillRef idx="0"/>
          <a:effectRef idx="0"/>
          <a:fontRef idx="minor"/>
        </p:style>
      </p:sp>
      <p:sp>
        <p:nvSpPr>
          <p:cNvPr id="575" name="Shape 7"/>
          <p:cNvSpPr/>
          <p:nvPr/>
        </p:nvSpPr>
        <p:spPr>
          <a:xfrm flipH="1" flipV="1">
            <a:off x="1508760" y="2084760"/>
            <a:ext cx="777240" cy="1143000"/>
          </a:xfrm>
          <a:prstGeom prst="line">
            <a:avLst/>
          </a:prstGeom>
          <a:ln w="21590">
            <a:solidFill>
              <a:srgbClr val="ef4444"/>
            </a:solidFill>
            <a:prstDash val="dash"/>
            <a:round/>
          </a:ln>
        </p:spPr>
        <p:style>
          <a:lnRef idx="0"/>
          <a:fillRef idx="0"/>
          <a:effectRef idx="0"/>
          <a:fontRef idx="minor"/>
        </p:style>
      </p:sp>
      <p:sp>
        <p:nvSpPr>
          <p:cNvPr id="576" name="Shape 8"/>
          <p:cNvSpPr/>
          <p:nvPr/>
        </p:nvSpPr>
        <p:spPr>
          <a:xfrm>
            <a:off x="2286000" y="3227760"/>
            <a:ext cx="2011680" cy="411480"/>
          </a:xfrm>
          <a:prstGeom prst="line">
            <a:avLst/>
          </a:prstGeom>
          <a:ln w="21590">
            <a:solidFill>
              <a:srgbClr val="a78bfa"/>
            </a:solidFill>
            <a:round/>
          </a:ln>
        </p:spPr>
        <p:style>
          <a:lnRef idx="0"/>
          <a:fillRef idx="0"/>
          <a:effectRef idx="0"/>
          <a:fontRef idx="minor"/>
        </p:style>
      </p:sp>
      <p:sp>
        <p:nvSpPr>
          <p:cNvPr id="577" name="Shape 9"/>
          <p:cNvSpPr/>
          <p:nvPr/>
        </p:nvSpPr>
        <p:spPr>
          <a:xfrm>
            <a:off x="960120" y="1920240"/>
            <a:ext cx="1096920" cy="328680"/>
          </a:xfrm>
          <a:prstGeom prst="roundRect">
            <a:avLst>
              <a:gd name="adj" fmla="val 16667"/>
            </a:avLst>
          </a:prstGeom>
          <a:solidFill>
            <a:srgbClr val="1b263b"/>
          </a:solidFill>
          <a:ln w="19050">
            <a:solidFill>
              <a:srgbClr val="06b6d4"/>
            </a:solidFill>
            <a:round/>
          </a:ln>
        </p:spPr>
        <p:style>
          <a:lnRef idx="0"/>
          <a:fillRef idx="0"/>
          <a:effectRef idx="0"/>
          <a:fontRef idx="minor"/>
        </p:style>
      </p:sp>
      <p:sp>
        <p:nvSpPr>
          <p:cNvPr id="578" name="Shape 10"/>
          <p:cNvSpPr/>
          <p:nvPr/>
        </p:nvSpPr>
        <p:spPr>
          <a:xfrm>
            <a:off x="960120" y="1920240"/>
            <a:ext cx="365400" cy="328680"/>
          </a:xfrm>
          <a:prstGeom prst="roundRect">
            <a:avLst>
              <a:gd name="adj" fmla="val 16667"/>
            </a:avLst>
          </a:prstGeom>
          <a:solidFill>
            <a:srgbClr val="06b6d4"/>
          </a:solidFill>
          <a:ln w="12700">
            <a:solidFill>
              <a:srgbClr val="06b6d4"/>
            </a:solidFill>
            <a:round/>
          </a:ln>
        </p:spPr>
        <p:style>
          <a:lnRef idx="0"/>
          <a:fillRef idx="0"/>
          <a:effectRef idx="0"/>
          <a:fontRef idx="minor"/>
        </p:style>
      </p:sp>
      <p:sp>
        <p:nvSpPr>
          <p:cNvPr id="579" name="Text 11"/>
          <p:cNvSpPr/>
          <p:nvPr/>
        </p:nvSpPr>
        <p:spPr>
          <a:xfrm>
            <a:off x="960120" y="1920240"/>
            <a:ext cx="365400" cy="328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d1b2a"/>
                </a:solidFill>
                <a:latin typeface="Calibri"/>
                <a:ea typeface="Calibri"/>
              </a:rPr>
              <a:t>SVC</a:t>
            </a:r>
            <a:endParaRPr b="0" lang="en-IN" sz="800" spc="-1" strike="noStrike">
              <a:latin typeface="Arial"/>
            </a:endParaRPr>
          </a:p>
        </p:txBody>
      </p:sp>
      <p:sp>
        <p:nvSpPr>
          <p:cNvPr id="580" name="Text 12"/>
          <p:cNvSpPr/>
          <p:nvPr/>
        </p:nvSpPr>
        <p:spPr>
          <a:xfrm>
            <a:off x="1344240" y="1920240"/>
            <a:ext cx="712800" cy="328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f8fafc"/>
                </a:solidFill>
                <a:latin typeface="Calibri"/>
                <a:ea typeface="Calibri"/>
              </a:rPr>
              <a:t>service-A</a:t>
            </a:r>
            <a:endParaRPr b="0" lang="en-IN" sz="850" spc="-1" strike="noStrike">
              <a:latin typeface="Arial"/>
            </a:endParaRPr>
          </a:p>
        </p:txBody>
      </p:sp>
      <p:sp>
        <p:nvSpPr>
          <p:cNvPr id="581" name="Shape 13"/>
          <p:cNvSpPr/>
          <p:nvPr/>
        </p:nvSpPr>
        <p:spPr>
          <a:xfrm>
            <a:off x="2468880" y="1737360"/>
            <a:ext cx="1096920" cy="328680"/>
          </a:xfrm>
          <a:prstGeom prst="roundRect">
            <a:avLst>
              <a:gd name="adj" fmla="val 16667"/>
            </a:avLst>
          </a:prstGeom>
          <a:solidFill>
            <a:srgbClr val="1b263b"/>
          </a:solidFill>
          <a:ln w="19050">
            <a:solidFill>
              <a:srgbClr val="3b82f6"/>
            </a:solidFill>
            <a:round/>
          </a:ln>
        </p:spPr>
        <p:style>
          <a:lnRef idx="0"/>
          <a:fillRef idx="0"/>
          <a:effectRef idx="0"/>
          <a:fontRef idx="minor"/>
        </p:style>
      </p:sp>
      <p:sp>
        <p:nvSpPr>
          <p:cNvPr id="582" name="Shape 14"/>
          <p:cNvSpPr/>
          <p:nvPr/>
        </p:nvSpPr>
        <p:spPr>
          <a:xfrm>
            <a:off x="2468880" y="1737360"/>
            <a:ext cx="365400" cy="328680"/>
          </a:xfrm>
          <a:prstGeom prst="roundRect">
            <a:avLst>
              <a:gd name="adj" fmla="val 16667"/>
            </a:avLst>
          </a:prstGeom>
          <a:solidFill>
            <a:srgbClr val="3b82f6"/>
          </a:solidFill>
          <a:ln w="12700">
            <a:solidFill>
              <a:srgbClr val="3b82f6"/>
            </a:solidFill>
            <a:round/>
          </a:ln>
        </p:spPr>
        <p:style>
          <a:lnRef idx="0"/>
          <a:fillRef idx="0"/>
          <a:effectRef idx="0"/>
          <a:fontRef idx="minor"/>
        </p:style>
      </p:sp>
      <p:sp>
        <p:nvSpPr>
          <p:cNvPr id="583" name="Text 15"/>
          <p:cNvSpPr/>
          <p:nvPr/>
        </p:nvSpPr>
        <p:spPr>
          <a:xfrm>
            <a:off x="2468880" y="1737360"/>
            <a:ext cx="365400" cy="328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d1b2a"/>
                </a:solidFill>
                <a:latin typeface="Calibri"/>
                <a:ea typeface="Calibri"/>
              </a:rPr>
              <a:t>INFRA</a:t>
            </a:r>
            <a:endParaRPr b="0" lang="en-IN" sz="800" spc="-1" strike="noStrike">
              <a:latin typeface="Arial"/>
            </a:endParaRPr>
          </a:p>
        </p:txBody>
      </p:sp>
      <p:sp>
        <p:nvSpPr>
          <p:cNvPr id="584" name="Text 16"/>
          <p:cNvSpPr/>
          <p:nvPr/>
        </p:nvSpPr>
        <p:spPr>
          <a:xfrm>
            <a:off x="2853000" y="1737360"/>
            <a:ext cx="712800" cy="328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f8fafc"/>
                </a:solidFill>
                <a:latin typeface="Calibri"/>
                <a:ea typeface="Calibri"/>
              </a:rPr>
              <a:t>DB-shard-3</a:t>
            </a:r>
            <a:endParaRPr b="0" lang="en-IN" sz="850" spc="-1" strike="noStrike">
              <a:latin typeface="Arial"/>
            </a:endParaRPr>
          </a:p>
        </p:txBody>
      </p:sp>
      <p:sp>
        <p:nvSpPr>
          <p:cNvPr id="585" name="Shape 17"/>
          <p:cNvSpPr/>
          <p:nvPr/>
        </p:nvSpPr>
        <p:spPr>
          <a:xfrm>
            <a:off x="3931920" y="2148840"/>
            <a:ext cx="1096920" cy="328680"/>
          </a:xfrm>
          <a:prstGeom prst="roundRect">
            <a:avLst>
              <a:gd name="adj" fmla="val 16667"/>
            </a:avLst>
          </a:prstGeom>
          <a:solidFill>
            <a:srgbClr val="1b263b"/>
          </a:solidFill>
          <a:ln w="19050">
            <a:solidFill>
              <a:srgbClr val="10b981"/>
            </a:solidFill>
            <a:round/>
          </a:ln>
        </p:spPr>
        <p:style>
          <a:lnRef idx="0"/>
          <a:fillRef idx="0"/>
          <a:effectRef idx="0"/>
          <a:fontRef idx="minor"/>
        </p:style>
      </p:sp>
      <p:sp>
        <p:nvSpPr>
          <p:cNvPr id="586" name="Shape 18"/>
          <p:cNvSpPr/>
          <p:nvPr/>
        </p:nvSpPr>
        <p:spPr>
          <a:xfrm>
            <a:off x="3931920" y="2148840"/>
            <a:ext cx="365400" cy="328680"/>
          </a:xfrm>
          <a:prstGeom prst="roundRect">
            <a:avLst>
              <a:gd name="adj" fmla="val 16667"/>
            </a:avLst>
          </a:prstGeom>
          <a:solidFill>
            <a:srgbClr val="10b981"/>
          </a:solidFill>
          <a:ln w="12700">
            <a:solidFill>
              <a:srgbClr val="10b981"/>
            </a:solidFill>
            <a:round/>
          </a:ln>
        </p:spPr>
        <p:style>
          <a:lnRef idx="0"/>
          <a:fillRef idx="0"/>
          <a:effectRef idx="0"/>
          <a:fontRef idx="minor"/>
        </p:style>
      </p:sp>
      <p:sp>
        <p:nvSpPr>
          <p:cNvPr id="587" name="Text 19"/>
          <p:cNvSpPr/>
          <p:nvPr/>
        </p:nvSpPr>
        <p:spPr>
          <a:xfrm>
            <a:off x="3931920" y="2148840"/>
            <a:ext cx="365400" cy="328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d1b2a"/>
                </a:solidFill>
                <a:latin typeface="Calibri"/>
                <a:ea typeface="Calibri"/>
              </a:rPr>
              <a:t>KPI</a:t>
            </a:r>
            <a:endParaRPr b="0" lang="en-IN" sz="800" spc="-1" strike="noStrike">
              <a:latin typeface="Arial"/>
            </a:endParaRPr>
          </a:p>
        </p:txBody>
      </p:sp>
      <p:sp>
        <p:nvSpPr>
          <p:cNvPr id="588" name="Text 20"/>
          <p:cNvSpPr/>
          <p:nvPr/>
        </p:nvSpPr>
        <p:spPr>
          <a:xfrm>
            <a:off x="4316040" y="2148840"/>
            <a:ext cx="712800" cy="328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f8fafc"/>
                </a:solidFill>
                <a:latin typeface="Calibri"/>
                <a:ea typeface="Calibri"/>
              </a:rPr>
              <a:t>checkout-KPI</a:t>
            </a:r>
            <a:endParaRPr b="0" lang="en-IN" sz="850" spc="-1" strike="noStrike">
              <a:latin typeface="Arial"/>
            </a:endParaRPr>
          </a:p>
        </p:txBody>
      </p:sp>
      <p:sp>
        <p:nvSpPr>
          <p:cNvPr id="589" name="Shape 21"/>
          <p:cNvSpPr/>
          <p:nvPr/>
        </p:nvSpPr>
        <p:spPr>
          <a:xfrm>
            <a:off x="1737360" y="3063240"/>
            <a:ext cx="1096920" cy="328680"/>
          </a:xfrm>
          <a:prstGeom prst="roundRect">
            <a:avLst>
              <a:gd name="adj" fmla="val 16667"/>
            </a:avLst>
          </a:prstGeom>
          <a:solidFill>
            <a:srgbClr val="1b263b"/>
          </a:solidFill>
          <a:ln w="19050">
            <a:solidFill>
              <a:srgbClr val="f97316"/>
            </a:solidFill>
            <a:round/>
          </a:ln>
        </p:spPr>
        <p:style>
          <a:lnRef idx="0"/>
          <a:fillRef idx="0"/>
          <a:effectRef idx="0"/>
          <a:fontRef idx="minor"/>
        </p:style>
      </p:sp>
      <p:sp>
        <p:nvSpPr>
          <p:cNvPr id="590" name="Shape 22"/>
          <p:cNvSpPr/>
          <p:nvPr/>
        </p:nvSpPr>
        <p:spPr>
          <a:xfrm>
            <a:off x="1737360" y="3063240"/>
            <a:ext cx="365400" cy="328680"/>
          </a:xfrm>
          <a:prstGeom prst="roundRect">
            <a:avLst>
              <a:gd name="adj" fmla="val 16667"/>
            </a:avLst>
          </a:prstGeom>
          <a:solidFill>
            <a:srgbClr val="f97316"/>
          </a:solidFill>
          <a:ln w="12700">
            <a:solidFill>
              <a:srgbClr val="f97316"/>
            </a:solidFill>
            <a:round/>
          </a:ln>
        </p:spPr>
        <p:style>
          <a:lnRef idx="0"/>
          <a:fillRef idx="0"/>
          <a:effectRef idx="0"/>
          <a:fontRef idx="minor"/>
        </p:style>
      </p:sp>
      <p:sp>
        <p:nvSpPr>
          <p:cNvPr id="591" name="Text 23"/>
          <p:cNvSpPr/>
          <p:nvPr/>
        </p:nvSpPr>
        <p:spPr>
          <a:xfrm>
            <a:off x="1737360" y="3063240"/>
            <a:ext cx="365400" cy="328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d1b2a"/>
                </a:solidFill>
                <a:latin typeface="Calibri"/>
                <a:ea typeface="Calibri"/>
              </a:rPr>
              <a:t>AGT</a:t>
            </a:r>
            <a:endParaRPr b="0" lang="en-IN" sz="800" spc="-1" strike="noStrike">
              <a:latin typeface="Arial"/>
            </a:endParaRPr>
          </a:p>
        </p:txBody>
      </p:sp>
      <p:sp>
        <p:nvSpPr>
          <p:cNvPr id="592" name="Text 24"/>
          <p:cNvSpPr/>
          <p:nvPr/>
        </p:nvSpPr>
        <p:spPr>
          <a:xfrm>
            <a:off x="2121480" y="3063240"/>
            <a:ext cx="712800" cy="328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f8fafc"/>
                </a:solidFill>
                <a:latin typeface="Calibri"/>
                <a:ea typeface="Calibri"/>
              </a:rPr>
              <a:t>agent-reasoning-step</a:t>
            </a:r>
            <a:endParaRPr b="0" lang="en-IN" sz="850" spc="-1" strike="noStrike">
              <a:latin typeface="Arial"/>
            </a:endParaRPr>
          </a:p>
        </p:txBody>
      </p:sp>
      <p:sp>
        <p:nvSpPr>
          <p:cNvPr id="593" name="Shape 25"/>
          <p:cNvSpPr/>
          <p:nvPr/>
        </p:nvSpPr>
        <p:spPr>
          <a:xfrm>
            <a:off x="3749040" y="3474720"/>
            <a:ext cx="1096920" cy="328680"/>
          </a:xfrm>
          <a:prstGeom prst="roundRect">
            <a:avLst>
              <a:gd name="adj" fmla="val 16667"/>
            </a:avLst>
          </a:prstGeom>
          <a:solidFill>
            <a:srgbClr val="1b263b"/>
          </a:solidFill>
          <a:ln w="19050">
            <a:solidFill>
              <a:srgbClr val="06b6d4"/>
            </a:solidFill>
            <a:round/>
          </a:ln>
        </p:spPr>
        <p:style>
          <a:lnRef idx="0"/>
          <a:fillRef idx="0"/>
          <a:effectRef idx="0"/>
          <a:fontRef idx="minor"/>
        </p:style>
      </p:sp>
      <p:sp>
        <p:nvSpPr>
          <p:cNvPr id="594" name="Shape 26"/>
          <p:cNvSpPr/>
          <p:nvPr/>
        </p:nvSpPr>
        <p:spPr>
          <a:xfrm>
            <a:off x="3749040" y="3474720"/>
            <a:ext cx="365400" cy="328680"/>
          </a:xfrm>
          <a:prstGeom prst="roundRect">
            <a:avLst>
              <a:gd name="adj" fmla="val 16667"/>
            </a:avLst>
          </a:prstGeom>
          <a:solidFill>
            <a:srgbClr val="06b6d4"/>
          </a:solidFill>
          <a:ln w="12700">
            <a:solidFill>
              <a:srgbClr val="06b6d4"/>
            </a:solidFill>
            <a:round/>
          </a:ln>
        </p:spPr>
        <p:style>
          <a:lnRef idx="0"/>
          <a:fillRef idx="0"/>
          <a:effectRef idx="0"/>
          <a:fontRef idx="minor"/>
        </p:style>
      </p:sp>
      <p:sp>
        <p:nvSpPr>
          <p:cNvPr id="595" name="Text 27"/>
          <p:cNvSpPr/>
          <p:nvPr/>
        </p:nvSpPr>
        <p:spPr>
          <a:xfrm>
            <a:off x="3749040" y="3474720"/>
            <a:ext cx="365400" cy="3286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d1b2a"/>
                </a:solidFill>
                <a:latin typeface="Calibri"/>
                <a:ea typeface="Calibri"/>
              </a:rPr>
              <a:t>SVC</a:t>
            </a:r>
            <a:endParaRPr b="0" lang="en-IN" sz="800" spc="-1" strike="noStrike">
              <a:latin typeface="Arial"/>
            </a:endParaRPr>
          </a:p>
        </p:txBody>
      </p:sp>
      <p:sp>
        <p:nvSpPr>
          <p:cNvPr id="596" name="Text 28"/>
          <p:cNvSpPr/>
          <p:nvPr/>
        </p:nvSpPr>
        <p:spPr>
          <a:xfrm>
            <a:off x="4133160" y="3474720"/>
            <a:ext cx="712800" cy="3286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f8fafc"/>
                </a:solidFill>
                <a:latin typeface="Calibri"/>
                <a:ea typeface="Calibri"/>
              </a:rPr>
              <a:t>service-B</a:t>
            </a:r>
            <a:endParaRPr b="0" lang="en-IN" sz="850" spc="-1" strike="noStrike">
              <a:latin typeface="Arial"/>
            </a:endParaRPr>
          </a:p>
        </p:txBody>
      </p:sp>
      <p:sp>
        <p:nvSpPr>
          <p:cNvPr id="597" name="Shape 29"/>
          <p:cNvSpPr/>
          <p:nvPr/>
        </p:nvSpPr>
        <p:spPr>
          <a:xfrm>
            <a:off x="731520" y="4050720"/>
            <a:ext cx="274320" cy="360"/>
          </a:xfrm>
          <a:prstGeom prst="line">
            <a:avLst/>
          </a:prstGeom>
          <a:ln w="25400">
            <a:solidFill>
              <a:srgbClr val="06b6d4"/>
            </a:solidFill>
            <a:round/>
          </a:ln>
        </p:spPr>
        <p:style>
          <a:lnRef idx="0"/>
          <a:fillRef idx="0"/>
          <a:effectRef idx="0"/>
          <a:fontRef idx="minor"/>
        </p:style>
      </p:sp>
      <p:sp>
        <p:nvSpPr>
          <p:cNvPr id="598" name="Text 30"/>
          <p:cNvSpPr/>
          <p:nvPr/>
        </p:nvSpPr>
        <p:spPr>
          <a:xfrm>
            <a:off x="1042560" y="3950280"/>
            <a:ext cx="776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94a3b8"/>
                </a:solidFill>
                <a:latin typeface="Calibri"/>
                <a:ea typeface="Calibri"/>
              </a:rPr>
              <a:t>structural</a:t>
            </a:r>
            <a:endParaRPr b="0" lang="en-IN" sz="850" spc="-1" strike="noStrike">
              <a:latin typeface="Arial"/>
            </a:endParaRPr>
          </a:p>
        </p:txBody>
      </p:sp>
      <p:sp>
        <p:nvSpPr>
          <p:cNvPr id="599" name="Shape 31"/>
          <p:cNvSpPr/>
          <p:nvPr/>
        </p:nvSpPr>
        <p:spPr>
          <a:xfrm>
            <a:off x="1828800" y="4050720"/>
            <a:ext cx="274320" cy="360"/>
          </a:xfrm>
          <a:prstGeom prst="line">
            <a:avLst/>
          </a:prstGeom>
          <a:ln w="25400">
            <a:solidFill>
              <a:srgbClr val="a78bfa"/>
            </a:solidFill>
            <a:round/>
          </a:ln>
        </p:spPr>
        <p:style>
          <a:lnRef idx="0"/>
          <a:fillRef idx="0"/>
          <a:effectRef idx="0"/>
          <a:fontRef idx="minor"/>
        </p:style>
      </p:sp>
      <p:sp>
        <p:nvSpPr>
          <p:cNvPr id="600" name="Text 32"/>
          <p:cNvSpPr/>
          <p:nvPr/>
        </p:nvSpPr>
        <p:spPr>
          <a:xfrm>
            <a:off x="2139840" y="3950280"/>
            <a:ext cx="776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94a3b8"/>
                </a:solidFill>
                <a:latin typeface="Calibri"/>
                <a:ea typeface="Calibri"/>
              </a:rPr>
              <a:t>behavioural</a:t>
            </a:r>
            <a:endParaRPr b="0" lang="en-IN" sz="850" spc="-1" strike="noStrike">
              <a:latin typeface="Arial"/>
            </a:endParaRPr>
          </a:p>
        </p:txBody>
      </p:sp>
      <p:sp>
        <p:nvSpPr>
          <p:cNvPr id="601" name="Shape 33"/>
          <p:cNvSpPr/>
          <p:nvPr/>
        </p:nvSpPr>
        <p:spPr>
          <a:xfrm>
            <a:off x="2926080" y="4050720"/>
            <a:ext cx="274320" cy="360"/>
          </a:xfrm>
          <a:prstGeom prst="line">
            <a:avLst/>
          </a:prstGeom>
          <a:ln w="25400">
            <a:solidFill>
              <a:srgbClr val="ef4444"/>
            </a:solidFill>
            <a:prstDash val="dash"/>
            <a:round/>
          </a:ln>
        </p:spPr>
        <p:style>
          <a:lnRef idx="0"/>
          <a:fillRef idx="0"/>
          <a:effectRef idx="0"/>
          <a:fontRef idx="minor"/>
        </p:style>
      </p:sp>
      <p:sp>
        <p:nvSpPr>
          <p:cNvPr id="602" name="Text 34"/>
          <p:cNvSpPr/>
          <p:nvPr/>
        </p:nvSpPr>
        <p:spPr>
          <a:xfrm>
            <a:off x="3237120" y="3950280"/>
            <a:ext cx="776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94a3b8"/>
                </a:solidFill>
                <a:latin typeface="Calibri"/>
                <a:ea typeface="Calibri"/>
              </a:rPr>
              <a:t>causal</a:t>
            </a:r>
            <a:endParaRPr b="0" lang="en-IN" sz="850" spc="-1" strike="noStrike">
              <a:latin typeface="Arial"/>
            </a:endParaRPr>
          </a:p>
        </p:txBody>
      </p:sp>
      <p:sp>
        <p:nvSpPr>
          <p:cNvPr id="603" name="Shape 35"/>
          <p:cNvSpPr/>
          <p:nvPr/>
        </p:nvSpPr>
        <p:spPr>
          <a:xfrm>
            <a:off x="4023360" y="4050720"/>
            <a:ext cx="274320" cy="360"/>
          </a:xfrm>
          <a:prstGeom prst="line">
            <a:avLst/>
          </a:prstGeom>
          <a:ln w="25400">
            <a:solidFill>
              <a:srgbClr val="fbbf24"/>
            </a:solidFill>
            <a:prstDash val="dash"/>
            <a:round/>
          </a:ln>
        </p:spPr>
        <p:style>
          <a:lnRef idx="0"/>
          <a:fillRef idx="0"/>
          <a:effectRef idx="0"/>
          <a:fontRef idx="minor"/>
        </p:style>
      </p:sp>
      <p:sp>
        <p:nvSpPr>
          <p:cNvPr id="604" name="Text 36"/>
          <p:cNvSpPr/>
          <p:nvPr/>
        </p:nvSpPr>
        <p:spPr>
          <a:xfrm>
            <a:off x="4334400" y="3950280"/>
            <a:ext cx="776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 strike="noStrike">
                <a:solidFill>
                  <a:srgbClr val="94a3b8"/>
                </a:solidFill>
                <a:latin typeface="Calibri"/>
                <a:ea typeface="Calibri"/>
              </a:rPr>
              <a:t>economic</a:t>
            </a:r>
            <a:endParaRPr b="0" lang="en-IN" sz="850" spc="-1" strike="noStrike">
              <a:latin typeface="Arial"/>
            </a:endParaRPr>
          </a:p>
        </p:txBody>
      </p:sp>
      <p:sp>
        <p:nvSpPr>
          <p:cNvPr id="605" name="Shape 37"/>
          <p:cNvSpPr/>
          <p:nvPr/>
        </p:nvSpPr>
        <p:spPr>
          <a:xfrm>
            <a:off x="5349240" y="1280160"/>
            <a:ext cx="3702960" cy="1416960"/>
          </a:xfrm>
          <a:prstGeom prst="rect">
            <a:avLst/>
          </a:prstGeom>
          <a:solidFill>
            <a:srgbClr val="1b263b"/>
          </a:solidFill>
          <a:ln w="9525">
            <a:solidFill>
              <a:srgbClr val="334155"/>
            </a:solidFill>
            <a:round/>
          </a:ln>
        </p:spPr>
        <p:style>
          <a:lnRef idx="0"/>
          <a:fillRef idx="0"/>
          <a:effectRef idx="0"/>
          <a:fontRef idx="minor"/>
        </p:style>
      </p:sp>
      <p:sp>
        <p:nvSpPr>
          <p:cNvPr id="606" name="Shape 38"/>
          <p:cNvSpPr/>
          <p:nvPr/>
        </p:nvSpPr>
        <p:spPr>
          <a:xfrm>
            <a:off x="5349240" y="1280160"/>
            <a:ext cx="54360" cy="1416960"/>
          </a:xfrm>
          <a:prstGeom prst="rect">
            <a:avLst/>
          </a:prstGeom>
          <a:solidFill>
            <a:srgbClr val="10b981"/>
          </a:solidFill>
          <a:ln w="12700">
            <a:solidFill>
              <a:srgbClr val="10b981"/>
            </a:solidFill>
            <a:round/>
          </a:ln>
        </p:spPr>
        <p:style>
          <a:lnRef idx="0"/>
          <a:fillRef idx="0"/>
          <a:effectRef idx="0"/>
          <a:fontRef idx="minor"/>
        </p:style>
      </p:sp>
      <p:sp>
        <p:nvSpPr>
          <p:cNvPr id="607" name="Text 39"/>
          <p:cNvSpPr/>
          <p:nvPr/>
        </p:nvSpPr>
        <p:spPr>
          <a:xfrm>
            <a:off x="5532120" y="1444680"/>
            <a:ext cx="33829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10b981"/>
                </a:solidFill>
                <a:latin typeface="Calibri"/>
                <a:ea typeface="Calibri"/>
              </a:rPr>
              <a:t>STRUCTURAL &amp; INTEGRATION CLAIM</a:t>
            </a:r>
            <a:endParaRPr b="0" lang="en-IN" sz="950" spc="-1" strike="noStrike">
              <a:latin typeface="Arial"/>
            </a:endParaRPr>
          </a:p>
        </p:txBody>
      </p:sp>
      <p:sp>
        <p:nvSpPr>
          <p:cNvPr id="608" name="Text 40"/>
          <p:cNvSpPr/>
          <p:nvPr/>
        </p:nvSpPr>
        <p:spPr>
          <a:xfrm>
            <a:off x="5532120" y="1737360"/>
            <a:ext cx="33829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f8fafc"/>
                </a:solidFill>
                <a:latin typeface="Calibri"/>
                <a:ea typeface="Calibri"/>
              </a:rPr>
              <a:t>→  </a:t>
            </a:r>
            <a:r>
              <a:rPr b="1" lang="en-US" sz="1300" spc="-1" strike="noStrike">
                <a:solidFill>
                  <a:srgbClr val="f8fafc"/>
                </a:solidFill>
                <a:latin typeface="Calibri"/>
                <a:ea typeface="Calibri"/>
              </a:rPr>
              <a:t>CONFIRMATORY  ·  A-H8</a:t>
            </a:r>
            <a:endParaRPr b="0" lang="en-IN" sz="1300" spc="-1" strike="noStrike">
              <a:latin typeface="Arial"/>
            </a:endParaRPr>
          </a:p>
        </p:txBody>
      </p:sp>
      <p:sp>
        <p:nvSpPr>
          <p:cNvPr id="609" name="Text 41"/>
          <p:cNvSpPr/>
          <p:nvPr/>
        </p:nvSpPr>
        <p:spPr>
          <a:xfrm>
            <a:off x="5532120" y="2057400"/>
            <a:ext cx="3428640" cy="5940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Typed-edge composition rules + Agent-Reasoning-Step nodes + subgraph-aware training discipline (HELIOS-noStructural ablation)</a:t>
            </a:r>
            <a:endParaRPr b="0" lang="en-IN" sz="1000" spc="-1" strike="noStrike">
              <a:latin typeface="Arial"/>
            </a:endParaRPr>
          </a:p>
        </p:txBody>
      </p:sp>
      <p:sp>
        <p:nvSpPr>
          <p:cNvPr id="610" name="Shape 42"/>
          <p:cNvSpPr/>
          <p:nvPr/>
        </p:nvSpPr>
        <p:spPr>
          <a:xfrm>
            <a:off x="5349240" y="2834640"/>
            <a:ext cx="3702960" cy="1508400"/>
          </a:xfrm>
          <a:prstGeom prst="rect">
            <a:avLst/>
          </a:prstGeom>
          <a:solidFill>
            <a:srgbClr val="1b263b"/>
          </a:solidFill>
          <a:ln w="9525">
            <a:solidFill>
              <a:srgbClr val="334155"/>
            </a:solidFill>
            <a:round/>
          </a:ln>
        </p:spPr>
        <p:style>
          <a:lnRef idx="0"/>
          <a:fillRef idx="0"/>
          <a:effectRef idx="0"/>
          <a:fontRef idx="minor"/>
        </p:style>
      </p:sp>
      <p:sp>
        <p:nvSpPr>
          <p:cNvPr id="611" name="Shape 43"/>
          <p:cNvSpPr/>
          <p:nvPr/>
        </p:nvSpPr>
        <p:spPr>
          <a:xfrm>
            <a:off x="5349240" y="2834640"/>
            <a:ext cx="54360" cy="1508400"/>
          </a:xfrm>
          <a:prstGeom prst="rect">
            <a:avLst/>
          </a:prstGeom>
          <a:solidFill>
            <a:srgbClr val="fbbf24"/>
          </a:solidFill>
          <a:ln w="12700">
            <a:solidFill>
              <a:srgbClr val="fbbf24"/>
            </a:solidFill>
            <a:round/>
          </a:ln>
        </p:spPr>
        <p:style>
          <a:lnRef idx="0"/>
          <a:fillRef idx="0"/>
          <a:effectRef idx="0"/>
          <a:fontRef idx="minor"/>
        </p:style>
      </p:sp>
      <p:sp>
        <p:nvSpPr>
          <p:cNvPr id="612" name="Text 44"/>
          <p:cNvSpPr/>
          <p:nvPr/>
        </p:nvSpPr>
        <p:spPr>
          <a:xfrm>
            <a:off x="5532120" y="2999160"/>
            <a:ext cx="33829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fbbf24"/>
                </a:solidFill>
                <a:latin typeface="Calibri"/>
                <a:ea typeface="Calibri"/>
              </a:rPr>
              <a:t>COGNITIVE-AGENTIC CLAIM</a:t>
            </a:r>
            <a:endParaRPr b="0" lang="en-IN" sz="950" spc="-1" strike="noStrike">
              <a:latin typeface="Arial"/>
            </a:endParaRPr>
          </a:p>
        </p:txBody>
      </p:sp>
      <p:sp>
        <p:nvSpPr>
          <p:cNvPr id="613" name="Text 45"/>
          <p:cNvSpPr/>
          <p:nvPr/>
        </p:nvSpPr>
        <p:spPr>
          <a:xfrm>
            <a:off x="5532120" y="3291840"/>
            <a:ext cx="33829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300" spc="-1" strike="noStrike">
                <a:solidFill>
                  <a:srgbClr val="f8fafc"/>
                </a:solidFill>
                <a:latin typeface="Calibri"/>
                <a:ea typeface="Calibri"/>
              </a:rPr>
              <a:t>→  </a:t>
            </a:r>
            <a:r>
              <a:rPr b="1" lang="en-US" sz="1300" spc="-1" strike="noStrike">
                <a:solidFill>
                  <a:srgbClr val="f8fafc"/>
                </a:solidFill>
                <a:latin typeface="Calibri"/>
                <a:ea typeface="Calibri"/>
              </a:rPr>
              <a:t>EXPLORATORY  ·  E-H1</a:t>
            </a:r>
            <a:endParaRPr b="0" lang="en-IN" sz="1300" spc="-1" strike="noStrike">
              <a:latin typeface="Arial"/>
            </a:endParaRPr>
          </a:p>
        </p:txBody>
      </p:sp>
      <p:sp>
        <p:nvSpPr>
          <p:cNvPr id="614" name="Text 46"/>
          <p:cNvSpPr/>
          <p:nvPr/>
        </p:nvSpPr>
        <p:spPr>
          <a:xfrm>
            <a:off x="5532120" y="3611880"/>
            <a:ext cx="3428640" cy="685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Tier 4 corpus n = 12 &lt; 73-fault statistical minimum.</a:t>
            </a:r>
            <a:endParaRPr b="0" lang="en-IN" sz="1000" spc="-1" strike="noStrike">
              <a:latin typeface="Arial"/>
            </a:endParaRPr>
          </a:p>
          <a:p>
            <a:pPr>
              <a:lnSpc>
                <a:spcPct val="100000"/>
              </a:lnSpc>
              <a:buNone/>
              <a:tabLst>
                <a:tab algn="l" pos="0"/>
              </a:tabLst>
            </a:pPr>
            <a:r>
              <a:rPr b="0" i="1" lang="en-US" sz="1000" spc="-1" strike="noStrike">
                <a:solidFill>
                  <a:srgbClr val="94a3b8"/>
                </a:solidFill>
                <a:latin typeface="Calibri"/>
                <a:ea typeface="Calibri"/>
              </a:rPr>
              <a:t>Discipline, not defect — corpus surfaced, not concealed.</a:t>
            </a:r>
            <a:endParaRPr b="0" lang="en-IN" sz="1000" spc="-1" strike="noStrike">
              <a:latin typeface="Arial"/>
            </a:endParaRPr>
          </a:p>
        </p:txBody>
      </p:sp>
      <p:sp>
        <p:nvSpPr>
          <p:cNvPr id="615" name="Text 47"/>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HELIOS Artefact</a:t>
            </a:r>
            <a:endParaRPr b="0" lang="en-IN" sz="850" spc="-1" strike="noStrike">
              <a:latin typeface="Arial"/>
            </a:endParaRPr>
          </a:p>
        </p:txBody>
      </p:sp>
      <p:sp>
        <p:nvSpPr>
          <p:cNvPr id="616" name="Text 48"/>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16 / 22</a:t>
            </a:r>
            <a:endParaRPr b="0" lang="en-IN" sz="900" spc="-1" strike="noStrike">
              <a:latin typeface="Arial"/>
            </a:endParaRPr>
          </a:p>
        </p:txBody>
      </p:sp>
      <p:sp>
        <p:nvSpPr>
          <p:cNvPr id="617" name="Shape 49"/>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618"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SIX CONTRIBUTIONS</a:t>
            </a:r>
            <a:endParaRPr b="0" lang="en-IN" sz="1000" spc="-1" strike="noStrike">
              <a:latin typeface="Arial"/>
            </a:endParaRPr>
          </a:p>
        </p:txBody>
      </p:sp>
      <p:sp>
        <p:nvSpPr>
          <p:cNvPr id="619"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Classified, comparator-anchored, evidentially statused</a:t>
            </a:r>
            <a:endParaRPr b="0" lang="en-IN" sz="2200" spc="-1" strike="noStrike">
              <a:latin typeface="Arial"/>
            </a:endParaRPr>
          </a:p>
        </p:txBody>
      </p:sp>
      <p:sp>
        <p:nvSpPr>
          <p:cNvPr id="620" name="Shape 2"/>
          <p:cNvSpPr/>
          <p:nvPr/>
        </p:nvSpPr>
        <p:spPr>
          <a:xfrm>
            <a:off x="457200" y="1280160"/>
            <a:ext cx="502560" cy="365400"/>
          </a:xfrm>
          <a:prstGeom prst="rect">
            <a:avLst/>
          </a:prstGeom>
          <a:solidFill>
            <a:srgbClr val="164e63"/>
          </a:solidFill>
          <a:ln w="6350">
            <a:solidFill>
              <a:srgbClr val="334155"/>
            </a:solidFill>
            <a:round/>
          </a:ln>
        </p:spPr>
        <p:style>
          <a:lnRef idx="0"/>
          <a:fillRef idx="0"/>
          <a:effectRef idx="0"/>
          <a:fontRef idx="minor"/>
        </p:style>
      </p:sp>
      <p:sp>
        <p:nvSpPr>
          <p:cNvPr id="621" name="Text 3"/>
          <p:cNvSpPr/>
          <p:nvPr/>
        </p:nvSpPr>
        <p:spPr>
          <a:xfrm>
            <a:off x="548640" y="1280160"/>
            <a:ext cx="411120" cy="365400"/>
          </a:xfrm>
          <a:prstGeom prst="rect">
            <a:avLst/>
          </a:prstGeom>
          <a:noFill/>
          <a:ln w="0">
            <a:noFill/>
          </a:ln>
        </p:spPr>
        <p:style>
          <a:lnRef idx="0"/>
          <a:fillRef idx="0"/>
          <a:effectRef idx="0"/>
          <a:fontRef idx="minor"/>
        </p:style>
      </p:sp>
      <p:sp>
        <p:nvSpPr>
          <p:cNvPr id="622" name="Shape 4"/>
          <p:cNvSpPr/>
          <p:nvPr/>
        </p:nvSpPr>
        <p:spPr>
          <a:xfrm>
            <a:off x="960120" y="1280160"/>
            <a:ext cx="2422800" cy="365400"/>
          </a:xfrm>
          <a:prstGeom prst="rect">
            <a:avLst/>
          </a:prstGeom>
          <a:solidFill>
            <a:srgbClr val="164e63"/>
          </a:solidFill>
          <a:ln w="6350">
            <a:solidFill>
              <a:srgbClr val="334155"/>
            </a:solidFill>
            <a:round/>
          </a:ln>
        </p:spPr>
        <p:style>
          <a:lnRef idx="0"/>
          <a:fillRef idx="0"/>
          <a:effectRef idx="0"/>
          <a:fontRef idx="minor"/>
        </p:style>
      </p:sp>
      <p:sp>
        <p:nvSpPr>
          <p:cNvPr id="623" name="Text 5"/>
          <p:cNvSpPr/>
          <p:nvPr/>
        </p:nvSpPr>
        <p:spPr>
          <a:xfrm>
            <a:off x="1051560" y="1280160"/>
            <a:ext cx="233136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06b6d4"/>
                </a:solidFill>
                <a:latin typeface="Calibri"/>
                <a:ea typeface="Calibri"/>
              </a:rPr>
              <a:t>CONTRIBUTION</a:t>
            </a:r>
            <a:endParaRPr b="0" lang="en-IN" sz="950" spc="-1" strike="noStrike">
              <a:latin typeface="Arial"/>
            </a:endParaRPr>
          </a:p>
        </p:txBody>
      </p:sp>
      <p:sp>
        <p:nvSpPr>
          <p:cNvPr id="624" name="Shape 6"/>
          <p:cNvSpPr/>
          <p:nvPr/>
        </p:nvSpPr>
        <p:spPr>
          <a:xfrm>
            <a:off x="3383280" y="1280160"/>
            <a:ext cx="1828440" cy="365400"/>
          </a:xfrm>
          <a:prstGeom prst="rect">
            <a:avLst/>
          </a:prstGeom>
          <a:solidFill>
            <a:srgbClr val="164e63"/>
          </a:solidFill>
          <a:ln w="6350">
            <a:solidFill>
              <a:srgbClr val="334155"/>
            </a:solidFill>
            <a:round/>
          </a:ln>
        </p:spPr>
        <p:style>
          <a:lnRef idx="0"/>
          <a:fillRef idx="0"/>
          <a:effectRef idx="0"/>
          <a:fontRef idx="minor"/>
        </p:style>
      </p:sp>
      <p:sp>
        <p:nvSpPr>
          <p:cNvPr id="625" name="Text 7"/>
          <p:cNvSpPr/>
          <p:nvPr/>
        </p:nvSpPr>
        <p:spPr>
          <a:xfrm>
            <a:off x="3474720" y="1280160"/>
            <a:ext cx="173700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06b6d4"/>
                </a:solidFill>
                <a:latin typeface="Calibri"/>
                <a:ea typeface="Calibri"/>
              </a:rPr>
              <a:t>TYPE</a:t>
            </a:r>
            <a:endParaRPr b="0" lang="en-IN" sz="950" spc="-1" strike="noStrike">
              <a:latin typeface="Arial"/>
            </a:endParaRPr>
          </a:p>
        </p:txBody>
      </p:sp>
      <p:sp>
        <p:nvSpPr>
          <p:cNvPr id="626" name="Shape 8"/>
          <p:cNvSpPr/>
          <p:nvPr/>
        </p:nvSpPr>
        <p:spPr>
          <a:xfrm>
            <a:off x="5212080" y="1280160"/>
            <a:ext cx="1462680" cy="365400"/>
          </a:xfrm>
          <a:prstGeom prst="rect">
            <a:avLst/>
          </a:prstGeom>
          <a:solidFill>
            <a:srgbClr val="164e63"/>
          </a:solidFill>
          <a:ln w="6350">
            <a:solidFill>
              <a:srgbClr val="334155"/>
            </a:solidFill>
            <a:round/>
          </a:ln>
        </p:spPr>
        <p:style>
          <a:lnRef idx="0"/>
          <a:fillRef idx="0"/>
          <a:effectRef idx="0"/>
          <a:fontRef idx="minor"/>
        </p:style>
      </p:sp>
      <p:sp>
        <p:nvSpPr>
          <p:cNvPr id="627" name="Text 9"/>
          <p:cNvSpPr/>
          <p:nvPr/>
        </p:nvSpPr>
        <p:spPr>
          <a:xfrm>
            <a:off x="5303520" y="1280160"/>
            <a:ext cx="137124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06b6d4"/>
                </a:solidFill>
                <a:latin typeface="Calibri"/>
                <a:ea typeface="Calibri"/>
              </a:rPr>
              <a:t>COMPARATOR</a:t>
            </a:r>
            <a:endParaRPr b="0" lang="en-IN" sz="950" spc="-1" strike="noStrike">
              <a:latin typeface="Arial"/>
            </a:endParaRPr>
          </a:p>
        </p:txBody>
      </p:sp>
      <p:sp>
        <p:nvSpPr>
          <p:cNvPr id="628" name="Shape 10"/>
          <p:cNvSpPr/>
          <p:nvPr/>
        </p:nvSpPr>
        <p:spPr>
          <a:xfrm>
            <a:off x="6675120" y="1280160"/>
            <a:ext cx="1554120" cy="365400"/>
          </a:xfrm>
          <a:prstGeom prst="rect">
            <a:avLst/>
          </a:prstGeom>
          <a:solidFill>
            <a:srgbClr val="164e63"/>
          </a:solidFill>
          <a:ln w="6350">
            <a:solidFill>
              <a:srgbClr val="334155"/>
            </a:solidFill>
            <a:round/>
          </a:ln>
        </p:spPr>
        <p:style>
          <a:lnRef idx="0"/>
          <a:fillRef idx="0"/>
          <a:effectRef idx="0"/>
          <a:fontRef idx="minor"/>
        </p:style>
      </p:sp>
      <p:sp>
        <p:nvSpPr>
          <p:cNvPr id="629" name="Text 11"/>
          <p:cNvSpPr/>
          <p:nvPr/>
        </p:nvSpPr>
        <p:spPr>
          <a:xfrm>
            <a:off x="6766560" y="1280160"/>
            <a:ext cx="146268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06b6d4"/>
                </a:solidFill>
                <a:latin typeface="Calibri"/>
                <a:ea typeface="Calibri"/>
              </a:rPr>
              <a:t>STATUS</a:t>
            </a:r>
            <a:endParaRPr b="0" lang="en-IN" sz="950" spc="-1" strike="noStrike">
              <a:latin typeface="Arial"/>
            </a:endParaRPr>
          </a:p>
        </p:txBody>
      </p:sp>
      <p:sp>
        <p:nvSpPr>
          <p:cNvPr id="630" name="Shape 12"/>
          <p:cNvSpPr/>
          <p:nvPr/>
        </p:nvSpPr>
        <p:spPr>
          <a:xfrm>
            <a:off x="8229600" y="1280160"/>
            <a:ext cx="822600" cy="365400"/>
          </a:xfrm>
          <a:prstGeom prst="rect">
            <a:avLst/>
          </a:prstGeom>
          <a:solidFill>
            <a:srgbClr val="164e63"/>
          </a:solidFill>
          <a:ln w="6350">
            <a:solidFill>
              <a:srgbClr val="334155"/>
            </a:solidFill>
            <a:round/>
          </a:ln>
        </p:spPr>
        <p:style>
          <a:lnRef idx="0"/>
          <a:fillRef idx="0"/>
          <a:effectRef idx="0"/>
          <a:fontRef idx="minor"/>
        </p:style>
      </p:sp>
      <p:sp>
        <p:nvSpPr>
          <p:cNvPr id="631" name="Text 13"/>
          <p:cNvSpPr/>
          <p:nvPr/>
        </p:nvSpPr>
        <p:spPr>
          <a:xfrm>
            <a:off x="8321040" y="1280160"/>
            <a:ext cx="73116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950" spc="199" strike="noStrike">
                <a:solidFill>
                  <a:srgbClr val="06b6d4"/>
                </a:solidFill>
                <a:latin typeface="Calibri"/>
                <a:ea typeface="Calibri"/>
              </a:rPr>
              <a:t>HYP</a:t>
            </a:r>
            <a:endParaRPr b="0" lang="en-IN" sz="950" spc="-1" strike="noStrike">
              <a:latin typeface="Arial"/>
            </a:endParaRPr>
          </a:p>
        </p:txBody>
      </p:sp>
      <p:sp>
        <p:nvSpPr>
          <p:cNvPr id="632" name="Shape 14"/>
          <p:cNvSpPr/>
          <p:nvPr/>
        </p:nvSpPr>
        <p:spPr>
          <a:xfrm>
            <a:off x="457200" y="1645920"/>
            <a:ext cx="502560" cy="456840"/>
          </a:xfrm>
          <a:prstGeom prst="rect">
            <a:avLst/>
          </a:prstGeom>
          <a:solidFill>
            <a:srgbClr val="162236"/>
          </a:solidFill>
          <a:ln w="5080">
            <a:solidFill>
              <a:srgbClr val="334155"/>
            </a:solidFill>
            <a:round/>
          </a:ln>
        </p:spPr>
        <p:style>
          <a:lnRef idx="0"/>
          <a:fillRef idx="0"/>
          <a:effectRef idx="0"/>
          <a:fontRef idx="minor"/>
        </p:style>
      </p:sp>
      <p:sp>
        <p:nvSpPr>
          <p:cNvPr id="633" name="Shape 15"/>
          <p:cNvSpPr/>
          <p:nvPr/>
        </p:nvSpPr>
        <p:spPr>
          <a:xfrm>
            <a:off x="457200" y="1645920"/>
            <a:ext cx="45360" cy="456840"/>
          </a:xfrm>
          <a:prstGeom prst="rect">
            <a:avLst/>
          </a:prstGeom>
          <a:solidFill>
            <a:srgbClr val="f97316"/>
          </a:solidFill>
          <a:ln w="12700">
            <a:solidFill>
              <a:srgbClr val="f97316"/>
            </a:solidFill>
            <a:round/>
          </a:ln>
        </p:spPr>
        <p:style>
          <a:lnRef idx="0"/>
          <a:fillRef idx="0"/>
          <a:effectRef idx="0"/>
          <a:fontRef idx="minor"/>
        </p:style>
      </p:sp>
      <p:sp>
        <p:nvSpPr>
          <p:cNvPr id="634" name="Text 16"/>
          <p:cNvSpPr/>
          <p:nvPr/>
        </p:nvSpPr>
        <p:spPr>
          <a:xfrm>
            <a:off x="548640" y="1645920"/>
            <a:ext cx="3654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f97316"/>
                </a:solidFill>
                <a:latin typeface="Calibri"/>
                <a:ea typeface="Calibri"/>
              </a:rPr>
              <a:t>C1</a:t>
            </a:r>
            <a:endParaRPr b="0" lang="en-IN" sz="1200" spc="-1" strike="noStrike">
              <a:latin typeface="Arial"/>
            </a:endParaRPr>
          </a:p>
        </p:txBody>
      </p:sp>
      <p:sp>
        <p:nvSpPr>
          <p:cNvPr id="635" name="Shape 17"/>
          <p:cNvSpPr/>
          <p:nvPr/>
        </p:nvSpPr>
        <p:spPr>
          <a:xfrm>
            <a:off x="960120" y="1645920"/>
            <a:ext cx="2422800" cy="456840"/>
          </a:xfrm>
          <a:prstGeom prst="rect">
            <a:avLst/>
          </a:prstGeom>
          <a:solidFill>
            <a:srgbClr val="162236"/>
          </a:solidFill>
          <a:ln w="5080">
            <a:solidFill>
              <a:srgbClr val="334155"/>
            </a:solidFill>
            <a:round/>
          </a:ln>
        </p:spPr>
        <p:style>
          <a:lnRef idx="0"/>
          <a:fillRef idx="0"/>
          <a:effectRef idx="0"/>
          <a:fontRef idx="minor"/>
        </p:style>
      </p:sp>
      <p:sp>
        <p:nvSpPr>
          <p:cNvPr id="636" name="Text 18"/>
          <p:cNvSpPr/>
          <p:nvPr/>
        </p:nvSpPr>
        <p:spPr>
          <a:xfrm>
            <a:off x="1051560" y="1645920"/>
            <a:ext cx="22856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Runtime-enforced DSR rigour</a:t>
            </a:r>
            <a:endParaRPr b="0" lang="en-IN" sz="1100" spc="-1" strike="noStrike">
              <a:latin typeface="Arial"/>
            </a:endParaRPr>
          </a:p>
        </p:txBody>
      </p:sp>
      <p:sp>
        <p:nvSpPr>
          <p:cNvPr id="637" name="Shape 19"/>
          <p:cNvSpPr/>
          <p:nvPr/>
        </p:nvSpPr>
        <p:spPr>
          <a:xfrm>
            <a:off x="3383280" y="1645920"/>
            <a:ext cx="1828440" cy="456840"/>
          </a:xfrm>
          <a:prstGeom prst="rect">
            <a:avLst/>
          </a:prstGeom>
          <a:solidFill>
            <a:srgbClr val="1b263b"/>
          </a:solidFill>
          <a:ln w="5080">
            <a:solidFill>
              <a:srgbClr val="334155"/>
            </a:solidFill>
            <a:round/>
          </a:ln>
        </p:spPr>
        <p:style>
          <a:lnRef idx="0"/>
          <a:fillRef idx="0"/>
          <a:effectRef idx="0"/>
          <a:fontRef idx="minor"/>
        </p:style>
      </p:sp>
      <p:sp>
        <p:nvSpPr>
          <p:cNvPr id="638" name="Text 20"/>
          <p:cNvSpPr/>
          <p:nvPr/>
        </p:nvSpPr>
        <p:spPr>
          <a:xfrm>
            <a:off x="3474720" y="1645920"/>
            <a:ext cx="16912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Methodological-discipline</a:t>
            </a:r>
            <a:endParaRPr b="0" lang="en-IN" sz="1000" spc="-1" strike="noStrike">
              <a:latin typeface="Arial"/>
            </a:endParaRPr>
          </a:p>
        </p:txBody>
      </p:sp>
      <p:sp>
        <p:nvSpPr>
          <p:cNvPr id="639" name="Shape 21"/>
          <p:cNvSpPr/>
          <p:nvPr/>
        </p:nvSpPr>
        <p:spPr>
          <a:xfrm>
            <a:off x="5212080" y="1645920"/>
            <a:ext cx="1462680" cy="456840"/>
          </a:xfrm>
          <a:prstGeom prst="rect">
            <a:avLst/>
          </a:prstGeom>
          <a:solidFill>
            <a:srgbClr val="162236"/>
          </a:solidFill>
          <a:ln w="5080">
            <a:solidFill>
              <a:srgbClr val="334155"/>
            </a:solidFill>
            <a:round/>
          </a:ln>
        </p:spPr>
        <p:style>
          <a:lnRef idx="0"/>
          <a:fillRef idx="0"/>
          <a:effectRef idx="0"/>
          <a:fontRef idx="minor"/>
        </p:style>
      </p:sp>
      <p:sp>
        <p:nvSpPr>
          <p:cNvPr id="640" name="Text 22"/>
          <p:cNvSpPr/>
          <p:nvPr/>
        </p:nvSpPr>
        <p:spPr>
          <a:xfrm>
            <a:off x="5303520" y="1645920"/>
            <a:ext cx="13255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  </a:t>
            </a:r>
            <a:r>
              <a:rPr b="0" i="1" lang="en-US" sz="1000" spc="-1" strike="noStrike">
                <a:solidFill>
                  <a:srgbClr val="94a3b8"/>
                </a:solidFill>
                <a:latin typeface="Calibri"/>
                <a:ea typeface="Calibri"/>
              </a:rPr>
              <a:t>(no comparator in eval lit)</a:t>
            </a:r>
            <a:endParaRPr b="0" lang="en-IN" sz="1000" spc="-1" strike="noStrike">
              <a:latin typeface="Arial"/>
            </a:endParaRPr>
          </a:p>
        </p:txBody>
      </p:sp>
      <p:sp>
        <p:nvSpPr>
          <p:cNvPr id="641" name="Shape 23"/>
          <p:cNvSpPr/>
          <p:nvPr/>
        </p:nvSpPr>
        <p:spPr>
          <a:xfrm>
            <a:off x="6675120" y="1645920"/>
            <a:ext cx="1554120" cy="456840"/>
          </a:xfrm>
          <a:prstGeom prst="rect">
            <a:avLst/>
          </a:prstGeom>
          <a:solidFill>
            <a:srgbClr val="78350f"/>
          </a:solidFill>
          <a:ln w="5080">
            <a:solidFill>
              <a:srgbClr val="334155"/>
            </a:solidFill>
            <a:round/>
          </a:ln>
        </p:spPr>
        <p:style>
          <a:lnRef idx="0"/>
          <a:fillRef idx="0"/>
          <a:effectRef idx="0"/>
          <a:fontRef idx="minor"/>
        </p:style>
      </p:sp>
      <p:sp>
        <p:nvSpPr>
          <p:cNvPr id="642" name="Text 24"/>
          <p:cNvSpPr/>
          <p:nvPr/>
        </p:nvSpPr>
        <p:spPr>
          <a:xfrm>
            <a:off x="6766560" y="1645920"/>
            <a:ext cx="141696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f8fafc"/>
                </a:solidFill>
                <a:latin typeface="Calibri"/>
                <a:ea typeface="Calibri"/>
              </a:rPr>
              <a:t>Descriptive</a:t>
            </a:r>
            <a:endParaRPr b="0" lang="en-IN" sz="1000" spc="-1" strike="noStrike">
              <a:latin typeface="Arial"/>
            </a:endParaRPr>
          </a:p>
        </p:txBody>
      </p:sp>
      <p:sp>
        <p:nvSpPr>
          <p:cNvPr id="643" name="Shape 25"/>
          <p:cNvSpPr/>
          <p:nvPr/>
        </p:nvSpPr>
        <p:spPr>
          <a:xfrm>
            <a:off x="8229600" y="1645920"/>
            <a:ext cx="822600" cy="456840"/>
          </a:xfrm>
          <a:prstGeom prst="rect">
            <a:avLst/>
          </a:prstGeom>
          <a:solidFill>
            <a:srgbClr val="162236"/>
          </a:solidFill>
          <a:ln w="5080">
            <a:solidFill>
              <a:srgbClr val="334155"/>
            </a:solidFill>
            <a:round/>
          </a:ln>
        </p:spPr>
        <p:style>
          <a:lnRef idx="0"/>
          <a:fillRef idx="0"/>
          <a:effectRef idx="0"/>
          <a:fontRef idx="minor"/>
        </p:style>
      </p:sp>
      <p:sp>
        <p:nvSpPr>
          <p:cNvPr id="644" name="Text 26"/>
          <p:cNvSpPr/>
          <p:nvPr/>
        </p:nvSpPr>
        <p:spPr>
          <a:xfrm>
            <a:off x="8321040" y="1645920"/>
            <a:ext cx="6854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000" spc="-1" strike="noStrike">
                <a:solidFill>
                  <a:srgbClr val="f8fafc"/>
                </a:solidFill>
                <a:latin typeface="Calibri"/>
                <a:ea typeface="Calibri"/>
              </a:rPr>
              <a:t>—</a:t>
            </a:r>
            <a:endParaRPr b="0" lang="en-IN" sz="1000" spc="-1" strike="noStrike">
              <a:latin typeface="Arial"/>
            </a:endParaRPr>
          </a:p>
        </p:txBody>
      </p:sp>
      <p:sp>
        <p:nvSpPr>
          <p:cNvPr id="645" name="Shape 27"/>
          <p:cNvSpPr/>
          <p:nvPr/>
        </p:nvSpPr>
        <p:spPr>
          <a:xfrm>
            <a:off x="457200" y="2103120"/>
            <a:ext cx="502560" cy="456840"/>
          </a:xfrm>
          <a:prstGeom prst="rect">
            <a:avLst/>
          </a:prstGeom>
          <a:solidFill>
            <a:srgbClr val="162236"/>
          </a:solidFill>
          <a:ln w="5080">
            <a:solidFill>
              <a:srgbClr val="334155"/>
            </a:solidFill>
            <a:round/>
          </a:ln>
        </p:spPr>
        <p:style>
          <a:lnRef idx="0"/>
          <a:fillRef idx="0"/>
          <a:effectRef idx="0"/>
          <a:fontRef idx="minor"/>
        </p:style>
      </p:sp>
      <p:sp>
        <p:nvSpPr>
          <p:cNvPr id="646" name="Shape 28"/>
          <p:cNvSpPr/>
          <p:nvPr/>
        </p:nvSpPr>
        <p:spPr>
          <a:xfrm>
            <a:off x="457200" y="2103120"/>
            <a:ext cx="45360" cy="456840"/>
          </a:xfrm>
          <a:prstGeom prst="rect">
            <a:avLst/>
          </a:prstGeom>
          <a:solidFill>
            <a:srgbClr val="06b6d4"/>
          </a:solidFill>
          <a:ln w="12700">
            <a:solidFill>
              <a:srgbClr val="06b6d4"/>
            </a:solidFill>
            <a:round/>
          </a:ln>
        </p:spPr>
        <p:style>
          <a:lnRef idx="0"/>
          <a:fillRef idx="0"/>
          <a:effectRef idx="0"/>
          <a:fontRef idx="minor"/>
        </p:style>
      </p:sp>
      <p:sp>
        <p:nvSpPr>
          <p:cNvPr id="647" name="Text 29"/>
          <p:cNvSpPr/>
          <p:nvPr/>
        </p:nvSpPr>
        <p:spPr>
          <a:xfrm>
            <a:off x="548640" y="2103120"/>
            <a:ext cx="3654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6b6d4"/>
                </a:solidFill>
                <a:latin typeface="Calibri"/>
                <a:ea typeface="Calibri"/>
              </a:rPr>
              <a:t>C2</a:t>
            </a:r>
            <a:endParaRPr b="0" lang="en-IN" sz="1200" spc="-1" strike="noStrike">
              <a:latin typeface="Arial"/>
            </a:endParaRPr>
          </a:p>
        </p:txBody>
      </p:sp>
      <p:sp>
        <p:nvSpPr>
          <p:cNvPr id="648" name="Shape 30"/>
          <p:cNvSpPr/>
          <p:nvPr/>
        </p:nvSpPr>
        <p:spPr>
          <a:xfrm>
            <a:off x="960120" y="2103120"/>
            <a:ext cx="2422800" cy="456840"/>
          </a:xfrm>
          <a:prstGeom prst="rect">
            <a:avLst/>
          </a:prstGeom>
          <a:solidFill>
            <a:srgbClr val="162236"/>
          </a:solidFill>
          <a:ln w="5080">
            <a:solidFill>
              <a:srgbClr val="334155"/>
            </a:solidFill>
            <a:round/>
          </a:ln>
        </p:spPr>
        <p:style>
          <a:lnRef idx="0"/>
          <a:fillRef idx="0"/>
          <a:effectRef idx="0"/>
          <a:fontRef idx="minor"/>
        </p:style>
      </p:sp>
      <p:sp>
        <p:nvSpPr>
          <p:cNvPr id="649" name="Text 31"/>
          <p:cNvSpPr/>
          <p:nvPr/>
        </p:nvSpPr>
        <p:spPr>
          <a:xfrm>
            <a:off x="1051560" y="2103120"/>
            <a:ext cx="22856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UEG-C with cognitive nodes</a:t>
            </a:r>
            <a:endParaRPr b="0" lang="en-IN" sz="1100" spc="-1" strike="noStrike">
              <a:latin typeface="Arial"/>
            </a:endParaRPr>
          </a:p>
        </p:txBody>
      </p:sp>
      <p:sp>
        <p:nvSpPr>
          <p:cNvPr id="650" name="Shape 32"/>
          <p:cNvSpPr/>
          <p:nvPr/>
        </p:nvSpPr>
        <p:spPr>
          <a:xfrm>
            <a:off x="3383280" y="2103120"/>
            <a:ext cx="1828440" cy="456840"/>
          </a:xfrm>
          <a:prstGeom prst="rect">
            <a:avLst/>
          </a:prstGeom>
          <a:solidFill>
            <a:srgbClr val="1b263b"/>
          </a:solidFill>
          <a:ln w="5080">
            <a:solidFill>
              <a:srgbClr val="334155"/>
            </a:solidFill>
            <a:round/>
          </a:ln>
        </p:spPr>
        <p:style>
          <a:lnRef idx="0"/>
          <a:fillRef idx="0"/>
          <a:effectRef idx="0"/>
          <a:fontRef idx="minor"/>
        </p:style>
      </p:sp>
      <p:sp>
        <p:nvSpPr>
          <p:cNvPr id="651" name="Text 33"/>
          <p:cNvSpPr/>
          <p:nvPr/>
        </p:nvSpPr>
        <p:spPr>
          <a:xfrm>
            <a:off x="3474720" y="2103120"/>
            <a:ext cx="16912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Constructs &amp; models</a:t>
            </a:r>
            <a:endParaRPr b="0" lang="en-IN" sz="1000" spc="-1" strike="noStrike">
              <a:latin typeface="Arial"/>
            </a:endParaRPr>
          </a:p>
        </p:txBody>
      </p:sp>
      <p:sp>
        <p:nvSpPr>
          <p:cNvPr id="652" name="Shape 34"/>
          <p:cNvSpPr/>
          <p:nvPr/>
        </p:nvSpPr>
        <p:spPr>
          <a:xfrm>
            <a:off x="5212080" y="2103120"/>
            <a:ext cx="1462680" cy="456840"/>
          </a:xfrm>
          <a:prstGeom prst="rect">
            <a:avLst/>
          </a:prstGeom>
          <a:solidFill>
            <a:srgbClr val="162236"/>
          </a:solidFill>
          <a:ln w="5080">
            <a:solidFill>
              <a:srgbClr val="334155"/>
            </a:solidFill>
            <a:round/>
          </a:ln>
        </p:spPr>
        <p:style>
          <a:lnRef idx="0"/>
          <a:fillRef idx="0"/>
          <a:effectRef idx="0"/>
          <a:fontRef idx="minor"/>
        </p:style>
      </p:sp>
      <p:sp>
        <p:nvSpPr>
          <p:cNvPr id="653" name="Text 35"/>
          <p:cNvSpPr/>
          <p:nvPr/>
        </p:nvSpPr>
        <p:spPr>
          <a:xfrm>
            <a:off x="5303520" y="2103120"/>
            <a:ext cx="13255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CHASE</a:t>
            </a:r>
            <a:endParaRPr b="0" lang="en-IN" sz="1000" spc="-1" strike="noStrike">
              <a:latin typeface="Arial"/>
            </a:endParaRPr>
          </a:p>
        </p:txBody>
      </p:sp>
      <p:sp>
        <p:nvSpPr>
          <p:cNvPr id="654" name="Shape 36"/>
          <p:cNvSpPr/>
          <p:nvPr/>
        </p:nvSpPr>
        <p:spPr>
          <a:xfrm>
            <a:off x="6675120" y="2103120"/>
            <a:ext cx="1554120" cy="456840"/>
          </a:xfrm>
          <a:prstGeom prst="rect">
            <a:avLst/>
          </a:prstGeom>
          <a:solidFill>
            <a:srgbClr val="4c1d95"/>
          </a:solidFill>
          <a:ln w="5080">
            <a:solidFill>
              <a:srgbClr val="334155"/>
            </a:solidFill>
            <a:round/>
          </a:ln>
        </p:spPr>
        <p:style>
          <a:lnRef idx="0"/>
          <a:fillRef idx="0"/>
          <a:effectRef idx="0"/>
          <a:fontRef idx="minor"/>
        </p:style>
      </p:sp>
      <p:sp>
        <p:nvSpPr>
          <p:cNvPr id="655" name="Text 37"/>
          <p:cNvSpPr/>
          <p:nvPr/>
        </p:nvSpPr>
        <p:spPr>
          <a:xfrm>
            <a:off x="6766560" y="2103120"/>
            <a:ext cx="141696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f8fafc"/>
                </a:solidFill>
                <a:latin typeface="Calibri"/>
                <a:ea typeface="Calibri"/>
              </a:rPr>
              <a:t>Confirmatory + Exploratory</a:t>
            </a:r>
            <a:endParaRPr b="0" lang="en-IN" sz="1000" spc="-1" strike="noStrike">
              <a:latin typeface="Arial"/>
            </a:endParaRPr>
          </a:p>
        </p:txBody>
      </p:sp>
      <p:sp>
        <p:nvSpPr>
          <p:cNvPr id="656" name="Shape 38"/>
          <p:cNvSpPr/>
          <p:nvPr/>
        </p:nvSpPr>
        <p:spPr>
          <a:xfrm>
            <a:off x="8229600" y="2103120"/>
            <a:ext cx="822600" cy="456840"/>
          </a:xfrm>
          <a:prstGeom prst="rect">
            <a:avLst/>
          </a:prstGeom>
          <a:solidFill>
            <a:srgbClr val="162236"/>
          </a:solidFill>
          <a:ln w="5080">
            <a:solidFill>
              <a:srgbClr val="334155"/>
            </a:solidFill>
            <a:round/>
          </a:ln>
        </p:spPr>
        <p:style>
          <a:lnRef idx="0"/>
          <a:fillRef idx="0"/>
          <a:effectRef idx="0"/>
          <a:fontRef idx="minor"/>
        </p:style>
      </p:sp>
      <p:sp>
        <p:nvSpPr>
          <p:cNvPr id="657" name="Text 39"/>
          <p:cNvSpPr/>
          <p:nvPr/>
        </p:nvSpPr>
        <p:spPr>
          <a:xfrm>
            <a:off x="8321040" y="2103120"/>
            <a:ext cx="6854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000" spc="-1" strike="noStrike">
                <a:solidFill>
                  <a:srgbClr val="f8fafc"/>
                </a:solidFill>
                <a:latin typeface="Calibri"/>
                <a:ea typeface="Calibri"/>
              </a:rPr>
              <a:t>A-H8 / E-H1</a:t>
            </a:r>
            <a:endParaRPr b="0" lang="en-IN" sz="1000" spc="-1" strike="noStrike">
              <a:latin typeface="Arial"/>
            </a:endParaRPr>
          </a:p>
        </p:txBody>
      </p:sp>
      <p:sp>
        <p:nvSpPr>
          <p:cNvPr id="658" name="Shape 40"/>
          <p:cNvSpPr/>
          <p:nvPr/>
        </p:nvSpPr>
        <p:spPr>
          <a:xfrm>
            <a:off x="457200" y="2560320"/>
            <a:ext cx="502560" cy="456840"/>
          </a:xfrm>
          <a:prstGeom prst="rect">
            <a:avLst/>
          </a:prstGeom>
          <a:solidFill>
            <a:srgbClr val="162236"/>
          </a:solidFill>
          <a:ln w="5080">
            <a:solidFill>
              <a:srgbClr val="334155"/>
            </a:solidFill>
            <a:round/>
          </a:ln>
        </p:spPr>
        <p:style>
          <a:lnRef idx="0"/>
          <a:fillRef idx="0"/>
          <a:effectRef idx="0"/>
          <a:fontRef idx="minor"/>
        </p:style>
      </p:sp>
      <p:sp>
        <p:nvSpPr>
          <p:cNvPr id="659" name="Shape 41"/>
          <p:cNvSpPr/>
          <p:nvPr/>
        </p:nvSpPr>
        <p:spPr>
          <a:xfrm>
            <a:off x="457200" y="2560320"/>
            <a:ext cx="45360" cy="456840"/>
          </a:xfrm>
          <a:prstGeom prst="rect">
            <a:avLst/>
          </a:prstGeom>
          <a:solidFill>
            <a:srgbClr val="a78bfa"/>
          </a:solidFill>
          <a:ln w="12700">
            <a:solidFill>
              <a:srgbClr val="a78bfa"/>
            </a:solidFill>
            <a:round/>
          </a:ln>
        </p:spPr>
        <p:style>
          <a:lnRef idx="0"/>
          <a:fillRef idx="0"/>
          <a:effectRef idx="0"/>
          <a:fontRef idx="minor"/>
        </p:style>
      </p:sp>
      <p:sp>
        <p:nvSpPr>
          <p:cNvPr id="660" name="Text 42"/>
          <p:cNvSpPr/>
          <p:nvPr/>
        </p:nvSpPr>
        <p:spPr>
          <a:xfrm>
            <a:off x="548640" y="2560320"/>
            <a:ext cx="3654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a78bfa"/>
                </a:solidFill>
                <a:latin typeface="Calibri"/>
                <a:ea typeface="Calibri"/>
              </a:rPr>
              <a:t>C3'</a:t>
            </a:r>
            <a:endParaRPr b="0" lang="en-IN" sz="1200" spc="-1" strike="noStrike">
              <a:latin typeface="Arial"/>
            </a:endParaRPr>
          </a:p>
        </p:txBody>
      </p:sp>
      <p:sp>
        <p:nvSpPr>
          <p:cNvPr id="661" name="Shape 43"/>
          <p:cNvSpPr/>
          <p:nvPr/>
        </p:nvSpPr>
        <p:spPr>
          <a:xfrm>
            <a:off x="960120" y="2560320"/>
            <a:ext cx="2422800" cy="456840"/>
          </a:xfrm>
          <a:prstGeom prst="rect">
            <a:avLst/>
          </a:prstGeom>
          <a:solidFill>
            <a:srgbClr val="162236"/>
          </a:solidFill>
          <a:ln w="5080">
            <a:solidFill>
              <a:srgbClr val="334155"/>
            </a:solidFill>
            <a:round/>
          </a:ln>
        </p:spPr>
        <p:style>
          <a:lnRef idx="0"/>
          <a:fillRef idx="0"/>
          <a:effectRef idx="0"/>
          <a:fontRef idx="minor"/>
        </p:style>
      </p:sp>
      <p:sp>
        <p:nvSpPr>
          <p:cNvPr id="662" name="Text 44"/>
          <p:cNvSpPr/>
          <p:nvPr/>
        </p:nvSpPr>
        <p:spPr>
          <a:xfrm>
            <a:off x="1051560" y="2560320"/>
            <a:ext cx="22856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FGSV — fidelity-gated shadow</a:t>
            </a:r>
            <a:endParaRPr b="0" lang="en-IN" sz="1100" spc="-1" strike="noStrike">
              <a:latin typeface="Arial"/>
            </a:endParaRPr>
          </a:p>
        </p:txBody>
      </p:sp>
      <p:sp>
        <p:nvSpPr>
          <p:cNvPr id="663" name="Shape 45"/>
          <p:cNvSpPr/>
          <p:nvPr/>
        </p:nvSpPr>
        <p:spPr>
          <a:xfrm>
            <a:off x="3383280" y="2560320"/>
            <a:ext cx="1828440" cy="456840"/>
          </a:xfrm>
          <a:prstGeom prst="rect">
            <a:avLst/>
          </a:prstGeom>
          <a:solidFill>
            <a:srgbClr val="1b263b"/>
          </a:solidFill>
          <a:ln w="5080">
            <a:solidFill>
              <a:srgbClr val="334155"/>
            </a:solidFill>
            <a:round/>
          </a:ln>
        </p:spPr>
        <p:style>
          <a:lnRef idx="0"/>
          <a:fillRef idx="0"/>
          <a:effectRef idx="0"/>
          <a:fontRef idx="minor"/>
        </p:style>
      </p:sp>
      <p:sp>
        <p:nvSpPr>
          <p:cNvPr id="664" name="Text 46"/>
          <p:cNvSpPr/>
          <p:nvPr/>
        </p:nvSpPr>
        <p:spPr>
          <a:xfrm>
            <a:off x="3474720" y="2560320"/>
            <a:ext cx="16912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Eval-infrastructure-discipline</a:t>
            </a:r>
            <a:endParaRPr b="0" lang="en-IN" sz="1000" spc="-1" strike="noStrike">
              <a:latin typeface="Arial"/>
            </a:endParaRPr>
          </a:p>
        </p:txBody>
      </p:sp>
      <p:sp>
        <p:nvSpPr>
          <p:cNvPr id="665" name="Shape 47"/>
          <p:cNvSpPr/>
          <p:nvPr/>
        </p:nvSpPr>
        <p:spPr>
          <a:xfrm>
            <a:off x="5212080" y="2560320"/>
            <a:ext cx="1462680" cy="456840"/>
          </a:xfrm>
          <a:prstGeom prst="rect">
            <a:avLst/>
          </a:prstGeom>
          <a:solidFill>
            <a:srgbClr val="162236"/>
          </a:solidFill>
          <a:ln w="5080">
            <a:solidFill>
              <a:srgbClr val="334155"/>
            </a:solidFill>
            <a:round/>
          </a:ln>
        </p:spPr>
        <p:style>
          <a:lnRef idx="0"/>
          <a:fillRef idx="0"/>
          <a:effectRef idx="0"/>
          <a:fontRef idx="minor"/>
        </p:style>
      </p:sp>
      <p:sp>
        <p:nvSpPr>
          <p:cNvPr id="666" name="Text 48"/>
          <p:cNvSpPr/>
          <p:nvPr/>
        </p:nvSpPr>
        <p:spPr>
          <a:xfrm>
            <a:off x="5303520" y="2560320"/>
            <a:ext cx="13255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Istio traffic mirroring</a:t>
            </a:r>
            <a:endParaRPr b="0" lang="en-IN" sz="1000" spc="-1" strike="noStrike">
              <a:latin typeface="Arial"/>
            </a:endParaRPr>
          </a:p>
        </p:txBody>
      </p:sp>
      <p:sp>
        <p:nvSpPr>
          <p:cNvPr id="667" name="Shape 49"/>
          <p:cNvSpPr/>
          <p:nvPr/>
        </p:nvSpPr>
        <p:spPr>
          <a:xfrm>
            <a:off x="6675120" y="2560320"/>
            <a:ext cx="1554120" cy="456840"/>
          </a:xfrm>
          <a:prstGeom prst="rect">
            <a:avLst/>
          </a:prstGeom>
          <a:solidFill>
            <a:srgbClr val="4c1d95"/>
          </a:solidFill>
          <a:ln w="5080">
            <a:solidFill>
              <a:srgbClr val="334155"/>
            </a:solidFill>
            <a:round/>
          </a:ln>
        </p:spPr>
        <p:style>
          <a:lnRef idx="0"/>
          <a:fillRef idx="0"/>
          <a:effectRef idx="0"/>
          <a:fontRef idx="minor"/>
        </p:style>
      </p:sp>
      <p:sp>
        <p:nvSpPr>
          <p:cNvPr id="668" name="Text 50"/>
          <p:cNvSpPr/>
          <p:nvPr/>
        </p:nvSpPr>
        <p:spPr>
          <a:xfrm>
            <a:off x="6766560" y="2560320"/>
            <a:ext cx="141696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f8fafc"/>
                </a:solidFill>
                <a:latin typeface="Calibri"/>
                <a:ea typeface="Calibri"/>
              </a:rPr>
              <a:t>Exploratory</a:t>
            </a:r>
            <a:endParaRPr b="0" lang="en-IN" sz="1000" spc="-1" strike="noStrike">
              <a:latin typeface="Arial"/>
            </a:endParaRPr>
          </a:p>
        </p:txBody>
      </p:sp>
      <p:sp>
        <p:nvSpPr>
          <p:cNvPr id="669" name="Shape 51"/>
          <p:cNvSpPr/>
          <p:nvPr/>
        </p:nvSpPr>
        <p:spPr>
          <a:xfrm>
            <a:off x="8229600" y="2560320"/>
            <a:ext cx="822600" cy="456840"/>
          </a:xfrm>
          <a:prstGeom prst="rect">
            <a:avLst/>
          </a:prstGeom>
          <a:solidFill>
            <a:srgbClr val="162236"/>
          </a:solidFill>
          <a:ln w="5080">
            <a:solidFill>
              <a:srgbClr val="334155"/>
            </a:solidFill>
            <a:round/>
          </a:ln>
        </p:spPr>
        <p:style>
          <a:lnRef idx="0"/>
          <a:fillRef idx="0"/>
          <a:effectRef idx="0"/>
          <a:fontRef idx="minor"/>
        </p:style>
      </p:sp>
      <p:sp>
        <p:nvSpPr>
          <p:cNvPr id="670" name="Text 52"/>
          <p:cNvSpPr/>
          <p:nvPr/>
        </p:nvSpPr>
        <p:spPr>
          <a:xfrm>
            <a:off x="8321040" y="2560320"/>
            <a:ext cx="6854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000" spc="-1" strike="noStrike">
                <a:solidFill>
                  <a:srgbClr val="f8fafc"/>
                </a:solidFill>
                <a:latin typeface="Calibri"/>
                <a:ea typeface="Calibri"/>
              </a:rPr>
              <a:t>E-H4</a:t>
            </a:r>
            <a:endParaRPr b="0" lang="en-IN" sz="1000" spc="-1" strike="noStrike">
              <a:latin typeface="Arial"/>
            </a:endParaRPr>
          </a:p>
        </p:txBody>
      </p:sp>
      <p:sp>
        <p:nvSpPr>
          <p:cNvPr id="671" name="Shape 53"/>
          <p:cNvSpPr/>
          <p:nvPr/>
        </p:nvSpPr>
        <p:spPr>
          <a:xfrm>
            <a:off x="457200" y="3017520"/>
            <a:ext cx="502560" cy="456840"/>
          </a:xfrm>
          <a:prstGeom prst="rect">
            <a:avLst/>
          </a:prstGeom>
          <a:solidFill>
            <a:srgbClr val="162236"/>
          </a:solidFill>
          <a:ln w="5080">
            <a:solidFill>
              <a:srgbClr val="334155"/>
            </a:solidFill>
            <a:round/>
          </a:ln>
        </p:spPr>
        <p:style>
          <a:lnRef idx="0"/>
          <a:fillRef idx="0"/>
          <a:effectRef idx="0"/>
          <a:fontRef idx="minor"/>
        </p:style>
      </p:sp>
      <p:sp>
        <p:nvSpPr>
          <p:cNvPr id="672" name="Shape 54"/>
          <p:cNvSpPr/>
          <p:nvPr/>
        </p:nvSpPr>
        <p:spPr>
          <a:xfrm>
            <a:off x="457200" y="3017520"/>
            <a:ext cx="45360" cy="456840"/>
          </a:xfrm>
          <a:prstGeom prst="rect">
            <a:avLst/>
          </a:prstGeom>
          <a:solidFill>
            <a:srgbClr val="06b6d4"/>
          </a:solidFill>
          <a:ln w="12700">
            <a:solidFill>
              <a:srgbClr val="06b6d4"/>
            </a:solidFill>
            <a:round/>
          </a:ln>
        </p:spPr>
        <p:style>
          <a:lnRef idx="0"/>
          <a:fillRef idx="0"/>
          <a:effectRef idx="0"/>
          <a:fontRef idx="minor"/>
        </p:style>
      </p:sp>
      <p:sp>
        <p:nvSpPr>
          <p:cNvPr id="673" name="Text 55"/>
          <p:cNvSpPr/>
          <p:nvPr/>
        </p:nvSpPr>
        <p:spPr>
          <a:xfrm>
            <a:off x="548640" y="3017520"/>
            <a:ext cx="3654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6b6d4"/>
                </a:solidFill>
                <a:latin typeface="Calibri"/>
                <a:ea typeface="Calibri"/>
              </a:rPr>
              <a:t>C4</a:t>
            </a:r>
            <a:endParaRPr b="0" lang="en-IN" sz="1200" spc="-1" strike="noStrike">
              <a:latin typeface="Arial"/>
            </a:endParaRPr>
          </a:p>
        </p:txBody>
      </p:sp>
      <p:sp>
        <p:nvSpPr>
          <p:cNvPr id="674" name="Shape 56"/>
          <p:cNvSpPr/>
          <p:nvPr/>
        </p:nvSpPr>
        <p:spPr>
          <a:xfrm>
            <a:off x="960120" y="3017520"/>
            <a:ext cx="2422800" cy="456840"/>
          </a:xfrm>
          <a:prstGeom prst="rect">
            <a:avLst/>
          </a:prstGeom>
          <a:solidFill>
            <a:srgbClr val="162236"/>
          </a:solidFill>
          <a:ln w="5080">
            <a:solidFill>
              <a:srgbClr val="334155"/>
            </a:solidFill>
            <a:round/>
          </a:ln>
        </p:spPr>
        <p:style>
          <a:lnRef idx="0"/>
          <a:fillRef idx="0"/>
          <a:effectRef idx="0"/>
          <a:fontRef idx="minor"/>
        </p:style>
      </p:sp>
      <p:sp>
        <p:nvSpPr>
          <p:cNvPr id="675" name="Text 57"/>
          <p:cNvSpPr/>
          <p:nvPr/>
        </p:nvSpPr>
        <p:spPr>
          <a:xfrm>
            <a:off x="1051560" y="3017520"/>
            <a:ext cx="22856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MAHC (μ, σ) consensus</a:t>
            </a:r>
            <a:endParaRPr b="0" lang="en-IN" sz="1100" spc="-1" strike="noStrike">
              <a:latin typeface="Arial"/>
            </a:endParaRPr>
          </a:p>
        </p:txBody>
      </p:sp>
      <p:sp>
        <p:nvSpPr>
          <p:cNvPr id="676" name="Shape 58"/>
          <p:cNvSpPr/>
          <p:nvPr/>
        </p:nvSpPr>
        <p:spPr>
          <a:xfrm>
            <a:off x="3383280" y="3017520"/>
            <a:ext cx="1828440" cy="456840"/>
          </a:xfrm>
          <a:prstGeom prst="rect">
            <a:avLst/>
          </a:prstGeom>
          <a:solidFill>
            <a:srgbClr val="1b263b"/>
          </a:solidFill>
          <a:ln w="5080">
            <a:solidFill>
              <a:srgbClr val="334155"/>
            </a:solidFill>
            <a:round/>
          </a:ln>
        </p:spPr>
        <p:style>
          <a:lnRef idx="0"/>
          <a:fillRef idx="0"/>
          <a:effectRef idx="0"/>
          <a:fontRef idx="minor"/>
        </p:style>
      </p:sp>
      <p:sp>
        <p:nvSpPr>
          <p:cNvPr id="677" name="Text 59"/>
          <p:cNvSpPr/>
          <p:nvPr/>
        </p:nvSpPr>
        <p:spPr>
          <a:xfrm>
            <a:off x="3474720" y="3017520"/>
            <a:ext cx="16912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Method</a:t>
            </a:r>
            <a:endParaRPr b="0" lang="en-IN" sz="1000" spc="-1" strike="noStrike">
              <a:latin typeface="Arial"/>
            </a:endParaRPr>
          </a:p>
        </p:txBody>
      </p:sp>
      <p:sp>
        <p:nvSpPr>
          <p:cNvPr id="678" name="Shape 60"/>
          <p:cNvSpPr/>
          <p:nvPr/>
        </p:nvSpPr>
        <p:spPr>
          <a:xfrm>
            <a:off x="5212080" y="3017520"/>
            <a:ext cx="1462680" cy="456840"/>
          </a:xfrm>
          <a:prstGeom prst="rect">
            <a:avLst/>
          </a:prstGeom>
          <a:solidFill>
            <a:srgbClr val="162236"/>
          </a:solidFill>
          <a:ln w="5080">
            <a:solidFill>
              <a:srgbClr val="334155"/>
            </a:solidFill>
            <a:round/>
          </a:ln>
        </p:spPr>
        <p:style>
          <a:lnRef idx="0"/>
          <a:fillRef idx="0"/>
          <a:effectRef idx="0"/>
          <a:fontRef idx="minor"/>
        </p:style>
      </p:sp>
      <p:sp>
        <p:nvSpPr>
          <p:cNvPr id="679" name="Text 61"/>
          <p:cNvSpPr/>
          <p:nvPr/>
        </p:nvSpPr>
        <p:spPr>
          <a:xfrm>
            <a:off x="5303520" y="3017520"/>
            <a:ext cx="13255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mABC</a:t>
            </a:r>
            <a:endParaRPr b="0" lang="en-IN" sz="1000" spc="-1" strike="noStrike">
              <a:latin typeface="Arial"/>
            </a:endParaRPr>
          </a:p>
        </p:txBody>
      </p:sp>
      <p:sp>
        <p:nvSpPr>
          <p:cNvPr id="680" name="Shape 62"/>
          <p:cNvSpPr/>
          <p:nvPr/>
        </p:nvSpPr>
        <p:spPr>
          <a:xfrm>
            <a:off x="6675120" y="3017520"/>
            <a:ext cx="1554120" cy="456840"/>
          </a:xfrm>
          <a:prstGeom prst="rect">
            <a:avLst/>
          </a:prstGeom>
          <a:solidFill>
            <a:srgbClr val="065f46"/>
          </a:solidFill>
          <a:ln w="5080">
            <a:solidFill>
              <a:srgbClr val="334155"/>
            </a:solidFill>
            <a:round/>
          </a:ln>
        </p:spPr>
        <p:style>
          <a:lnRef idx="0"/>
          <a:fillRef idx="0"/>
          <a:effectRef idx="0"/>
          <a:fontRef idx="minor"/>
        </p:style>
      </p:sp>
      <p:sp>
        <p:nvSpPr>
          <p:cNvPr id="681" name="Text 63"/>
          <p:cNvSpPr/>
          <p:nvPr/>
        </p:nvSpPr>
        <p:spPr>
          <a:xfrm>
            <a:off x="6766560" y="3017520"/>
            <a:ext cx="141696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f8fafc"/>
                </a:solidFill>
                <a:latin typeface="Calibri"/>
                <a:ea typeface="Calibri"/>
              </a:rPr>
              <a:t>Confirmatory</a:t>
            </a:r>
            <a:endParaRPr b="0" lang="en-IN" sz="1000" spc="-1" strike="noStrike">
              <a:latin typeface="Arial"/>
            </a:endParaRPr>
          </a:p>
        </p:txBody>
      </p:sp>
      <p:sp>
        <p:nvSpPr>
          <p:cNvPr id="682" name="Shape 64"/>
          <p:cNvSpPr/>
          <p:nvPr/>
        </p:nvSpPr>
        <p:spPr>
          <a:xfrm>
            <a:off x="8229600" y="3017520"/>
            <a:ext cx="822600" cy="456840"/>
          </a:xfrm>
          <a:prstGeom prst="rect">
            <a:avLst/>
          </a:prstGeom>
          <a:solidFill>
            <a:srgbClr val="162236"/>
          </a:solidFill>
          <a:ln w="5080">
            <a:solidFill>
              <a:srgbClr val="334155"/>
            </a:solidFill>
            <a:round/>
          </a:ln>
        </p:spPr>
        <p:style>
          <a:lnRef idx="0"/>
          <a:fillRef idx="0"/>
          <a:effectRef idx="0"/>
          <a:fontRef idx="minor"/>
        </p:style>
      </p:sp>
      <p:sp>
        <p:nvSpPr>
          <p:cNvPr id="683" name="Text 65"/>
          <p:cNvSpPr/>
          <p:nvPr/>
        </p:nvSpPr>
        <p:spPr>
          <a:xfrm>
            <a:off x="8321040" y="3017520"/>
            <a:ext cx="6854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000" spc="-1" strike="noStrike">
                <a:solidFill>
                  <a:srgbClr val="f8fafc"/>
                </a:solidFill>
                <a:latin typeface="Calibri"/>
                <a:ea typeface="Calibri"/>
              </a:rPr>
              <a:t>A-H4 + A-H7</a:t>
            </a:r>
            <a:endParaRPr b="0" lang="en-IN" sz="1000" spc="-1" strike="noStrike">
              <a:latin typeface="Arial"/>
            </a:endParaRPr>
          </a:p>
        </p:txBody>
      </p:sp>
      <p:sp>
        <p:nvSpPr>
          <p:cNvPr id="684" name="Shape 66"/>
          <p:cNvSpPr/>
          <p:nvPr/>
        </p:nvSpPr>
        <p:spPr>
          <a:xfrm>
            <a:off x="457200" y="3474720"/>
            <a:ext cx="502560" cy="456840"/>
          </a:xfrm>
          <a:prstGeom prst="rect">
            <a:avLst/>
          </a:prstGeom>
          <a:solidFill>
            <a:srgbClr val="162236"/>
          </a:solidFill>
          <a:ln w="5080">
            <a:solidFill>
              <a:srgbClr val="334155"/>
            </a:solidFill>
            <a:round/>
          </a:ln>
        </p:spPr>
        <p:style>
          <a:lnRef idx="0"/>
          <a:fillRef idx="0"/>
          <a:effectRef idx="0"/>
          <a:fontRef idx="minor"/>
        </p:style>
      </p:sp>
      <p:sp>
        <p:nvSpPr>
          <p:cNvPr id="685" name="Shape 67"/>
          <p:cNvSpPr/>
          <p:nvPr/>
        </p:nvSpPr>
        <p:spPr>
          <a:xfrm>
            <a:off x="457200" y="3474720"/>
            <a:ext cx="45360" cy="456840"/>
          </a:xfrm>
          <a:prstGeom prst="rect">
            <a:avLst/>
          </a:prstGeom>
          <a:solidFill>
            <a:srgbClr val="a78bfa"/>
          </a:solidFill>
          <a:ln w="12700">
            <a:solidFill>
              <a:srgbClr val="a78bfa"/>
            </a:solidFill>
            <a:round/>
          </a:ln>
        </p:spPr>
        <p:style>
          <a:lnRef idx="0"/>
          <a:fillRef idx="0"/>
          <a:effectRef idx="0"/>
          <a:fontRef idx="minor"/>
        </p:style>
      </p:sp>
      <p:sp>
        <p:nvSpPr>
          <p:cNvPr id="686" name="Text 68"/>
          <p:cNvSpPr/>
          <p:nvPr/>
        </p:nvSpPr>
        <p:spPr>
          <a:xfrm>
            <a:off x="548640" y="3474720"/>
            <a:ext cx="3654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a78bfa"/>
                </a:solidFill>
                <a:latin typeface="Calibri"/>
                <a:ea typeface="Calibri"/>
              </a:rPr>
              <a:t>C5</a:t>
            </a:r>
            <a:endParaRPr b="0" lang="en-IN" sz="1200" spc="-1" strike="noStrike">
              <a:latin typeface="Arial"/>
            </a:endParaRPr>
          </a:p>
        </p:txBody>
      </p:sp>
      <p:sp>
        <p:nvSpPr>
          <p:cNvPr id="687" name="Shape 69"/>
          <p:cNvSpPr/>
          <p:nvPr/>
        </p:nvSpPr>
        <p:spPr>
          <a:xfrm>
            <a:off x="960120" y="3474720"/>
            <a:ext cx="2422800" cy="456840"/>
          </a:xfrm>
          <a:prstGeom prst="rect">
            <a:avLst/>
          </a:prstGeom>
          <a:solidFill>
            <a:srgbClr val="162236"/>
          </a:solidFill>
          <a:ln w="5080">
            <a:solidFill>
              <a:srgbClr val="334155"/>
            </a:solidFill>
            <a:round/>
          </a:ln>
        </p:spPr>
        <p:style>
          <a:lnRef idx="0"/>
          <a:fillRef idx="0"/>
          <a:effectRef idx="0"/>
          <a:fontRef idx="minor"/>
        </p:style>
      </p:sp>
      <p:sp>
        <p:nvSpPr>
          <p:cNvPr id="688" name="Text 70"/>
          <p:cNvSpPr/>
          <p:nvPr/>
        </p:nvSpPr>
        <p:spPr>
          <a:xfrm>
            <a:off x="1051560" y="3474720"/>
            <a:ext cx="22856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IOL meta-observability</a:t>
            </a:r>
            <a:endParaRPr b="0" lang="en-IN" sz="1100" spc="-1" strike="noStrike">
              <a:latin typeface="Arial"/>
            </a:endParaRPr>
          </a:p>
        </p:txBody>
      </p:sp>
      <p:sp>
        <p:nvSpPr>
          <p:cNvPr id="689" name="Shape 71"/>
          <p:cNvSpPr/>
          <p:nvPr/>
        </p:nvSpPr>
        <p:spPr>
          <a:xfrm>
            <a:off x="3383280" y="3474720"/>
            <a:ext cx="1828440" cy="456840"/>
          </a:xfrm>
          <a:prstGeom prst="rect">
            <a:avLst/>
          </a:prstGeom>
          <a:solidFill>
            <a:srgbClr val="1b263b"/>
          </a:solidFill>
          <a:ln w="5080">
            <a:solidFill>
              <a:srgbClr val="334155"/>
            </a:solidFill>
            <a:round/>
          </a:ln>
        </p:spPr>
        <p:style>
          <a:lnRef idx="0"/>
          <a:fillRef idx="0"/>
          <a:effectRef idx="0"/>
          <a:fontRef idx="minor"/>
        </p:style>
      </p:sp>
      <p:sp>
        <p:nvSpPr>
          <p:cNvPr id="690" name="Text 72"/>
          <p:cNvSpPr/>
          <p:nvPr/>
        </p:nvSpPr>
        <p:spPr>
          <a:xfrm>
            <a:off x="3474720" y="3474720"/>
            <a:ext cx="16912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Architectural-pattern</a:t>
            </a:r>
            <a:endParaRPr b="0" lang="en-IN" sz="1000" spc="-1" strike="noStrike">
              <a:latin typeface="Arial"/>
            </a:endParaRPr>
          </a:p>
        </p:txBody>
      </p:sp>
      <p:sp>
        <p:nvSpPr>
          <p:cNvPr id="691" name="Shape 73"/>
          <p:cNvSpPr/>
          <p:nvPr/>
        </p:nvSpPr>
        <p:spPr>
          <a:xfrm>
            <a:off x="5212080" y="3474720"/>
            <a:ext cx="1462680" cy="456840"/>
          </a:xfrm>
          <a:prstGeom prst="rect">
            <a:avLst/>
          </a:prstGeom>
          <a:solidFill>
            <a:srgbClr val="162236"/>
          </a:solidFill>
          <a:ln w="5080">
            <a:solidFill>
              <a:srgbClr val="334155"/>
            </a:solidFill>
            <a:round/>
          </a:ln>
        </p:spPr>
        <p:style>
          <a:lnRef idx="0"/>
          <a:fillRef idx="0"/>
          <a:effectRef idx="0"/>
          <a:fontRef idx="minor"/>
        </p:style>
      </p:sp>
      <p:sp>
        <p:nvSpPr>
          <p:cNvPr id="692" name="Text 74"/>
          <p:cNvSpPr/>
          <p:nvPr/>
        </p:nvSpPr>
        <p:spPr>
          <a:xfrm>
            <a:off x="5303520" y="3474720"/>
            <a:ext cx="13255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Prom self-scrape · Datadog</a:t>
            </a:r>
            <a:endParaRPr b="0" lang="en-IN" sz="1000" spc="-1" strike="noStrike">
              <a:latin typeface="Arial"/>
            </a:endParaRPr>
          </a:p>
        </p:txBody>
      </p:sp>
      <p:sp>
        <p:nvSpPr>
          <p:cNvPr id="693" name="Shape 75"/>
          <p:cNvSpPr/>
          <p:nvPr/>
        </p:nvSpPr>
        <p:spPr>
          <a:xfrm>
            <a:off x="6675120" y="3474720"/>
            <a:ext cx="1554120" cy="456840"/>
          </a:xfrm>
          <a:prstGeom prst="rect">
            <a:avLst/>
          </a:prstGeom>
          <a:solidFill>
            <a:srgbClr val="4c1d95"/>
          </a:solidFill>
          <a:ln w="5080">
            <a:solidFill>
              <a:srgbClr val="334155"/>
            </a:solidFill>
            <a:round/>
          </a:ln>
        </p:spPr>
        <p:style>
          <a:lnRef idx="0"/>
          <a:fillRef idx="0"/>
          <a:effectRef idx="0"/>
          <a:fontRef idx="minor"/>
        </p:style>
      </p:sp>
      <p:sp>
        <p:nvSpPr>
          <p:cNvPr id="694" name="Text 76"/>
          <p:cNvSpPr/>
          <p:nvPr/>
        </p:nvSpPr>
        <p:spPr>
          <a:xfrm>
            <a:off x="6766560" y="3474720"/>
            <a:ext cx="141696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f8fafc"/>
                </a:solidFill>
                <a:latin typeface="Calibri"/>
                <a:ea typeface="Calibri"/>
              </a:rPr>
              <a:t>Exploratory</a:t>
            </a:r>
            <a:endParaRPr b="0" lang="en-IN" sz="1000" spc="-1" strike="noStrike">
              <a:latin typeface="Arial"/>
            </a:endParaRPr>
          </a:p>
        </p:txBody>
      </p:sp>
      <p:sp>
        <p:nvSpPr>
          <p:cNvPr id="695" name="Shape 77"/>
          <p:cNvSpPr/>
          <p:nvPr/>
        </p:nvSpPr>
        <p:spPr>
          <a:xfrm>
            <a:off x="8229600" y="3474720"/>
            <a:ext cx="822600" cy="456840"/>
          </a:xfrm>
          <a:prstGeom prst="rect">
            <a:avLst/>
          </a:prstGeom>
          <a:solidFill>
            <a:srgbClr val="162236"/>
          </a:solidFill>
          <a:ln w="5080">
            <a:solidFill>
              <a:srgbClr val="334155"/>
            </a:solidFill>
            <a:round/>
          </a:ln>
        </p:spPr>
        <p:style>
          <a:lnRef idx="0"/>
          <a:fillRef idx="0"/>
          <a:effectRef idx="0"/>
          <a:fontRef idx="minor"/>
        </p:style>
      </p:sp>
      <p:sp>
        <p:nvSpPr>
          <p:cNvPr id="696" name="Text 78"/>
          <p:cNvSpPr/>
          <p:nvPr/>
        </p:nvSpPr>
        <p:spPr>
          <a:xfrm>
            <a:off x="8321040" y="3474720"/>
            <a:ext cx="6854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000" spc="-1" strike="noStrike">
                <a:solidFill>
                  <a:srgbClr val="f8fafc"/>
                </a:solidFill>
                <a:latin typeface="Calibri"/>
                <a:ea typeface="Calibri"/>
              </a:rPr>
              <a:t>E-H6</a:t>
            </a:r>
            <a:endParaRPr b="0" lang="en-IN" sz="1000" spc="-1" strike="noStrike">
              <a:latin typeface="Arial"/>
            </a:endParaRPr>
          </a:p>
        </p:txBody>
      </p:sp>
      <p:sp>
        <p:nvSpPr>
          <p:cNvPr id="697" name="Shape 79"/>
          <p:cNvSpPr/>
          <p:nvPr/>
        </p:nvSpPr>
        <p:spPr>
          <a:xfrm>
            <a:off x="457200" y="3931920"/>
            <a:ext cx="502560" cy="456840"/>
          </a:xfrm>
          <a:prstGeom prst="rect">
            <a:avLst/>
          </a:prstGeom>
          <a:solidFill>
            <a:srgbClr val="162236"/>
          </a:solidFill>
          <a:ln w="5080">
            <a:solidFill>
              <a:srgbClr val="334155"/>
            </a:solidFill>
            <a:round/>
          </a:ln>
        </p:spPr>
        <p:style>
          <a:lnRef idx="0"/>
          <a:fillRef idx="0"/>
          <a:effectRef idx="0"/>
          <a:fontRef idx="minor"/>
        </p:style>
      </p:sp>
      <p:sp>
        <p:nvSpPr>
          <p:cNvPr id="698" name="Shape 80"/>
          <p:cNvSpPr/>
          <p:nvPr/>
        </p:nvSpPr>
        <p:spPr>
          <a:xfrm>
            <a:off x="457200" y="3931920"/>
            <a:ext cx="45360" cy="456840"/>
          </a:xfrm>
          <a:prstGeom prst="rect">
            <a:avLst/>
          </a:prstGeom>
          <a:solidFill>
            <a:srgbClr val="06b6d4"/>
          </a:solidFill>
          <a:ln w="12700">
            <a:solidFill>
              <a:srgbClr val="06b6d4"/>
            </a:solidFill>
            <a:round/>
          </a:ln>
        </p:spPr>
        <p:style>
          <a:lnRef idx="0"/>
          <a:fillRef idx="0"/>
          <a:effectRef idx="0"/>
          <a:fontRef idx="minor"/>
        </p:style>
      </p:sp>
      <p:sp>
        <p:nvSpPr>
          <p:cNvPr id="699" name="Text 81"/>
          <p:cNvSpPr/>
          <p:nvPr/>
        </p:nvSpPr>
        <p:spPr>
          <a:xfrm>
            <a:off x="548640" y="3931920"/>
            <a:ext cx="36540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 strike="noStrike">
                <a:solidFill>
                  <a:srgbClr val="06b6d4"/>
                </a:solidFill>
                <a:latin typeface="Calibri"/>
                <a:ea typeface="Calibri"/>
              </a:rPr>
              <a:t>C6</a:t>
            </a:r>
            <a:endParaRPr b="0" lang="en-IN" sz="1200" spc="-1" strike="noStrike">
              <a:latin typeface="Arial"/>
            </a:endParaRPr>
          </a:p>
        </p:txBody>
      </p:sp>
      <p:sp>
        <p:nvSpPr>
          <p:cNvPr id="700" name="Shape 82"/>
          <p:cNvSpPr/>
          <p:nvPr/>
        </p:nvSpPr>
        <p:spPr>
          <a:xfrm>
            <a:off x="960120" y="3931920"/>
            <a:ext cx="2422800" cy="456840"/>
          </a:xfrm>
          <a:prstGeom prst="rect">
            <a:avLst/>
          </a:prstGeom>
          <a:solidFill>
            <a:srgbClr val="162236"/>
          </a:solidFill>
          <a:ln w="5080">
            <a:solidFill>
              <a:srgbClr val="334155"/>
            </a:solidFill>
            <a:round/>
          </a:ln>
        </p:spPr>
        <p:style>
          <a:lnRef idx="0"/>
          <a:fillRef idx="0"/>
          <a:effectRef idx="0"/>
          <a:fontRef idx="minor"/>
        </p:style>
      </p:sp>
      <p:sp>
        <p:nvSpPr>
          <p:cNvPr id="701" name="Text 83"/>
          <p:cNvSpPr/>
          <p:nvPr/>
        </p:nvSpPr>
        <p:spPr>
          <a:xfrm>
            <a:off x="1051560" y="3931920"/>
            <a:ext cx="22856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ORAR cost-aware routing</a:t>
            </a:r>
            <a:endParaRPr b="0" lang="en-IN" sz="1100" spc="-1" strike="noStrike">
              <a:latin typeface="Arial"/>
            </a:endParaRPr>
          </a:p>
        </p:txBody>
      </p:sp>
      <p:sp>
        <p:nvSpPr>
          <p:cNvPr id="702" name="Shape 84"/>
          <p:cNvSpPr/>
          <p:nvPr/>
        </p:nvSpPr>
        <p:spPr>
          <a:xfrm>
            <a:off x="3383280" y="3931920"/>
            <a:ext cx="1828440" cy="456840"/>
          </a:xfrm>
          <a:prstGeom prst="rect">
            <a:avLst/>
          </a:prstGeom>
          <a:solidFill>
            <a:srgbClr val="1b263b"/>
          </a:solidFill>
          <a:ln w="5080">
            <a:solidFill>
              <a:srgbClr val="334155"/>
            </a:solidFill>
            <a:round/>
          </a:ln>
        </p:spPr>
        <p:style>
          <a:lnRef idx="0"/>
          <a:fillRef idx="0"/>
          <a:effectRef idx="0"/>
          <a:fontRef idx="minor"/>
        </p:style>
      </p:sp>
      <p:sp>
        <p:nvSpPr>
          <p:cNvPr id="703" name="Text 85"/>
          <p:cNvSpPr/>
          <p:nvPr/>
        </p:nvSpPr>
        <p:spPr>
          <a:xfrm>
            <a:off x="3474720" y="3931920"/>
            <a:ext cx="16912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Method (cross-field transfer)</a:t>
            </a:r>
            <a:endParaRPr b="0" lang="en-IN" sz="1000" spc="-1" strike="noStrike">
              <a:latin typeface="Arial"/>
            </a:endParaRPr>
          </a:p>
        </p:txBody>
      </p:sp>
      <p:sp>
        <p:nvSpPr>
          <p:cNvPr id="704" name="Shape 86"/>
          <p:cNvSpPr/>
          <p:nvPr/>
        </p:nvSpPr>
        <p:spPr>
          <a:xfrm>
            <a:off x="5212080" y="3931920"/>
            <a:ext cx="1462680" cy="456840"/>
          </a:xfrm>
          <a:prstGeom prst="rect">
            <a:avLst/>
          </a:prstGeom>
          <a:solidFill>
            <a:srgbClr val="162236"/>
          </a:solidFill>
          <a:ln w="5080">
            <a:solidFill>
              <a:srgbClr val="334155"/>
            </a:solidFill>
            <a:round/>
          </a:ln>
        </p:spPr>
        <p:style>
          <a:lnRef idx="0"/>
          <a:fillRef idx="0"/>
          <a:effectRef idx="0"/>
          <a:fontRef idx="minor"/>
        </p:style>
      </p:sp>
      <p:sp>
        <p:nvSpPr>
          <p:cNvPr id="705" name="Text 87"/>
          <p:cNvSpPr/>
          <p:nvPr/>
        </p:nvSpPr>
        <p:spPr>
          <a:xfrm>
            <a:off x="5303520" y="3931920"/>
            <a:ext cx="132552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00" spc="-1" strike="noStrike">
                <a:solidFill>
                  <a:srgbClr val="94a3b8"/>
                </a:solidFill>
                <a:latin typeface="Calibri"/>
                <a:ea typeface="Calibri"/>
              </a:rPr>
              <a:t>FrugalGPT</a:t>
            </a:r>
            <a:endParaRPr b="0" lang="en-IN" sz="1000" spc="-1" strike="noStrike">
              <a:latin typeface="Arial"/>
            </a:endParaRPr>
          </a:p>
        </p:txBody>
      </p:sp>
      <p:sp>
        <p:nvSpPr>
          <p:cNvPr id="706" name="Shape 88"/>
          <p:cNvSpPr/>
          <p:nvPr/>
        </p:nvSpPr>
        <p:spPr>
          <a:xfrm>
            <a:off x="6675120" y="3931920"/>
            <a:ext cx="1554120" cy="456840"/>
          </a:xfrm>
          <a:prstGeom prst="rect">
            <a:avLst/>
          </a:prstGeom>
          <a:solidFill>
            <a:srgbClr val="4c1d95"/>
          </a:solidFill>
          <a:ln w="5080">
            <a:solidFill>
              <a:srgbClr val="334155"/>
            </a:solidFill>
            <a:round/>
          </a:ln>
        </p:spPr>
        <p:style>
          <a:lnRef idx="0"/>
          <a:fillRef idx="0"/>
          <a:effectRef idx="0"/>
          <a:fontRef idx="minor"/>
        </p:style>
      </p:sp>
      <p:sp>
        <p:nvSpPr>
          <p:cNvPr id="707" name="Text 89"/>
          <p:cNvSpPr/>
          <p:nvPr/>
        </p:nvSpPr>
        <p:spPr>
          <a:xfrm>
            <a:off x="6766560" y="3931920"/>
            <a:ext cx="141696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1000" spc="-1" strike="noStrike">
                <a:solidFill>
                  <a:srgbClr val="f8fafc"/>
                </a:solidFill>
                <a:latin typeface="Calibri"/>
                <a:ea typeface="Calibri"/>
              </a:rPr>
              <a:t>Confirmatory + Exploratory</a:t>
            </a:r>
            <a:endParaRPr b="0" lang="en-IN" sz="1000" spc="-1" strike="noStrike">
              <a:latin typeface="Arial"/>
            </a:endParaRPr>
          </a:p>
        </p:txBody>
      </p:sp>
      <p:sp>
        <p:nvSpPr>
          <p:cNvPr id="708" name="Shape 90"/>
          <p:cNvSpPr/>
          <p:nvPr/>
        </p:nvSpPr>
        <p:spPr>
          <a:xfrm>
            <a:off x="8229600" y="3931920"/>
            <a:ext cx="822600" cy="456840"/>
          </a:xfrm>
          <a:prstGeom prst="rect">
            <a:avLst/>
          </a:prstGeom>
          <a:solidFill>
            <a:srgbClr val="162236"/>
          </a:solidFill>
          <a:ln w="5080">
            <a:solidFill>
              <a:srgbClr val="334155"/>
            </a:solidFill>
            <a:round/>
          </a:ln>
        </p:spPr>
        <p:style>
          <a:lnRef idx="0"/>
          <a:fillRef idx="0"/>
          <a:effectRef idx="0"/>
          <a:fontRef idx="minor"/>
        </p:style>
      </p:sp>
      <p:sp>
        <p:nvSpPr>
          <p:cNvPr id="709" name="Text 91"/>
          <p:cNvSpPr/>
          <p:nvPr/>
        </p:nvSpPr>
        <p:spPr>
          <a:xfrm>
            <a:off x="8321040" y="3931920"/>
            <a:ext cx="68544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i="1" lang="en-US" sz="1000" spc="-1" strike="noStrike">
                <a:solidFill>
                  <a:srgbClr val="f8fafc"/>
                </a:solidFill>
                <a:latin typeface="Calibri"/>
                <a:ea typeface="Calibri"/>
              </a:rPr>
              <a:t>A-H5 / E-H5</a:t>
            </a:r>
            <a:endParaRPr b="0" lang="en-IN" sz="1000" spc="-1" strike="noStrike">
              <a:latin typeface="Arial"/>
            </a:endParaRPr>
          </a:p>
        </p:txBody>
      </p:sp>
      <p:sp>
        <p:nvSpPr>
          <p:cNvPr id="710" name="Shape 92"/>
          <p:cNvSpPr/>
          <p:nvPr/>
        </p:nvSpPr>
        <p:spPr>
          <a:xfrm>
            <a:off x="457200" y="4498920"/>
            <a:ext cx="8595000" cy="347040"/>
          </a:xfrm>
          <a:prstGeom prst="rect">
            <a:avLst/>
          </a:prstGeom>
          <a:solidFill>
            <a:srgbClr val="243549"/>
          </a:solidFill>
          <a:ln w="9525">
            <a:solidFill>
              <a:srgbClr val="334155"/>
            </a:solidFill>
            <a:round/>
          </a:ln>
        </p:spPr>
        <p:style>
          <a:lnRef idx="0"/>
          <a:fillRef idx="0"/>
          <a:effectRef idx="0"/>
          <a:fontRef idx="minor"/>
        </p:style>
      </p:sp>
      <p:sp>
        <p:nvSpPr>
          <p:cNvPr id="711" name="Shape 93"/>
          <p:cNvSpPr/>
          <p:nvPr/>
        </p:nvSpPr>
        <p:spPr>
          <a:xfrm>
            <a:off x="457200" y="4498920"/>
            <a:ext cx="54360" cy="347040"/>
          </a:xfrm>
          <a:prstGeom prst="rect">
            <a:avLst/>
          </a:prstGeom>
          <a:solidFill>
            <a:srgbClr val="f97316"/>
          </a:solidFill>
          <a:ln w="12700">
            <a:solidFill>
              <a:srgbClr val="f97316"/>
            </a:solidFill>
            <a:round/>
          </a:ln>
        </p:spPr>
        <p:style>
          <a:lnRef idx="0"/>
          <a:fillRef idx="0"/>
          <a:effectRef idx="0"/>
          <a:fontRef idx="minor"/>
        </p:style>
      </p:sp>
      <p:sp>
        <p:nvSpPr>
          <p:cNvPr id="712" name="Text 94"/>
          <p:cNvSpPr/>
          <p:nvPr/>
        </p:nvSpPr>
        <p:spPr>
          <a:xfrm>
            <a:off x="640080" y="4498920"/>
            <a:ext cx="8366400" cy="347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f8fafc"/>
                </a:solidFill>
                <a:latin typeface="Calibri"/>
                <a:ea typeface="Calibri"/>
              </a:rPr>
              <a:t>Plus 5 transferable design principles · Asymmetric inferential rule · OSF evaluation template</a:t>
            </a:r>
            <a:endParaRPr b="0" lang="en-IN" sz="1100" spc="-1" strike="noStrike">
              <a:latin typeface="Arial"/>
            </a:endParaRPr>
          </a:p>
        </p:txBody>
      </p:sp>
      <p:sp>
        <p:nvSpPr>
          <p:cNvPr id="713" name="Text 95"/>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HELIOS Artefact</a:t>
            </a:r>
            <a:endParaRPr b="0" lang="en-IN" sz="850" spc="-1" strike="noStrike">
              <a:latin typeface="Arial"/>
            </a:endParaRPr>
          </a:p>
        </p:txBody>
      </p:sp>
      <p:sp>
        <p:nvSpPr>
          <p:cNvPr id="714" name="Text 96"/>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17 / 22</a:t>
            </a:r>
            <a:endParaRPr b="0" lang="en-IN" sz="900" spc="-1" strike="noStrike">
              <a:latin typeface="Arial"/>
            </a:endParaRPr>
          </a:p>
        </p:txBody>
      </p:sp>
      <p:sp>
        <p:nvSpPr>
          <p:cNvPr id="715" name="Shape 97"/>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716"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FIVE-PILLAR TELEMETRY STRATEGY</a:t>
            </a:r>
            <a:endParaRPr b="0" lang="en-IN" sz="1000" spc="-1" strike="noStrike">
              <a:latin typeface="Arial"/>
            </a:endParaRPr>
          </a:p>
        </p:txBody>
      </p:sp>
      <p:sp>
        <p:nvSpPr>
          <p:cNvPr id="717"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Canonical three pillars + cognitive (P4) + business (P5) — unified under UEG-C</a:t>
            </a:r>
            <a:endParaRPr b="0" lang="en-IN" sz="2200" spc="-1" strike="noStrike">
              <a:latin typeface="Arial"/>
            </a:endParaRPr>
          </a:p>
        </p:txBody>
      </p:sp>
      <p:sp>
        <p:nvSpPr>
          <p:cNvPr id="718" name="Shape 2"/>
          <p:cNvSpPr/>
          <p:nvPr/>
        </p:nvSpPr>
        <p:spPr>
          <a:xfrm>
            <a:off x="265320" y="1280160"/>
            <a:ext cx="1627200" cy="2331360"/>
          </a:xfrm>
          <a:prstGeom prst="rect">
            <a:avLst/>
          </a:prstGeom>
          <a:solidFill>
            <a:srgbClr val="162236"/>
          </a:solidFill>
          <a:ln w="9525">
            <a:solidFill>
              <a:srgbClr val="334155"/>
            </a:solidFill>
            <a:round/>
          </a:ln>
        </p:spPr>
        <p:style>
          <a:lnRef idx="0"/>
          <a:fillRef idx="0"/>
          <a:effectRef idx="0"/>
          <a:fontRef idx="minor"/>
        </p:style>
      </p:sp>
      <p:sp>
        <p:nvSpPr>
          <p:cNvPr id="719" name="Shape 3"/>
          <p:cNvSpPr/>
          <p:nvPr/>
        </p:nvSpPr>
        <p:spPr>
          <a:xfrm>
            <a:off x="265320" y="1280160"/>
            <a:ext cx="54360" cy="2331360"/>
          </a:xfrm>
          <a:prstGeom prst="rect">
            <a:avLst/>
          </a:prstGeom>
          <a:solidFill>
            <a:srgbClr val="06b6d4"/>
          </a:solidFill>
          <a:ln w="12700">
            <a:solidFill>
              <a:srgbClr val="06b6d4"/>
            </a:solidFill>
            <a:round/>
          </a:ln>
        </p:spPr>
        <p:style>
          <a:lnRef idx="0"/>
          <a:fillRef idx="0"/>
          <a:effectRef idx="0"/>
          <a:fontRef idx="minor"/>
        </p:style>
      </p:sp>
      <p:sp>
        <p:nvSpPr>
          <p:cNvPr id="720" name="Text 4"/>
          <p:cNvSpPr/>
          <p:nvPr/>
        </p:nvSpPr>
        <p:spPr>
          <a:xfrm>
            <a:off x="402480" y="1444680"/>
            <a:ext cx="13528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6b6d4"/>
                </a:solidFill>
                <a:latin typeface="Calibri"/>
                <a:ea typeface="Calibri"/>
              </a:rPr>
              <a:t>P1</a:t>
            </a:r>
            <a:endParaRPr b="0" lang="en-IN" sz="2200" spc="-1" strike="noStrike">
              <a:latin typeface="Arial"/>
            </a:endParaRPr>
          </a:p>
        </p:txBody>
      </p:sp>
      <p:sp>
        <p:nvSpPr>
          <p:cNvPr id="721" name="Text 5"/>
          <p:cNvSpPr/>
          <p:nvPr/>
        </p:nvSpPr>
        <p:spPr>
          <a:xfrm>
            <a:off x="402480" y="1920240"/>
            <a:ext cx="135288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99" strike="noStrike">
                <a:solidFill>
                  <a:srgbClr val="f8fafc"/>
                </a:solidFill>
                <a:latin typeface="Calibri"/>
                <a:ea typeface="Calibri"/>
              </a:rPr>
              <a:t>METRICS</a:t>
            </a:r>
            <a:endParaRPr b="0" lang="en-IN" sz="1200" spc="-1" strike="noStrike">
              <a:latin typeface="Arial"/>
            </a:endParaRPr>
          </a:p>
        </p:txBody>
      </p:sp>
      <p:sp>
        <p:nvSpPr>
          <p:cNvPr id="722" name="Text 6"/>
          <p:cNvSpPr/>
          <p:nvPr/>
        </p:nvSpPr>
        <p:spPr>
          <a:xfrm>
            <a:off x="402480" y="2212920"/>
            <a:ext cx="1352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97" strike="noStrike">
                <a:solidFill>
                  <a:srgbClr val="94a3b8"/>
                </a:solidFill>
                <a:latin typeface="Calibri"/>
                <a:ea typeface="Calibri"/>
              </a:rPr>
              <a:t>canonical</a:t>
            </a:r>
            <a:endParaRPr b="0" lang="en-IN" sz="850" spc="-1" strike="noStrike">
              <a:latin typeface="Arial"/>
            </a:endParaRPr>
          </a:p>
        </p:txBody>
      </p:sp>
      <p:sp>
        <p:nvSpPr>
          <p:cNvPr id="723" name="Text 7"/>
          <p:cNvSpPr/>
          <p:nvPr/>
        </p:nvSpPr>
        <p:spPr>
          <a:xfrm>
            <a:off x="402480" y="2514600"/>
            <a:ext cx="135288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Prometheus · OTEL counters</a:t>
            </a:r>
            <a:endParaRPr b="0" lang="en-IN" sz="950" spc="-1" strike="noStrike">
              <a:latin typeface="Arial"/>
            </a:endParaRPr>
          </a:p>
        </p:txBody>
      </p:sp>
      <p:sp>
        <p:nvSpPr>
          <p:cNvPr id="724" name="Shape 8"/>
          <p:cNvSpPr/>
          <p:nvPr/>
        </p:nvSpPr>
        <p:spPr>
          <a:xfrm>
            <a:off x="2011680" y="1280160"/>
            <a:ext cx="1627200" cy="2331360"/>
          </a:xfrm>
          <a:prstGeom prst="rect">
            <a:avLst/>
          </a:prstGeom>
          <a:solidFill>
            <a:srgbClr val="162236"/>
          </a:solidFill>
          <a:ln w="9525">
            <a:solidFill>
              <a:srgbClr val="334155"/>
            </a:solidFill>
            <a:round/>
          </a:ln>
        </p:spPr>
        <p:style>
          <a:lnRef idx="0"/>
          <a:fillRef idx="0"/>
          <a:effectRef idx="0"/>
          <a:fontRef idx="minor"/>
        </p:style>
      </p:sp>
      <p:sp>
        <p:nvSpPr>
          <p:cNvPr id="725" name="Shape 9"/>
          <p:cNvSpPr/>
          <p:nvPr/>
        </p:nvSpPr>
        <p:spPr>
          <a:xfrm>
            <a:off x="2011680" y="1280160"/>
            <a:ext cx="54360" cy="2331360"/>
          </a:xfrm>
          <a:prstGeom prst="rect">
            <a:avLst/>
          </a:prstGeom>
          <a:solidFill>
            <a:srgbClr val="06b6d4"/>
          </a:solidFill>
          <a:ln w="12700">
            <a:solidFill>
              <a:srgbClr val="06b6d4"/>
            </a:solidFill>
            <a:round/>
          </a:ln>
        </p:spPr>
        <p:style>
          <a:lnRef idx="0"/>
          <a:fillRef idx="0"/>
          <a:effectRef idx="0"/>
          <a:fontRef idx="minor"/>
        </p:style>
      </p:sp>
      <p:sp>
        <p:nvSpPr>
          <p:cNvPr id="726" name="Text 10"/>
          <p:cNvSpPr/>
          <p:nvPr/>
        </p:nvSpPr>
        <p:spPr>
          <a:xfrm>
            <a:off x="2148840" y="1444680"/>
            <a:ext cx="13528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6b6d4"/>
                </a:solidFill>
                <a:latin typeface="Calibri"/>
                <a:ea typeface="Calibri"/>
              </a:rPr>
              <a:t>P2</a:t>
            </a:r>
            <a:endParaRPr b="0" lang="en-IN" sz="2200" spc="-1" strike="noStrike">
              <a:latin typeface="Arial"/>
            </a:endParaRPr>
          </a:p>
        </p:txBody>
      </p:sp>
      <p:sp>
        <p:nvSpPr>
          <p:cNvPr id="727" name="Text 11"/>
          <p:cNvSpPr/>
          <p:nvPr/>
        </p:nvSpPr>
        <p:spPr>
          <a:xfrm>
            <a:off x="2148840" y="1920240"/>
            <a:ext cx="135288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99" strike="noStrike">
                <a:solidFill>
                  <a:srgbClr val="f8fafc"/>
                </a:solidFill>
                <a:latin typeface="Calibri"/>
                <a:ea typeface="Calibri"/>
              </a:rPr>
              <a:t>TRACES</a:t>
            </a:r>
            <a:endParaRPr b="0" lang="en-IN" sz="1200" spc="-1" strike="noStrike">
              <a:latin typeface="Arial"/>
            </a:endParaRPr>
          </a:p>
        </p:txBody>
      </p:sp>
      <p:sp>
        <p:nvSpPr>
          <p:cNvPr id="728" name="Text 12"/>
          <p:cNvSpPr/>
          <p:nvPr/>
        </p:nvSpPr>
        <p:spPr>
          <a:xfrm>
            <a:off x="2148840" y="2212920"/>
            <a:ext cx="1352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97" strike="noStrike">
                <a:solidFill>
                  <a:srgbClr val="94a3b8"/>
                </a:solidFill>
                <a:latin typeface="Calibri"/>
                <a:ea typeface="Calibri"/>
              </a:rPr>
              <a:t>canonical</a:t>
            </a:r>
            <a:endParaRPr b="0" lang="en-IN" sz="850" spc="-1" strike="noStrike">
              <a:latin typeface="Arial"/>
            </a:endParaRPr>
          </a:p>
        </p:txBody>
      </p:sp>
      <p:sp>
        <p:nvSpPr>
          <p:cNvPr id="729" name="Text 13"/>
          <p:cNvSpPr/>
          <p:nvPr/>
        </p:nvSpPr>
        <p:spPr>
          <a:xfrm>
            <a:off x="2148840" y="2514600"/>
            <a:ext cx="135288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Jaeger · OTEL distributed traces</a:t>
            </a:r>
            <a:endParaRPr b="0" lang="en-IN" sz="950" spc="-1" strike="noStrike">
              <a:latin typeface="Arial"/>
            </a:endParaRPr>
          </a:p>
        </p:txBody>
      </p:sp>
      <p:sp>
        <p:nvSpPr>
          <p:cNvPr id="730" name="Shape 14"/>
          <p:cNvSpPr/>
          <p:nvPr/>
        </p:nvSpPr>
        <p:spPr>
          <a:xfrm>
            <a:off x="3758040" y="1280160"/>
            <a:ext cx="1627200" cy="2331360"/>
          </a:xfrm>
          <a:prstGeom prst="rect">
            <a:avLst/>
          </a:prstGeom>
          <a:solidFill>
            <a:srgbClr val="162236"/>
          </a:solidFill>
          <a:ln w="9525">
            <a:solidFill>
              <a:srgbClr val="334155"/>
            </a:solidFill>
            <a:round/>
          </a:ln>
        </p:spPr>
        <p:style>
          <a:lnRef idx="0"/>
          <a:fillRef idx="0"/>
          <a:effectRef idx="0"/>
          <a:fontRef idx="minor"/>
        </p:style>
      </p:sp>
      <p:sp>
        <p:nvSpPr>
          <p:cNvPr id="731" name="Shape 15"/>
          <p:cNvSpPr/>
          <p:nvPr/>
        </p:nvSpPr>
        <p:spPr>
          <a:xfrm>
            <a:off x="3758040" y="1280160"/>
            <a:ext cx="54360" cy="2331360"/>
          </a:xfrm>
          <a:prstGeom prst="rect">
            <a:avLst/>
          </a:prstGeom>
          <a:solidFill>
            <a:srgbClr val="06b6d4"/>
          </a:solidFill>
          <a:ln w="12700">
            <a:solidFill>
              <a:srgbClr val="06b6d4"/>
            </a:solidFill>
            <a:round/>
          </a:ln>
        </p:spPr>
        <p:style>
          <a:lnRef idx="0"/>
          <a:fillRef idx="0"/>
          <a:effectRef idx="0"/>
          <a:fontRef idx="minor"/>
        </p:style>
      </p:sp>
      <p:sp>
        <p:nvSpPr>
          <p:cNvPr id="732" name="Text 16"/>
          <p:cNvSpPr/>
          <p:nvPr/>
        </p:nvSpPr>
        <p:spPr>
          <a:xfrm>
            <a:off x="3895200" y="1444680"/>
            <a:ext cx="13528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06b6d4"/>
                </a:solidFill>
                <a:latin typeface="Calibri"/>
                <a:ea typeface="Calibri"/>
              </a:rPr>
              <a:t>P3</a:t>
            </a:r>
            <a:endParaRPr b="0" lang="en-IN" sz="2200" spc="-1" strike="noStrike">
              <a:latin typeface="Arial"/>
            </a:endParaRPr>
          </a:p>
        </p:txBody>
      </p:sp>
      <p:sp>
        <p:nvSpPr>
          <p:cNvPr id="733" name="Text 17"/>
          <p:cNvSpPr/>
          <p:nvPr/>
        </p:nvSpPr>
        <p:spPr>
          <a:xfrm>
            <a:off x="3895200" y="1920240"/>
            <a:ext cx="135288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99" strike="noStrike">
                <a:solidFill>
                  <a:srgbClr val="f8fafc"/>
                </a:solidFill>
                <a:latin typeface="Calibri"/>
                <a:ea typeface="Calibri"/>
              </a:rPr>
              <a:t>LOGS</a:t>
            </a:r>
            <a:endParaRPr b="0" lang="en-IN" sz="1200" spc="-1" strike="noStrike">
              <a:latin typeface="Arial"/>
            </a:endParaRPr>
          </a:p>
        </p:txBody>
      </p:sp>
      <p:sp>
        <p:nvSpPr>
          <p:cNvPr id="734" name="Text 18"/>
          <p:cNvSpPr/>
          <p:nvPr/>
        </p:nvSpPr>
        <p:spPr>
          <a:xfrm>
            <a:off x="3895200" y="2212920"/>
            <a:ext cx="1352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97" strike="noStrike">
                <a:solidFill>
                  <a:srgbClr val="94a3b8"/>
                </a:solidFill>
                <a:latin typeface="Calibri"/>
                <a:ea typeface="Calibri"/>
              </a:rPr>
              <a:t>canonical</a:t>
            </a:r>
            <a:endParaRPr b="0" lang="en-IN" sz="850" spc="-1" strike="noStrike">
              <a:latin typeface="Arial"/>
            </a:endParaRPr>
          </a:p>
        </p:txBody>
      </p:sp>
      <p:sp>
        <p:nvSpPr>
          <p:cNvPr id="735" name="Text 19"/>
          <p:cNvSpPr/>
          <p:nvPr/>
        </p:nvSpPr>
        <p:spPr>
          <a:xfrm>
            <a:off x="3895200" y="2514600"/>
            <a:ext cx="135288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Drain3 templates · LogEDL evidential vacuity</a:t>
            </a:r>
            <a:endParaRPr b="0" lang="en-IN" sz="950" spc="-1" strike="noStrike">
              <a:latin typeface="Arial"/>
            </a:endParaRPr>
          </a:p>
        </p:txBody>
      </p:sp>
      <p:sp>
        <p:nvSpPr>
          <p:cNvPr id="736" name="Shape 20"/>
          <p:cNvSpPr/>
          <p:nvPr/>
        </p:nvSpPr>
        <p:spPr>
          <a:xfrm>
            <a:off x="5504760" y="1280160"/>
            <a:ext cx="1627200" cy="2331360"/>
          </a:xfrm>
          <a:prstGeom prst="rect">
            <a:avLst/>
          </a:prstGeom>
          <a:solidFill>
            <a:srgbClr val="243549"/>
          </a:solidFill>
          <a:ln w="9525">
            <a:solidFill>
              <a:srgbClr val="334155"/>
            </a:solidFill>
            <a:round/>
          </a:ln>
        </p:spPr>
        <p:style>
          <a:lnRef idx="0"/>
          <a:fillRef idx="0"/>
          <a:effectRef idx="0"/>
          <a:fontRef idx="minor"/>
        </p:style>
      </p:sp>
      <p:sp>
        <p:nvSpPr>
          <p:cNvPr id="737" name="Shape 21"/>
          <p:cNvSpPr/>
          <p:nvPr/>
        </p:nvSpPr>
        <p:spPr>
          <a:xfrm>
            <a:off x="5504760" y="1280160"/>
            <a:ext cx="54360" cy="2331360"/>
          </a:xfrm>
          <a:prstGeom prst="rect">
            <a:avLst/>
          </a:prstGeom>
          <a:solidFill>
            <a:srgbClr val="f97316"/>
          </a:solidFill>
          <a:ln w="12700">
            <a:solidFill>
              <a:srgbClr val="f97316"/>
            </a:solidFill>
            <a:round/>
          </a:ln>
        </p:spPr>
        <p:style>
          <a:lnRef idx="0"/>
          <a:fillRef idx="0"/>
          <a:effectRef idx="0"/>
          <a:fontRef idx="minor"/>
        </p:style>
      </p:sp>
      <p:sp>
        <p:nvSpPr>
          <p:cNvPr id="738" name="Text 22"/>
          <p:cNvSpPr/>
          <p:nvPr/>
        </p:nvSpPr>
        <p:spPr>
          <a:xfrm>
            <a:off x="5641920" y="1444680"/>
            <a:ext cx="13528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f97316"/>
                </a:solidFill>
                <a:latin typeface="Calibri"/>
                <a:ea typeface="Calibri"/>
              </a:rPr>
              <a:t>P4</a:t>
            </a:r>
            <a:endParaRPr b="0" lang="en-IN" sz="2200" spc="-1" strike="noStrike">
              <a:latin typeface="Arial"/>
            </a:endParaRPr>
          </a:p>
        </p:txBody>
      </p:sp>
      <p:sp>
        <p:nvSpPr>
          <p:cNvPr id="739" name="Text 23"/>
          <p:cNvSpPr/>
          <p:nvPr/>
        </p:nvSpPr>
        <p:spPr>
          <a:xfrm>
            <a:off x="5641920" y="1920240"/>
            <a:ext cx="135288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99" strike="noStrike">
                <a:solidFill>
                  <a:srgbClr val="f8fafc"/>
                </a:solidFill>
                <a:latin typeface="Calibri"/>
                <a:ea typeface="Calibri"/>
              </a:rPr>
              <a:t>COGNITIVE</a:t>
            </a:r>
            <a:endParaRPr b="0" lang="en-IN" sz="1200" spc="-1" strike="noStrike">
              <a:latin typeface="Arial"/>
            </a:endParaRPr>
          </a:p>
        </p:txBody>
      </p:sp>
      <p:sp>
        <p:nvSpPr>
          <p:cNvPr id="740" name="Text 24"/>
          <p:cNvSpPr/>
          <p:nvPr/>
        </p:nvSpPr>
        <p:spPr>
          <a:xfrm>
            <a:off x="5641920" y="2212920"/>
            <a:ext cx="1352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97" strike="noStrike">
                <a:solidFill>
                  <a:srgbClr val="f97316"/>
                </a:solidFill>
                <a:latin typeface="Calibri"/>
                <a:ea typeface="Calibri"/>
              </a:rPr>
              <a:t>extension</a:t>
            </a:r>
            <a:endParaRPr b="0" lang="en-IN" sz="850" spc="-1" strike="noStrike">
              <a:latin typeface="Arial"/>
            </a:endParaRPr>
          </a:p>
        </p:txBody>
      </p:sp>
      <p:sp>
        <p:nvSpPr>
          <p:cNvPr id="741" name="Text 25"/>
          <p:cNvSpPr/>
          <p:nvPr/>
        </p:nvSpPr>
        <p:spPr>
          <a:xfrm>
            <a:off x="5641920" y="2514600"/>
            <a:ext cx="135288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Agent reasoning steps · tool-call schema · goal-drift · loop-depth</a:t>
            </a:r>
            <a:endParaRPr b="0" lang="en-IN" sz="950" spc="-1" strike="noStrike">
              <a:latin typeface="Arial"/>
            </a:endParaRPr>
          </a:p>
        </p:txBody>
      </p:sp>
      <p:sp>
        <p:nvSpPr>
          <p:cNvPr id="742" name="Shape 26"/>
          <p:cNvSpPr/>
          <p:nvPr/>
        </p:nvSpPr>
        <p:spPr>
          <a:xfrm>
            <a:off x="7251120" y="1280160"/>
            <a:ext cx="1627200" cy="2331360"/>
          </a:xfrm>
          <a:prstGeom prst="rect">
            <a:avLst/>
          </a:prstGeom>
          <a:solidFill>
            <a:srgbClr val="243549"/>
          </a:solidFill>
          <a:ln w="9525">
            <a:solidFill>
              <a:srgbClr val="334155"/>
            </a:solidFill>
            <a:round/>
          </a:ln>
        </p:spPr>
        <p:style>
          <a:lnRef idx="0"/>
          <a:fillRef idx="0"/>
          <a:effectRef idx="0"/>
          <a:fontRef idx="minor"/>
        </p:style>
      </p:sp>
      <p:sp>
        <p:nvSpPr>
          <p:cNvPr id="743" name="Shape 27"/>
          <p:cNvSpPr/>
          <p:nvPr/>
        </p:nvSpPr>
        <p:spPr>
          <a:xfrm>
            <a:off x="7251120" y="1280160"/>
            <a:ext cx="54360" cy="2331360"/>
          </a:xfrm>
          <a:prstGeom prst="rect">
            <a:avLst/>
          </a:prstGeom>
          <a:solidFill>
            <a:srgbClr val="f97316"/>
          </a:solidFill>
          <a:ln w="12700">
            <a:solidFill>
              <a:srgbClr val="f97316"/>
            </a:solidFill>
            <a:round/>
          </a:ln>
        </p:spPr>
        <p:style>
          <a:lnRef idx="0"/>
          <a:fillRef idx="0"/>
          <a:effectRef idx="0"/>
          <a:fontRef idx="minor"/>
        </p:style>
      </p:sp>
      <p:sp>
        <p:nvSpPr>
          <p:cNvPr id="744" name="Text 28"/>
          <p:cNvSpPr/>
          <p:nvPr/>
        </p:nvSpPr>
        <p:spPr>
          <a:xfrm>
            <a:off x="7388280" y="1444680"/>
            <a:ext cx="1352880" cy="4568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f97316"/>
                </a:solidFill>
                <a:latin typeface="Calibri"/>
                <a:ea typeface="Calibri"/>
              </a:rPr>
              <a:t>P5</a:t>
            </a:r>
            <a:endParaRPr b="0" lang="en-IN" sz="2200" spc="-1" strike="noStrike">
              <a:latin typeface="Arial"/>
            </a:endParaRPr>
          </a:p>
        </p:txBody>
      </p:sp>
      <p:sp>
        <p:nvSpPr>
          <p:cNvPr id="745" name="Text 29"/>
          <p:cNvSpPr/>
          <p:nvPr/>
        </p:nvSpPr>
        <p:spPr>
          <a:xfrm>
            <a:off x="7388280" y="1920240"/>
            <a:ext cx="135288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200" spc="199" strike="noStrike">
                <a:solidFill>
                  <a:srgbClr val="f8fafc"/>
                </a:solidFill>
                <a:latin typeface="Calibri"/>
                <a:ea typeface="Calibri"/>
              </a:rPr>
              <a:t>BUSINESS</a:t>
            </a:r>
            <a:endParaRPr b="0" lang="en-IN" sz="1200" spc="-1" strike="noStrike">
              <a:latin typeface="Arial"/>
            </a:endParaRPr>
          </a:p>
        </p:txBody>
      </p:sp>
      <p:sp>
        <p:nvSpPr>
          <p:cNvPr id="746" name="Text 30"/>
          <p:cNvSpPr/>
          <p:nvPr/>
        </p:nvSpPr>
        <p:spPr>
          <a:xfrm>
            <a:off x="7388280" y="2212920"/>
            <a:ext cx="135288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850" spc="97" strike="noStrike">
                <a:solidFill>
                  <a:srgbClr val="f97316"/>
                </a:solidFill>
                <a:latin typeface="Calibri"/>
                <a:ea typeface="Calibri"/>
              </a:rPr>
              <a:t>extension</a:t>
            </a:r>
            <a:endParaRPr b="0" lang="en-IN" sz="850" spc="-1" strike="noStrike">
              <a:latin typeface="Arial"/>
            </a:endParaRPr>
          </a:p>
        </p:txBody>
      </p:sp>
      <p:sp>
        <p:nvSpPr>
          <p:cNvPr id="747" name="Text 31"/>
          <p:cNvSpPr/>
          <p:nvPr/>
        </p:nvSpPr>
        <p:spPr>
          <a:xfrm>
            <a:off x="7388280" y="2514600"/>
            <a:ext cx="1352880" cy="1005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950" spc="-1" strike="noStrike">
                <a:solidFill>
                  <a:srgbClr val="94a3b8"/>
                </a:solidFill>
                <a:latin typeface="Calibri"/>
                <a:ea typeface="Calibri"/>
              </a:rPr>
              <a:t>Transaction revenue · SLO penalties · service-class tier</a:t>
            </a:r>
            <a:endParaRPr b="0" lang="en-IN" sz="950" spc="-1" strike="noStrike">
              <a:latin typeface="Arial"/>
            </a:endParaRPr>
          </a:p>
        </p:txBody>
      </p:sp>
      <p:sp>
        <p:nvSpPr>
          <p:cNvPr id="748" name="Text 32"/>
          <p:cNvSpPr/>
          <p:nvPr/>
        </p:nvSpPr>
        <p:spPr>
          <a:xfrm>
            <a:off x="457200" y="3749040"/>
            <a:ext cx="8595000" cy="3654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i="1" lang="en-US" sz="1200" spc="-1" strike="noStrike">
                <a:solidFill>
                  <a:srgbClr val="06b6d4"/>
                </a:solidFill>
                <a:latin typeface="Calibri"/>
                <a:ea typeface="Calibri"/>
              </a:rPr>
              <a:t>→  </a:t>
            </a:r>
            <a:r>
              <a:rPr b="1" i="1" lang="en-US" sz="1200" spc="-1" strike="noStrike">
                <a:solidFill>
                  <a:srgbClr val="06b6d4"/>
                </a:solidFill>
                <a:latin typeface="Calibri"/>
                <a:ea typeface="Calibri"/>
              </a:rPr>
              <a:t>unified UEG-C  ·  formal composition rules across all five signal classes</a:t>
            </a:r>
            <a:endParaRPr b="0" lang="en-IN" sz="1200" spc="-1" strike="noStrike">
              <a:latin typeface="Arial"/>
            </a:endParaRPr>
          </a:p>
        </p:txBody>
      </p:sp>
      <p:sp>
        <p:nvSpPr>
          <p:cNvPr id="749" name="Shape 33"/>
          <p:cNvSpPr/>
          <p:nvPr/>
        </p:nvSpPr>
        <p:spPr>
          <a:xfrm>
            <a:off x="457200" y="4251960"/>
            <a:ext cx="8595000" cy="411120"/>
          </a:xfrm>
          <a:prstGeom prst="rect">
            <a:avLst/>
          </a:prstGeom>
          <a:solidFill>
            <a:srgbClr val="243549"/>
          </a:solidFill>
          <a:ln w="9525">
            <a:solidFill>
              <a:srgbClr val="334155"/>
            </a:solidFill>
            <a:round/>
          </a:ln>
        </p:spPr>
        <p:style>
          <a:lnRef idx="0"/>
          <a:fillRef idx="0"/>
          <a:effectRef idx="0"/>
          <a:fontRef idx="minor"/>
        </p:style>
      </p:sp>
      <p:sp>
        <p:nvSpPr>
          <p:cNvPr id="750" name="Shape 34"/>
          <p:cNvSpPr/>
          <p:nvPr/>
        </p:nvSpPr>
        <p:spPr>
          <a:xfrm>
            <a:off x="457200" y="4251960"/>
            <a:ext cx="54360" cy="411120"/>
          </a:xfrm>
          <a:prstGeom prst="rect">
            <a:avLst/>
          </a:prstGeom>
          <a:solidFill>
            <a:srgbClr val="f97316"/>
          </a:solidFill>
          <a:ln w="12700">
            <a:solidFill>
              <a:srgbClr val="f97316"/>
            </a:solidFill>
            <a:round/>
          </a:ln>
        </p:spPr>
        <p:style>
          <a:lnRef idx="0"/>
          <a:fillRef idx="0"/>
          <a:effectRef idx="0"/>
          <a:fontRef idx="minor"/>
        </p:style>
      </p:sp>
      <p:sp>
        <p:nvSpPr>
          <p:cNvPr id="751" name="Text 35"/>
          <p:cNvSpPr/>
          <p:nvPr/>
        </p:nvSpPr>
        <p:spPr>
          <a:xfrm>
            <a:off x="640080" y="4251960"/>
            <a:ext cx="836640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050" spc="-1" strike="noStrike">
                <a:solidFill>
                  <a:srgbClr val="f8fafc"/>
                </a:solidFill>
                <a:latin typeface="Calibri"/>
                <a:ea typeface="Calibri"/>
              </a:rPr>
              <a:t>Five-pillar extension is conceptual-architectural — not an ontological claim that P4 / P5 must be separate pillars.</a:t>
            </a:r>
            <a:endParaRPr b="0" lang="en-IN" sz="1050" spc="-1" strike="noStrike">
              <a:latin typeface="Arial"/>
            </a:endParaRPr>
          </a:p>
        </p:txBody>
      </p:sp>
      <p:sp>
        <p:nvSpPr>
          <p:cNvPr id="752" name="Text 36"/>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HELIOS Artefact</a:t>
            </a:r>
            <a:endParaRPr b="0" lang="en-IN" sz="850" spc="-1" strike="noStrike">
              <a:latin typeface="Arial"/>
            </a:endParaRPr>
          </a:p>
        </p:txBody>
      </p:sp>
      <p:sp>
        <p:nvSpPr>
          <p:cNvPr id="753" name="Text 37"/>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18 / 22</a:t>
            </a:r>
            <a:endParaRPr b="0" lang="en-IN" sz="900" spc="-1" strike="noStrike">
              <a:latin typeface="Arial"/>
            </a:endParaRPr>
          </a:p>
        </p:txBody>
      </p:sp>
      <p:sp>
        <p:nvSpPr>
          <p:cNvPr id="754" name="Shape 38"/>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755"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EVALUATION STRATEGY</a:t>
            </a:r>
            <a:endParaRPr b="0" lang="en-IN" sz="1000" spc="-1" strike="noStrike">
              <a:latin typeface="Arial"/>
            </a:endParaRPr>
          </a:p>
        </p:txBody>
      </p:sp>
      <p:sp>
        <p:nvSpPr>
          <p:cNvPr id="756"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Pre-registered, ablation-first, controlled comparative experiment</a:t>
            </a:r>
            <a:endParaRPr b="0" lang="en-IN" sz="2200" spc="-1" strike="noStrike">
              <a:latin typeface="Arial"/>
            </a:endParaRPr>
          </a:p>
        </p:txBody>
      </p:sp>
      <p:sp>
        <p:nvSpPr>
          <p:cNvPr id="757" name="Shape 2"/>
          <p:cNvSpPr/>
          <p:nvPr/>
        </p:nvSpPr>
        <p:spPr>
          <a:xfrm>
            <a:off x="457200" y="1280160"/>
            <a:ext cx="4205880" cy="1645560"/>
          </a:xfrm>
          <a:prstGeom prst="rect">
            <a:avLst/>
          </a:prstGeom>
          <a:solidFill>
            <a:srgbClr val="162236"/>
          </a:solidFill>
          <a:ln w="9525">
            <a:solidFill>
              <a:srgbClr val="334155"/>
            </a:solidFill>
            <a:round/>
          </a:ln>
        </p:spPr>
        <p:style>
          <a:lnRef idx="0"/>
          <a:fillRef idx="0"/>
          <a:effectRef idx="0"/>
          <a:fontRef idx="minor"/>
        </p:style>
      </p:sp>
      <p:sp>
        <p:nvSpPr>
          <p:cNvPr id="758" name="Shape 3"/>
          <p:cNvSpPr/>
          <p:nvPr/>
        </p:nvSpPr>
        <p:spPr>
          <a:xfrm>
            <a:off x="457200" y="1280160"/>
            <a:ext cx="54360" cy="1645560"/>
          </a:xfrm>
          <a:prstGeom prst="rect">
            <a:avLst/>
          </a:prstGeom>
          <a:solidFill>
            <a:srgbClr val="06b6d4"/>
          </a:solidFill>
          <a:ln w="12700">
            <a:solidFill>
              <a:srgbClr val="06b6d4"/>
            </a:solidFill>
            <a:round/>
          </a:ln>
        </p:spPr>
        <p:style>
          <a:lnRef idx="0"/>
          <a:fillRef idx="0"/>
          <a:effectRef idx="0"/>
          <a:fontRef idx="minor"/>
        </p:style>
      </p:sp>
      <p:sp>
        <p:nvSpPr>
          <p:cNvPr id="759" name="Text 4"/>
          <p:cNvSpPr/>
          <p:nvPr/>
        </p:nvSpPr>
        <p:spPr>
          <a:xfrm>
            <a:off x="685800" y="146304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06b6d4"/>
                </a:solidFill>
                <a:latin typeface="Calibri"/>
                <a:ea typeface="Calibri"/>
              </a:rPr>
              <a:t>CORPUS</a:t>
            </a:r>
            <a:endParaRPr b="0" lang="en-IN" sz="1050" spc="-1" strike="noStrike">
              <a:latin typeface="Arial"/>
            </a:endParaRPr>
          </a:p>
        </p:txBody>
      </p:sp>
      <p:sp>
        <p:nvSpPr>
          <p:cNvPr id="760" name="Text 5"/>
          <p:cNvSpPr/>
          <p:nvPr/>
        </p:nvSpPr>
        <p:spPr>
          <a:xfrm>
            <a:off x="731520" y="1783080"/>
            <a:ext cx="3794400" cy="100548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5 benchmarks · 174-fault confirmatory corpus</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AIOpsLab concentration ~76% — scope condition</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4-tier structure · 16,000 ablation runs</a:t>
            </a:r>
            <a:endParaRPr b="0" lang="en-IN" sz="1100" spc="-1" strike="noStrike">
              <a:latin typeface="Arial"/>
            </a:endParaRPr>
          </a:p>
        </p:txBody>
      </p:sp>
      <p:sp>
        <p:nvSpPr>
          <p:cNvPr id="761" name="Shape 6"/>
          <p:cNvSpPr/>
          <p:nvPr/>
        </p:nvSpPr>
        <p:spPr>
          <a:xfrm>
            <a:off x="4782240" y="1280160"/>
            <a:ext cx="4205880" cy="1645560"/>
          </a:xfrm>
          <a:prstGeom prst="rect">
            <a:avLst/>
          </a:prstGeom>
          <a:solidFill>
            <a:srgbClr val="162236"/>
          </a:solidFill>
          <a:ln w="9525">
            <a:solidFill>
              <a:srgbClr val="334155"/>
            </a:solidFill>
            <a:round/>
          </a:ln>
        </p:spPr>
        <p:style>
          <a:lnRef idx="0"/>
          <a:fillRef idx="0"/>
          <a:effectRef idx="0"/>
          <a:fontRef idx="minor"/>
        </p:style>
      </p:sp>
      <p:sp>
        <p:nvSpPr>
          <p:cNvPr id="762" name="Shape 7"/>
          <p:cNvSpPr/>
          <p:nvPr/>
        </p:nvSpPr>
        <p:spPr>
          <a:xfrm>
            <a:off x="4782240" y="1280160"/>
            <a:ext cx="54360" cy="1645560"/>
          </a:xfrm>
          <a:prstGeom prst="rect">
            <a:avLst/>
          </a:prstGeom>
          <a:solidFill>
            <a:srgbClr val="10b981"/>
          </a:solidFill>
          <a:ln w="12700">
            <a:solidFill>
              <a:srgbClr val="10b981"/>
            </a:solidFill>
            <a:round/>
          </a:ln>
        </p:spPr>
        <p:style>
          <a:lnRef idx="0"/>
          <a:fillRef idx="0"/>
          <a:effectRef idx="0"/>
          <a:fontRef idx="minor"/>
        </p:style>
      </p:sp>
      <p:sp>
        <p:nvSpPr>
          <p:cNvPr id="763" name="Text 8"/>
          <p:cNvSpPr/>
          <p:nvPr/>
        </p:nvSpPr>
        <p:spPr>
          <a:xfrm>
            <a:off x="5010840" y="146304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10b981"/>
                </a:solidFill>
                <a:latin typeface="Calibri"/>
                <a:ea typeface="Calibri"/>
              </a:rPr>
              <a:t>PRIMARY METRICS</a:t>
            </a:r>
            <a:endParaRPr b="0" lang="en-IN" sz="1050" spc="-1" strike="noStrike">
              <a:latin typeface="Arial"/>
            </a:endParaRPr>
          </a:p>
        </p:txBody>
      </p:sp>
      <p:sp>
        <p:nvSpPr>
          <p:cNvPr id="764" name="Text 9"/>
          <p:cNvSpPr/>
          <p:nvPr/>
        </p:nvSpPr>
        <p:spPr>
          <a:xfrm>
            <a:off x="5056560" y="1783080"/>
            <a:ext cx="3794400" cy="100548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HR@3 (binding accuracy)</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log-MTTR · Cost-per-Resolution (5-component)</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Time-to-Triage · Hallucination (H_struct, H_fact)</a:t>
            </a:r>
            <a:endParaRPr b="0" lang="en-IN" sz="1100" spc="-1" strike="noStrike">
              <a:latin typeface="Arial"/>
            </a:endParaRPr>
          </a:p>
        </p:txBody>
      </p:sp>
      <p:sp>
        <p:nvSpPr>
          <p:cNvPr id="765" name="Shape 10"/>
          <p:cNvSpPr/>
          <p:nvPr/>
        </p:nvSpPr>
        <p:spPr>
          <a:xfrm>
            <a:off x="457200" y="3044880"/>
            <a:ext cx="4205880" cy="1645560"/>
          </a:xfrm>
          <a:prstGeom prst="rect">
            <a:avLst/>
          </a:prstGeom>
          <a:solidFill>
            <a:srgbClr val="162236"/>
          </a:solidFill>
          <a:ln w="9525">
            <a:solidFill>
              <a:srgbClr val="334155"/>
            </a:solidFill>
            <a:round/>
          </a:ln>
        </p:spPr>
        <p:style>
          <a:lnRef idx="0"/>
          <a:fillRef idx="0"/>
          <a:effectRef idx="0"/>
          <a:fontRef idx="minor"/>
        </p:style>
      </p:sp>
      <p:sp>
        <p:nvSpPr>
          <p:cNvPr id="766" name="Shape 11"/>
          <p:cNvSpPr/>
          <p:nvPr/>
        </p:nvSpPr>
        <p:spPr>
          <a:xfrm>
            <a:off x="457200" y="3044880"/>
            <a:ext cx="54360" cy="1645560"/>
          </a:xfrm>
          <a:prstGeom prst="rect">
            <a:avLst/>
          </a:prstGeom>
          <a:solidFill>
            <a:srgbClr val="a78bfa"/>
          </a:solidFill>
          <a:ln w="12700">
            <a:solidFill>
              <a:srgbClr val="a78bfa"/>
            </a:solidFill>
            <a:round/>
          </a:ln>
        </p:spPr>
        <p:style>
          <a:lnRef idx="0"/>
          <a:fillRef idx="0"/>
          <a:effectRef idx="0"/>
          <a:fontRef idx="minor"/>
        </p:style>
      </p:sp>
      <p:sp>
        <p:nvSpPr>
          <p:cNvPr id="767" name="Text 12"/>
          <p:cNvSpPr/>
          <p:nvPr/>
        </p:nvSpPr>
        <p:spPr>
          <a:xfrm>
            <a:off x="685800" y="322776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a78bfa"/>
                </a:solidFill>
                <a:latin typeface="Calibri"/>
                <a:ea typeface="Calibri"/>
              </a:rPr>
              <a:t>STATISTICAL COMMITMENTS</a:t>
            </a:r>
            <a:endParaRPr b="0" lang="en-IN" sz="1050" spc="-1" strike="noStrike">
              <a:latin typeface="Arial"/>
            </a:endParaRPr>
          </a:p>
        </p:txBody>
      </p:sp>
      <p:sp>
        <p:nvSpPr>
          <p:cNvPr id="768" name="Text 13"/>
          <p:cNvSpPr/>
          <p:nvPr/>
        </p:nvSpPr>
        <p:spPr>
          <a:xfrm>
            <a:off x="731520" y="3547800"/>
            <a:ext cx="3794400" cy="100548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Paired Wilcoxon binding · McNemar paired-binary</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Holm–Bonferroni separately within A &amp; B families</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Min-detectable: Cohen's h ≥ 0.276 → 13 pp HR@3</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BCa bootstrap CI · Pre-registration with deviation log</a:t>
            </a:r>
            <a:endParaRPr b="0" lang="en-IN" sz="1100" spc="-1" strike="noStrike">
              <a:latin typeface="Arial"/>
            </a:endParaRPr>
          </a:p>
        </p:txBody>
      </p:sp>
      <p:sp>
        <p:nvSpPr>
          <p:cNvPr id="769" name="Shape 14"/>
          <p:cNvSpPr/>
          <p:nvPr/>
        </p:nvSpPr>
        <p:spPr>
          <a:xfrm>
            <a:off x="4782240" y="3044880"/>
            <a:ext cx="4205880" cy="1645560"/>
          </a:xfrm>
          <a:prstGeom prst="rect">
            <a:avLst/>
          </a:prstGeom>
          <a:solidFill>
            <a:srgbClr val="162236"/>
          </a:solidFill>
          <a:ln w="9525">
            <a:solidFill>
              <a:srgbClr val="334155"/>
            </a:solidFill>
            <a:round/>
          </a:ln>
        </p:spPr>
        <p:style>
          <a:lnRef idx="0"/>
          <a:fillRef idx="0"/>
          <a:effectRef idx="0"/>
          <a:fontRef idx="minor"/>
        </p:style>
      </p:sp>
      <p:sp>
        <p:nvSpPr>
          <p:cNvPr id="770" name="Shape 15"/>
          <p:cNvSpPr/>
          <p:nvPr/>
        </p:nvSpPr>
        <p:spPr>
          <a:xfrm>
            <a:off x="4782240" y="3044880"/>
            <a:ext cx="54360" cy="1645560"/>
          </a:xfrm>
          <a:prstGeom prst="rect">
            <a:avLst/>
          </a:prstGeom>
          <a:solidFill>
            <a:srgbClr val="f97316"/>
          </a:solidFill>
          <a:ln w="12700">
            <a:solidFill>
              <a:srgbClr val="f97316"/>
            </a:solidFill>
            <a:round/>
          </a:ln>
        </p:spPr>
        <p:style>
          <a:lnRef idx="0"/>
          <a:fillRef idx="0"/>
          <a:effectRef idx="0"/>
          <a:fontRef idx="minor"/>
        </p:style>
      </p:sp>
      <p:sp>
        <p:nvSpPr>
          <p:cNvPr id="771" name="Text 16"/>
          <p:cNvSpPr/>
          <p:nvPr/>
        </p:nvSpPr>
        <p:spPr>
          <a:xfrm>
            <a:off x="5010840" y="322776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f97316"/>
                </a:solidFill>
                <a:latin typeface="Calibri"/>
                <a:ea typeface="Calibri"/>
              </a:rPr>
              <a:t>BASELINES</a:t>
            </a:r>
            <a:endParaRPr b="0" lang="en-IN" sz="1050" spc="-1" strike="noStrike">
              <a:latin typeface="Arial"/>
            </a:endParaRPr>
          </a:p>
        </p:txBody>
      </p:sp>
      <p:sp>
        <p:nvSpPr>
          <p:cNvPr id="772" name="Text 17"/>
          <p:cNvSpPr/>
          <p:nvPr/>
        </p:nvSpPr>
        <p:spPr>
          <a:xfrm>
            <a:off x="5056560" y="3547800"/>
            <a:ext cx="3794400" cy="100548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5 priority-ranked AIOps systems</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B-H1…B-H5: paired binary HR@3 (McNemar exact)</a:t>
            </a:r>
            <a:endParaRPr b="0" lang="en-IN" sz="1100" spc="-1" strike="noStrike">
              <a:latin typeface="Arial"/>
            </a:endParaRPr>
          </a:p>
          <a:p>
            <a:pPr marL="343080" indent="-343080">
              <a:lnSpc>
                <a:spcPct val="100000"/>
              </a:lnSpc>
              <a:spcAft>
                <a:spcPts val="201"/>
              </a:spcAft>
              <a:buClr>
                <a:srgbClr val="f8fafc"/>
              </a:buClr>
              <a:buFont typeface="Symbol" charset="2"/>
              <a:buChar char=""/>
            </a:pPr>
            <a:r>
              <a:rPr b="0" lang="en-US" sz="1100" spc="-1" strike="noStrike">
                <a:solidFill>
                  <a:srgbClr val="f8fafc"/>
                </a:solidFill>
                <a:latin typeface="Calibri"/>
                <a:ea typeface="Calibri"/>
              </a:rPr>
              <a:t>B-H6 log-MTTR · B-H7 log-Cost · B-H8 Avg@5</a:t>
            </a:r>
            <a:endParaRPr b="0" lang="en-IN" sz="1100" spc="-1" strike="noStrike">
              <a:latin typeface="Arial"/>
            </a:endParaRPr>
          </a:p>
        </p:txBody>
      </p:sp>
      <p:sp>
        <p:nvSpPr>
          <p:cNvPr id="773" name="Shape 18"/>
          <p:cNvSpPr/>
          <p:nvPr/>
        </p:nvSpPr>
        <p:spPr>
          <a:xfrm>
            <a:off x="457200" y="4434840"/>
            <a:ext cx="8595000" cy="365400"/>
          </a:xfrm>
          <a:prstGeom prst="rect">
            <a:avLst/>
          </a:prstGeom>
          <a:solidFill>
            <a:srgbClr val="243549"/>
          </a:solidFill>
          <a:ln w="9525">
            <a:solidFill>
              <a:srgbClr val="334155"/>
            </a:solidFill>
            <a:round/>
          </a:ln>
        </p:spPr>
        <p:style>
          <a:lnRef idx="0"/>
          <a:fillRef idx="0"/>
          <a:effectRef idx="0"/>
          <a:fontRef idx="minor"/>
        </p:style>
      </p:sp>
      <p:sp>
        <p:nvSpPr>
          <p:cNvPr id="774" name="Shape 19"/>
          <p:cNvSpPr/>
          <p:nvPr/>
        </p:nvSpPr>
        <p:spPr>
          <a:xfrm>
            <a:off x="457200" y="4434840"/>
            <a:ext cx="54360" cy="365400"/>
          </a:xfrm>
          <a:prstGeom prst="rect">
            <a:avLst/>
          </a:prstGeom>
          <a:solidFill>
            <a:srgbClr val="f97316"/>
          </a:solidFill>
          <a:ln w="12700">
            <a:solidFill>
              <a:srgbClr val="f97316"/>
            </a:solidFill>
            <a:round/>
          </a:ln>
        </p:spPr>
        <p:style>
          <a:lnRef idx="0"/>
          <a:fillRef idx="0"/>
          <a:effectRef idx="0"/>
          <a:fontRef idx="minor"/>
        </p:style>
      </p:sp>
      <p:sp>
        <p:nvSpPr>
          <p:cNvPr id="775" name="Text 20"/>
          <p:cNvSpPr/>
          <p:nvPr/>
        </p:nvSpPr>
        <p:spPr>
          <a:xfrm>
            <a:off x="640080" y="4434840"/>
            <a:ext cx="836640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100" spc="-1" strike="noStrike">
                <a:solidFill>
                  <a:srgbClr val="f8fafc"/>
                </a:solidFill>
                <a:latin typeface="Calibri"/>
                <a:ea typeface="Calibri"/>
              </a:rPr>
              <a:t>Static-policy commitment: LinUCB &amp; ACP frozen for confirmatory protocol — preserves within-pair independence.</a:t>
            </a:r>
            <a:endParaRPr b="0" lang="en-IN" sz="1100" spc="-1" strike="noStrike">
              <a:latin typeface="Arial"/>
            </a:endParaRPr>
          </a:p>
        </p:txBody>
      </p:sp>
      <p:sp>
        <p:nvSpPr>
          <p:cNvPr id="776" name="Text 21"/>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Evaluation</a:t>
            </a:r>
            <a:endParaRPr b="0" lang="en-IN" sz="850" spc="-1" strike="noStrike">
              <a:latin typeface="Arial"/>
            </a:endParaRPr>
          </a:p>
        </p:txBody>
      </p:sp>
      <p:sp>
        <p:nvSpPr>
          <p:cNvPr id="777" name="Text 22"/>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19 / 22</a:t>
            </a:r>
            <a:endParaRPr b="0" lang="en-IN" sz="900" spc="-1" strike="noStrike">
              <a:latin typeface="Arial"/>
            </a:endParaRPr>
          </a:p>
        </p:txBody>
      </p:sp>
      <p:sp>
        <p:nvSpPr>
          <p:cNvPr id="778" name="Shape 23"/>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779"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VALIDITY THREATS ACKNOWLEDGED</a:t>
            </a:r>
            <a:endParaRPr b="0" lang="en-IN" sz="1000" spc="-1" strike="noStrike">
              <a:latin typeface="Arial"/>
            </a:endParaRPr>
          </a:p>
        </p:txBody>
      </p:sp>
      <p:sp>
        <p:nvSpPr>
          <p:cNvPr id="780"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Each threat is a scope condition I have surfaced — not a flaw I have hidden</a:t>
            </a:r>
            <a:endParaRPr b="0" lang="en-IN" sz="2200" spc="-1" strike="noStrike">
              <a:latin typeface="Arial"/>
            </a:endParaRPr>
          </a:p>
        </p:txBody>
      </p:sp>
      <p:sp>
        <p:nvSpPr>
          <p:cNvPr id="781" name="Shape 2"/>
          <p:cNvSpPr/>
          <p:nvPr/>
        </p:nvSpPr>
        <p:spPr>
          <a:xfrm>
            <a:off x="457200" y="1280160"/>
            <a:ext cx="4205880" cy="1645560"/>
          </a:xfrm>
          <a:prstGeom prst="rect">
            <a:avLst/>
          </a:prstGeom>
          <a:solidFill>
            <a:srgbClr val="162236"/>
          </a:solidFill>
          <a:ln w="9525">
            <a:solidFill>
              <a:srgbClr val="334155"/>
            </a:solidFill>
            <a:round/>
          </a:ln>
        </p:spPr>
        <p:style>
          <a:lnRef idx="0"/>
          <a:fillRef idx="0"/>
          <a:effectRef idx="0"/>
          <a:fontRef idx="minor"/>
        </p:style>
      </p:sp>
      <p:sp>
        <p:nvSpPr>
          <p:cNvPr id="782" name="Shape 3"/>
          <p:cNvSpPr/>
          <p:nvPr/>
        </p:nvSpPr>
        <p:spPr>
          <a:xfrm>
            <a:off x="457200" y="1280160"/>
            <a:ext cx="54360" cy="1645560"/>
          </a:xfrm>
          <a:prstGeom prst="rect">
            <a:avLst/>
          </a:prstGeom>
          <a:solidFill>
            <a:srgbClr val="ef4444"/>
          </a:solidFill>
          <a:ln w="12700">
            <a:solidFill>
              <a:srgbClr val="ef4444"/>
            </a:solidFill>
            <a:round/>
          </a:ln>
        </p:spPr>
        <p:style>
          <a:lnRef idx="0"/>
          <a:fillRef idx="0"/>
          <a:effectRef idx="0"/>
          <a:fontRef idx="minor"/>
        </p:style>
      </p:sp>
      <p:sp>
        <p:nvSpPr>
          <p:cNvPr id="783" name="Text 4"/>
          <p:cNvSpPr/>
          <p:nvPr/>
        </p:nvSpPr>
        <p:spPr>
          <a:xfrm>
            <a:off x="685800" y="144468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ef4444"/>
                </a:solidFill>
                <a:latin typeface="Calibri"/>
                <a:ea typeface="Calibri"/>
              </a:rPr>
              <a:t>INTERNAL VALIDITY</a:t>
            </a:r>
            <a:endParaRPr b="0" lang="en-IN" sz="1050" spc="-1" strike="noStrike">
              <a:latin typeface="Arial"/>
            </a:endParaRPr>
          </a:p>
        </p:txBody>
      </p:sp>
      <p:sp>
        <p:nvSpPr>
          <p:cNvPr id="784" name="Text 5"/>
          <p:cNvSpPr/>
          <p:nvPr/>
        </p:nvSpPr>
        <p:spPr>
          <a:xfrm>
            <a:off x="731520" y="1737360"/>
            <a:ext cx="3794400" cy="105120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Input drift → Snapshot Hash Registry (C1)</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Cross-incident learning → STATIC-POLICY freeze</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Hallucination → 3-layer (P4 → Sentinel → MAHC)</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Threat 8 (pre-warming) — bounded, not dissolved</a:t>
            </a:r>
            <a:endParaRPr b="0" lang="en-IN" sz="1050" spc="-1" strike="noStrike">
              <a:latin typeface="Arial"/>
            </a:endParaRPr>
          </a:p>
        </p:txBody>
      </p:sp>
      <p:sp>
        <p:nvSpPr>
          <p:cNvPr id="785" name="Shape 6"/>
          <p:cNvSpPr/>
          <p:nvPr/>
        </p:nvSpPr>
        <p:spPr>
          <a:xfrm>
            <a:off x="4782240" y="1280160"/>
            <a:ext cx="4205880" cy="1645560"/>
          </a:xfrm>
          <a:prstGeom prst="rect">
            <a:avLst/>
          </a:prstGeom>
          <a:solidFill>
            <a:srgbClr val="162236"/>
          </a:solidFill>
          <a:ln w="9525">
            <a:solidFill>
              <a:srgbClr val="334155"/>
            </a:solidFill>
            <a:round/>
          </a:ln>
        </p:spPr>
        <p:style>
          <a:lnRef idx="0"/>
          <a:fillRef idx="0"/>
          <a:effectRef idx="0"/>
          <a:fontRef idx="minor"/>
        </p:style>
      </p:sp>
      <p:sp>
        <p:nvSpPr>
          <p:cNvPr id="786" name="Shape 7"/>
          <p:cNvSpPr/>
          <p:nvPr/>
        </p:nvSpPr>
        <p:spPr>
          <a:xfrm>
            <a:off x="4782240" y="1280160"/>
            <a:ext cx="54360" cy="1645560"/>
          </a:xfrm>
          <a:prstGeom prst="rect">
            <a:avLst/>
          </a:prstGeom>
          <a:solidFill>
            <a:srgbClr val="fbbf24"/>
          </a:solidFill>
          <a:ln w="12700">
            <a:solidFill>
              <a:srgbClr val="fbbf24"/>
            </a:solidFill>
            <a:round/>
          </a:ln>
        </p:spPr>
        <p:style>
          <a:lnRef idx="0"/>
          <a:fillRef idx="0"/>
          <a:effectRef idx="0"/>
          <a:fontRef idx="minor"/>
        </p:style>
      </p:sp>
      <p:sp>
        <p:nvSpPr>
          <p:cNvPr id="787" name="Text 8"/>
          <p:cNvSpPr/>
          <p:nvPr/>
        </p:nvSpPr>
        <p:spPr>
          <a:xfrm>
            <a:off x="5010840" y="144468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fbbf24"/>
                </a:solidFill>
                <a:latin typeface="Calibri"/>
                <a:ea typeface="Calibri"/>
              </a:rPr>
              <a:t>CONSTRUCT VALIDITY</a:t>
            </a:r>
            <a:endParaRPr b="0" lang="en-IN" sz="1050" spc="-1" strike="noStrike">
              <a:latin typeface="Arial"/>
            </a:endParaRPr>
          </a:p>
        </p:txBody>
      </p:sp>
      <p:sp>
        <p:nvSpPr>
          <p:cNvPr id="788" name="Text 9"/>
          <p:cNvSpPr/>
          <p:nvPr/>
        </p:nvSpPr>
        <p:spPr>
          <a:xfrm>
            <a:off x="5056560" y="1737360"/>
            <a:ext cx="3794400" cy="105120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FAE-Score judges → 3-judge ensemble + 10% human anchor</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SRE Likert trust bias → triangulated with HITL counter</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Tier 4 NIKA → motivates E-H1 exploratory demotion</a:t>
            </a:r>
            <a:endParaRPr b="0" lang="en-IN" sz="1050" spc="-1" strike="noStrike">
              <a:latin typeface="Arial"/>
            </a:endParaRPr>
          </a:p>
        </p:txBody>
      </p:sp>
      <p:sp>
        <p:nvSpPr>
          <p:cNvPr id="789" name="Shape 10"/>
          <p:cNvSpPr/>
          <p:nvPr/>
        </p:nvSpPr>
        <p:spPr>
          <a:xfrm>
            <a:off x="457200" y="3044880"/>
            <a:ext cx="4205880" cy="1645560"/>
          </a:xfrm>
          <a:prstGeom prst="rect">
            <a:avLst/>
          </a:prstGeom>
          <a:solidFill>
            <a:srgbClr val="162236"/>
          </a:solidFill>
          <a:ln w="9525">
            <a:solidFill>
              <a:srgbClr val="334155"/>
            </a:solidFill>
            <a:round/>
          </a:ln>
        </p:spPr>
        <p:style>
          <a:lnRef idx="0"/>
          <a:fillRef idx="0"/>
          <a:effectRef idx="0"/>
          <a:fontRef idx="minor"/>
        </p:style>
      </p:sp>
      <p:sp>
        <p:nvSpPr>
          <p:cNvPr id="790" name="Shape 11"/>
          <p:cNvSpPr/>
          <p:nvPr/>
        </p:nvSpPr>
        <p:spPr>
          <a:xfrm>
            <a:off x="457200" y="3044880"/>
            <a:ext cx="54360" cy="1645560"/>
          </a:xfrm>
          <a:prstGeom prst="rect">
            <a:avLst/>
          </a:prstGeom>
          <a:solidFill>
            <a:srgbClr val="a78bfa"/>
          </a:solidFill>
          <a:ln w="12700">
            <a:solidFill>
              <a:srgbClr val="a78bfa"/>
            </a:solidFill>
            <a:round/>
          </a:ln>
        </p:spPr>
        <p:style>
          <a:lnRef idx="0"/>
          <a:fillRef idx="0"/>
          <a:effectRef idx="0"/>
          <a:fontRef idx="minor"/>
        </p:style>
      </p:sp>
      <p:sp>
        <p:nvSpPr>
          <p:cNvPr id="791" name="Text 12"/>
          <p:cNvSpPr/>
          <p:nvPr/>
        </p:nvSpPr>
        <p:spPr>
          <a:xfrm>
            <a:off x="685800" y="320940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a78bfa"/>
                </a:solidFill>
                <a:latin typeface="Calibri"/>
                <a:ea typeface="Calibri"/>
              </a:rPr>
              <a:t>EXTERNAL VALIDITY</a:t>
            </a:r>
            <a:endParaRPr b="0" lang="en-IN" sz="1050" spc="-1" strike="noStrike">
              <a:latin typeface="Arial"/>
            </a:endParaRPr>
          </a:p>
        </p:txBody>
      </p:sp>
      <p:sp>
        <p:nvSpPr>
          <p:cNvPr id="792" name="Text 13"/>
          <p:cNvSpPr/>
          <p:nvPr/>
        </p:nvSpPr>
        <p:spPr>
          <a:xfrm>
            <a:off x="731520" y="3502080"/>
            <a:ext cx="3794400" cy="105120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Confirmatory bounded to AIOpsLab + parametric extension</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Tiers 3–4 are external-validity probes only</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Industrial replication = priority follow-on (§3.11.5)</a:t>
            </a:r>
            <a:endParaRPr b="0" lang="en-IN" sz="1050" spc="-1" strike="noStrike">
              <a:latin typeface="Arial"/>
            </a:endParaRPr>
          </a:p>
        </p:txBody>
      </p:sp>
      <p:sp>
        <p:nvSpPr>
          <p:cNvPr id="793" name="Shape 14"/>
          <p:cNvSpPr/>
          <p:nvPr/>
        </p:nvSpPr>
        <p:spPr>
          <a:xfrm>
            <a:off x="4782240" y="3044880"/>
            <a:ext cx="4205880" cy="1645560"/>
          </a:xfrm>
          <a:prstGeom prst="rect">
            <a:avLst/>
          </a:prstGeom>
          <a:solidFill>
            <a:srgbClr val="162236"/>
          </a:solidFill>
          <a:ln w="9525">
            <a:solidFill>
              <a:srgbClr val="334155"/>
            </a:solidFill>
            <a:round/>
          </a:ln>
        </p:spPr>
        <p:style>
          <a:lnRef idx="0"/>
          <a:fillRef idx="0"/>
          <a:effectRef idx="0"/>
          <a:fontRef idx="minor"/>
        </p:style>
      </p:sp>
      <p:sp>
        <p:nvSpPr>
          <p:cNvPr id="794" name="Shape 15"/>
          <p:cNvSpPr/>
          <p:nvPr/>
        </p:nvSpPr>
        <p:spPr>
          <a:xfrm>
            <a:off x="4782240" y="3044880"/>
            <a:ext cx="54360" cy="1645560"/>
          </a:xfrm>
          <a:prstGeom prst="rect">
            <a:avLst/>
          </a:prstGeom>
          <a:solidFill>
            <a:srgbClr val="10b981"/>
          </a:solidFill>
          <a:ln w="12700">
            <a:solidFill>
              <a:srgbClr val="10b981"/>
            </a:solidFill>
            <a:round/>
          </a:ln>
        </p:spPr>
        <p:style>
          <a:lnRef idx="0"/>
          <a:fillRef idx="0"/>
          <a:effectRef idx="0"/>
          <a:fontRef idx="minor"/>
        </p:style>
      </p:sp>
      <p:sp>
        <p:nvSpPr>
          <p:cNvPr id="795" name="Text 16"/>
          <p:cNvSpPr/>
          <p:nvPr/>
        </p:nvSpPr>
        <p:spPr>
          <a:xfrm>
            <a:off x="5010840" y="320940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10b981"/>
                </a:solidFill>
                <a:latin typeface="Calibri"/>
                <a:ea typeface="Calibri"/>
              </a:rPr>
              <a:t>STATISTICAL VALIDITY</a:t>
            </a:r>
            <a:endParaRPr b="0" lang="en-IN" sz="1050" spc="-1" strike="noStrike">
              <a:latin typeface="Arial"/>
            </a:endParaRPr>
          </a:p>
        </p:txBody>
      </p:sp>
      <p:sp>
        <p:nvSpPr>
          <p:cNvPr id="796" name="Text 17"/>
          <p:cNvSpPr/>
          <p:nvPr/>
        </p:nvSpPr>
        <p:spPr>
          <a:xfrm>
            <a:off x="5056560" y="3502080"/>
            <a:ext cx="3794400" cy="105120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FWER per family · Min-detectable-effect framing</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BCa bootstrap CI per cell</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Pre-registration with deviation log as binding instrument</a:t>
            </a:r>
            <a:endParaRPr b="0" lang="en-IN" sz="1050" spc="-1" strike="noStrike">
              <a:latin typeface="Arial"/>
            </a:endParaRPr>
          </a:p>
          <a:p>
            <a:pPr marL="343080" indent="-343080">
              <a:lnSpc>
                <a:spcPct val="100000"/>
              </a:lnSpc>
              <a:spcAft>
                <a:spcPts val="99"/>
              </a:spcAft>
              <a:buClr>
                <a:srgbClr val="f8fafc"/>
              </a:buClr>
              <a:buFont typeface="Symbol" charset="2"/>
              <a:buChar char=""/>
            </a:pPr>
            <a:r>
              <a:rPr b="0" lang="en-US" sz="1050" spc="-1" strike="noStrike">
                <a:solidFill>
                  <a:srgbClr val="f8fafc"/>
                </a:solidFill>
                <a:latin typeface="Calibri"/>
                <a:ea typeface="Calibri"/>
              </a:rPr>
              <a:t>Asymmetric rule for A-H4, A-H8 (rejection = support)</a:t>
            </a:r>
            <a:endParaRPr b="0" lang="en-IN" sz="1050" spc="-1" strike="noStrike">
              <a:latin typeface="Arial"/>
            </a:endParaRPr>
          </a:p>
        </p:txBody>
      </p:sp>
      <p:sp>
        <p:nvSpPr>
          <p:cNvPr id="797" name="Text 18"/>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Evaluation</a:t>
            </a:r>
            <a:endParaRPr b="0" lang="en-IN" sz="850" spc="-1" strike="noStrike">
              <a:latin typeface="Arial"/>
            </a:endParaRPr>
          </a:p>
        </p:txBody>
      </p:sp>
      <p:sp>
        <p:nvSpPr>
          <p:cNvPr id="798" name="Text 19"/>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20 / 22</a:t>
            </a:r>
            <a:endParaRPr b="0" lang="en-IN" sz="900" spc="-1" strike="noStrike">
              <a:latin typeface="Arial"/>
            </a:endParaRPr>
          </a:p>
        </p:txBody>
      </p:sp>
      <p:sp>
        <p:nvSpPr>
          <p:cNvPr id="799" name="Shape 20"/>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800"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RISKS, MITIGATIONS &amp; CONTRIBUTIONS</a:t>
            </a:r>
            <a:endParaRPr b="0" lang="en-IN" sz="1000" spc="-1" strike="noStrike">
              <a:latin typeface="Arial"/>
            </a:endParaRPr>
          </a:p>
        </p:txBody>
      </p:sp>
      <p:sp>
        <p:nvSpPr>
          <p:cNvPr id="801"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Risks acknowledged; contributions stratified across academic, industrial, methodological</a:t>
            </a:r>
            <a:endParaRPr b="0" lang="en-IN" sz="2200" spc="-1" strike="noStrike">
              <a:latin typeface="Arial"/>
            </a:endParaRPr>
          </a:p>
        </p:txBody>
      </p:sp>
      <p:sp>
        <p:nvSpPr>
          <p:cNvPr id="802" name="Shape 2"/>
          <p:cNvSpPr/>
          <p:nvPr/>
        </p:nvSpPr>
        <p:spPr>
          <a:xfrm>
            <a:off x="457200" y="1280160"/>
            <a:ext cx="4205880" cy="3611520"/>
          </a:xfrm>
          <a:prstGeom prst="rect">
            <a:avLst/>
          </a:prstGeom>
          <a:solidFill>
            <a:srgbClr val="1b263b"/>
          </a:solidFill>
          <a:ln w="9525">
            <a:solidFill>
              <a:srgbClr val="334155"/>
            </a:solidFill>
            <a:round/>
          </a:ln>
        </p:spPr>
        <p:style>
          <a:lnRef idx="0"/>
          <a:fillRef idx="0"/>
          <a:effectRef idx="0"/>
          <a:fontRef idx="minor"/>
        </p:style>
      </p:sp>
      <p:sp>
        <p:nvSpPr>
          <p:cNvPr id="803" name="Shape 3"/>
          <p:cNvSpPr/>
          <p:nvPr/>
        </p:nvSpPr>
        <p:spPr>
          <a:xfrm>
            <a:off x="457200" y="1280160"/>
            <a:ext cx="54360" cy="3611520"/>
          </a:xfrm>
          <a:prstGeom prst="rect">
            <a:avLst/>
          </a:prstGeom>
          <a:solidFill>
            <a:srgbClr val="ef4444"/>
          </a:solidFill>
          <a:ln w="12700">
            <a:solidFill>
              <a:srgbClr val="ef4444"/>
            </a:solidFill>
            <a:round/>
          </a:ln>
        </p:spPr>
        <p:style>
          <a:lnRef idx="0"/>
          <a:fillRef idx="0"/>
          <a:effectRef idx="0"/>
          <a:fontRef idx="minor"/>
        </p:style>
      </p:sp>
      <p:sp>
        <p:nvSpPr>
          <p:cNvPr id="804" name="Text 4"/>
          <p:cNvSpPr/>
          <p:nvPr/>
        </p:nvSpPr>
        <p:spPr>
          <a:xfrm>
            <a:off x="685800" y="1444680"/>
            <a:ext cx="393156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ef4444"/>
                </a:solidFill>
                <a:latin typeface="Calibri"/>
                <a:ea typeface="Calibri"/>
              </a:rPr>
              <a:t>EARLY-STAGE RISKS  ·  MITIGATIONS</a:t>
            </a:r>
            <a:endParaRPr b="0" lang="en-IN" sz="1050" spc="-1" strike="noStrike">
              <a:latin typeface="Arial"/>
            </a:endParaRPr>
          </a:p>
        </p:txBody>
      </p:sp>
      <p:sp>
        <p:nvSpPr>
          <p:cNvPr id="805" name="Text 5"/>
          <p:cNvSpPr/>
          <p:nvPr/>
        </p:nvSpPr>
        <p:spPr>
          <a:xfrm>
            <a:off x="685800" y="178308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LLM hallucination</a:t>
            </a:r>
            <a:endParaRPr b="0" lang="en-IN" sz="1100" spc="-1" strike="noStrike">
              <a:latin typeface="Arial"/>
            </a:endParaRPr>
          </a:p>
        </p:txBody>
      </p:sp>
      <p:sp>
        <p:nvSpPr>
          <p:cNvPr id="806" name="Text 6"/>
          <p:cNvSpPr/>
          <p:nvPr/>
        </p:nvSpPr>
        <p:spPr>
          <a:xfrm>
            <a:off x="685800" y="2030040"/>
            <a:ext cx="384012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 </a:t>
            </a:r>
            <a:r>
              <a:rPr b="0" i="1" lang="en-US" sz="950" spc="-1" strike="noStrike">
                <a:solidFill>
                  <a:srgbClr val="94a3b8"/>
                </a:solidFill>
                <a:latin typeface="Calibri"/>
                <a:ea typeface="Calibri"/>
              </a:rPr>
              <a:t>P4 telemetry → Cognitive Sentinel → MAHC entropy regulariser → HITL escalation (A-H7 tested)</a:t>
            </a:r>
            <a:endParaRPr b="0" lang="en-IN" sz="950" spc="-1" strike="noStrike">
              <a:latin typeface="Arial"/>
            </a:endParaRPr>
          </a:p>
        </p:txBody>
      </p:sp>
      <p:sp>
        <p:nvSpPr>
          <p:cNvPr id="807" name="Text 7"/>
          <p:cNvSpPr/>
          <p:nvPr/>
        </p:nvSpPr>
        <p:spPr>
          <a:xfrm>
            <a:off x="685800" y="238644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Data quality / concept drift</a:t>
            </a:r>
            <a:endParaRPr b="0" lang="en-IN" sz="1100" spc="-1" strike="noStrike">
              <a:latin typeface="Arial"/>
            </a:endParaRPr>
          </a:p>
        </p:txBody>
      </p:sp>
      <p:sp>
        <p:nvSpPr>
          <p:cNvPr id="808" name="Text 8"/>
          <p:cNvSpPr/>
          <p:nvPr/>
        </p:nvSpPr>
        <p:spPr>
          <a:xfrm>
            <a:off x="685800" y="2633400"/>
            <a:ext cx="384012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 </a:t>
            </a:r>
            <a:r>
              <a:rPr b="0" i="1" lang="en-US" sz="950" spc="-1" strike="noStrike">
                <a:solidFill>
                  <a:srgbClr val="94a3b8"/>
                </a:solidFill>
                <a:latin typeface="Calibri"/>
                <a:ea typeface="Calibri"/>
              </a:rPr>
              <a:t>Metric integrity gate (no zero-imputation) · Exclusion ledger · ORAR drift-mitigation</a:t>
            </a:r>
            <a:endParaRPr b="0" lang="en-IN" sz="950" spc="-1" strike="noStrike">
              <a:latin typeface="Arial"/>
            </a:endParaRPr>
          </a:p>
        </p:txBody>
      </p:sp>
      <p:sp>
        <p:nvSpPr>
          <p:cNvPr id="809" name="Text 9"/>
          <p:cNvSpPr/>
          <p:nvPr/>
        </p:nvSpPr>
        <p:spPr>
          <a:xfrm>
            <a:off x="685800" y="299016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Scalability beyond 100 svc</a:t>
            </a:r>
            <a:endParaRPr b="0" lang="en-IN" sz="1100" spc="-1" strike="noStrike">
              <a:latin typeface="Arial"/>
            </a:endParaRPr>
          </a:p>
        </p:txBody>
      </p:sp>
      <p:sp>
        <p:nvSpPr>
          <p:cNvPr id="810" name="Text 10"/>
          <p:cNvSpPr/>
          <p:nvPr/>
        </p:nvSpPr>
        <p:spPr>
          <a:xfrm>
            <a:off x="685800" y="3237120"/>
            <a:ext cx="384012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 </a:t>
            </a:r>
            <a:r>
              <a:rPr b="0" i="1" lang="en-US" sz="950" spc="-1" strike="noStrike">
                <a:solidFill>
                  <a:srgbClr val="94a3b8"/>
                </a:solidFill>
                <a:latin typeface="Calibri"/>
                <a:ea typeface="Calibri"/>
              </a:rPr>
              <a:t>Acknowledged scope: 500–5000-svc scaling = pre-registered separate experiment</a:t>
            </a:r>
            <a:endParaRPr b="0" lang="en-IN" sz="950" spc="-1" strike="noStrike">
              <a:latin typeface="Arial"/>
            </a:endParaRPr>
          </a:p>
        </p:txBody>
      </p:sp>
      <p:sp>
        <p:nvSpPr>
          <p:cNvPr id="811" name="Text 11"/>
          <p:cNvSpPr/>
          <p:nvPr/>
        </p:nvSpPr>
        <p:spPr>
          <a:xfrm>
            <a:off x="685800" y="359352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Multimodal integration</a:t>
            </a:r>
            <a:endParaRPr b="0" lang="en-IN" sz="1100" spc="-1" strike="noStrike">
              <a:latin typeface="Arial"/>
            </a:endParaRPr>
          </a:p>
        </p:txBody>
      </p:sp>
      <p:sp>
        <p:nvSpPr>
          <p:cNvPr id="812" name="Text 12"/>
          <p:cNvSpPr/>
          <p:nvPr/>
        </p:nvSpPr>
        <p:spPr>
          <a:xfrm>
            <a:off x="685800" y="3840480"/>
            <a:ext cx="384012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 </a:t>
            </a:r>
            <a:r>
              <a:rPr b="0" i="1" lang="en-US" sz="950" spc="-1" strike="noStrike">
                <a:solidFill>
                  <a:srgbClr val="94a3b8"/>
                </a:solidFill>
                <a:latin typeface="Calibri"/>
                <a:ea typeface="Calibri"/>
              </a:rPr>
              <a:t>UEG-C typed-edge composition · Subgraph-aware training under identical pruning</a:t>
            </a:r>
            <a:endParaRPr b="0" lang="en-IN" sz="950" spc="-1" strike="noStrike">
              <a:latin typeface="Arial"/>
            </a:endParaRPr>
          </a:p>
        </p:txBody>
      </p:sp>
      <p:sp>
        <p:nvSpPr>
          <p:cNvPr id="813" name="Text 13"/>
          <p:cNvSpPr/>
          <p:nvPr/>
        </p:nvSpPr>
        <p:spPr>
          <a:xfrm>
            <a:off x="685800" y="4197240"/>
            <a:ext cx="384012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 strike="noStrike">
                <a:solidFill>
                  <a:srgbClr val="f8fafc"/>
                </a:solidFill>
                <a:latin typeface="Calibri"/>
                <a:ea typeface="Calibri"/>
              </a:rPr>
              <a:t>Eval bias / no ground truth</a:t>
            </a:r>
            <a:endParaRPr b="0" lang="en-IN" sz="1100" spc="-1" strike="noStrike">
              <a:latin typeface="Arial"/>
            </a:endParaRPr>
          </a:p>
        </p:txBody>
      </p:sp>
      <p:sp>
        <p:nvSpPr>
          <p:cNvPr id="814" name="Text 14"/>
          <p:cNvSpPr/>
          <p:nvPr/>
        </p:nvSpPr>
        <p:spPr>
          <a:xfrm>
            <a:off x="685800" y="4443840"/>
            <a:ext cx="3840120" cy="365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50" spc="-1" strike="noStrike">
                <a:solidFill>
                  <a:srgbClr val="94a3b8"/>
                </a:solidFill>
                <a:latin typeface="Calibri"/>
                <a:ea typeface="Calibri"/>
              </a:rPr>
              <a:t>→ </a:t>
            </a:r>
            <a:r>
              <a:rPr b="0" i="1" lang="en-US" sz="950" spc="-1" strike="noStrike">
                <a:solidFill>
                  <a:srgbClr val="94a3b8"/>
                </a:solidFill>
                <a:latin typeface="Calibri"/>
                <a:ea typeface="Calibri"/>
              </a:rPr>
              <a:t>Pre-registered seed register · SHA-256 corpus · Independent-rater protocols</a:t>
            </a:r>
            <a:endParaRPr b="0" lang="en-IN" sz="950" spc="-1" strike="noStrike">
              <a:latin typeface="Arial"/>
            </a:endParaRPr>
          </a:p>
        </p:txBody>
      </p:sp>
      <p:sp>
        <p:nvSpPr>
          <p:cNvPr id="815" name="Shape 15"/>
          <p:cNvSpPr/>
          <p:nvPr/>
        </p:nvSpPr>
        <p:spPr>
          <a:xfrm>
            <a:off x="4800600" y="1280160"/>
            <a:ext cx="4251600" cy="3611520"/>
          </a:xfrm>
          <a:prstGeom prst="rect">
            <a:avLst/>
          </a:prstGeom>
          <a:solidFill>
            <a:srgbClr val="1b263b"/>
          </a:solidFill>
          <a:ln w="9525">
            <a:solidFill>
              <a:srgbClr val="334155"/>
            </a:solidFill>
            <a:round/>
          </a:ln>
        </p:spPr>
        <p:style>
          <a:lnRef idx="0"/>
          <a:fillRef idx="0"/>
          <a:effectRef idx="0"/>
          <a:fontRef idx="minor"/>
        </p:style>
      </p:sp>
      <p:sp>
        <p:nvSpPr>
          <p:cNvPr id="816" name="Shape 16"/>
          <p:cNvSpPr/>
          <p:nvPr/>
        </p:nvSpPr>
        <p:spPr>
          <a:xfrm>
            <a:off x="4800600" y="1280160"/>
            <a:ext cx="54360" cy="3611520"/>
          </a:xfrm>
          <a:prstGeom prst="rect">
            <a:avLst/>
          </a:prstGeom>
          <a:solidFill>
            <a:srgbClr val="10b981"/>
          </a:solidFill>
          <a:ln w="12700">
            <a:solidFill>
              <a:srgbClr val="10b981"/>
            </a:solidFill>
            <a:round/>
          </a:ln>
        </p:spPr>
        <p:style>
          <a:lnRef idx="0"/>
          <a:fillRef idx="0"/>
          <a:effectRef idx="0"/>
          <a:fontRef idx="minor"/>
        </p:style>
      </p:sp>
      <p:sp>
        <p:nvSpPr>
          <p:cNvPr id="817" name="Text 17"/>
          <p:cNvSpPr/>
          <p:nvPr/>
        </p:nvSpPr>
        <p:spPr>
          <a:xfrm>
            <a:off x="5029200" y="1444680"/>
            <a:ext cx="397728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50" spc="299" strike="noStrike">
                <a:solidFill>
                  <a:srgbClr val="10b981"/>
                </a:solidFill>
                <a:latin typeface="Calibri"/>
                <a:ea typeface="Calibri"/>
              </a:rPr>
              <a:t>CONTRIBUTIONS  ·  THREE LAYERS</a:t>
            </a:r>
            <a:endParaRPr b="0" lang="en-IN" sz="1050" spc="-1" strike="noStrike">
              <a:latin typeface="Arial"/>
            </a:endParaRPr>
          </a:p>
        </p:txBody>
      </p:sp>
      <p:sp>
        <p:nvSpPr>
          <p:cNvPr id="818" name="Shape 18"/>
          <p:cNvSpPr/>
          <p:nvPr/>
        </p:nvSpPr>
        <p:spPr>
          <a:xfrm>
            <a:off x="5029200" y="1828800"/>
            <a:ext cx="54360" cy="868320"/>
          </a:xfrm>
          <a:prstGeom prst="rect">
            <a:avLst/>
          </a:prstGeom>
          <a:solidFill>
            <a:srgbClr val="06b6d4"/>
          </a:solidFill>
          <a:ln w="12700">
            <a:solidFill>
              <a:srgbClr val="06b6d4"/>
            </a:solidFill>
            <a:round/>
          </a:ln>
        </p:spPr>
        <p:style>
          <a:lnRef idx="0"/>
          <a:fillRef idx="0"/>
          <a:effectRef idx="0"/>
          <a:fontRef idx="minor"/>
        </p:style>
      </p:sp>
      <p:sp>
        <p:nvSpPr>
          <p:cNvPr id="819" name="Text 19"/>
          <p:cNvSpPr/>
          <p:nvPr/>
        </p:nvSpPr>
        <p:spPr>
          <a:xfrm>
            <a:off x="5184720" y="1783080"/>
            <a:ext cx="3657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06b6d4"/>
                </a:solidFill>
                <a:latin typeface="Calibri"/>
                <a:ea typeface="Calibri"/>
              </a:rPr>
              <a:t>ACADEMIC</a:t>
            </a:r>
            <a:endParaRPr b="0" lang="en-IN" sz="1100" spc="-1" strike="noStrike">
              <a:latin typeface="Arial"/>
            </a:endParaRPr>
          </a:p>
        </p:txBody>
      </p:sp>
      <p:sp>
        <p:nvSpPr>
          <p:cNvPr id="820" name="Text 20"/>
          <p:cNvSpPr/>
          <p:nvPr/>
        </p:nvSpPr>
        <p:spPr>
          <a:xfrm>
            <a:off x="5184720" y="2057400"/>
            <a:ext cx="3657240" cy="63972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6 contributions in Gregor &amp; Hevner taxonomy</a:t>
            </a:r>
            <a:endParaRPr b="0" lang="en-IN" sz="1000" spc="-1" strike="noStrike">
              <a:latin typeface="Arial"/>
            </a:endParaRPr>
          </a:p>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5 transferable design principles</a:t>
            </a:r>
            <a:endParaRPr b="0" lang="en-IN" sz="1000" spc="-1" strike="noStrike">
              <a:latin typeface="Arial"/>
            </a:endParaRPr>
          </a:p>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Asymmetric inferential rule</a:t>
            </a:r>
            <a:endParaRPr b="0" lang="en-IN" sz="1000" spc="-1" strike="noStrike">
              <a:latin typeface="Arial"/>
            </a:endParaRPr>
          </a:p>
        </p:txBody>
      </p:sp>
      <p:sp>
        <p:nvSpPr>
          <p:cNvPr id="821" name="Shape 21"/>
          <p:cNvSpPr/>
          <p:nvPr/>
        </p:nvSpPr>
        <p:spPr>
          <a:xfrm>
            <a:off x="5029200" y="2862000"/>
            <a:ext cx="54360" cy="868320"/>
          </a:xfrm>
          <a:prstGeom prst="rect">
            <a:avLst/>
          </a:prstGeom>
          <a:solidFill>
            <a:srgbClr val="f97316"/>
          </a:solidFill>
          <a:ln w="12700">
            <a:solidFill>
              <a:srgbClr val="f97316"/>
            </a:solidFill>
            <a:round/>
          </a:ln>
        </p:spPr>
        <p:style>
          <a:lnRef idx="0"/>
          <a:fillRef idx="0"/>
          <a:effectRef idx="0"/>
          <a:fontRef idx="minor"/>
        </p:style>
      </p:sp>
      <p:sp>
        <p:nvSpPr>
          <p:cNvPr id="822" name="Text 22"/>
          <p:cNvSpPr/>
          <p:nvPr/>
        </p:nvSpPr>
        <p:spPr>
          <a:xfrm>
            <a:off x="5184720" y="2816280"/>
            <a:ext cx="3657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f97316"/>
                </a:solidFill>
                <a:latin typeface="Calibri"/>
                <a:ea typeface="Calibri"/>
              </a:rPr>
              <a:t>INDUSTRIAL</a:t>
            </a:r>
            <a:endParaRPr b="0" lang="en-IN" sz="1100" spc="-1" strike="noStrike">
              <a:latin typeface="Arial"/>
            </a:endParaRPr>
          </a:p>
        </p:txBody>
      </p:sp>
      <p:sp>
        <p:nvSpPr>
          <p:cNvPr id="823" name="Text 23"/>
          <p:cNvSpPr/>
          <p:nvPr/>
        </p:nvSpPr>
        <p:spPr>
          <a:xfrm>
            <a:off x="5184720" y="3090600"/>
            <a:ext cx="3657240" cy="63972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MTTR &amp; CpR reduction targets</a:t>
            </a:r>
            <a:endParaRPr b="0" lang="en-IN" sz="1000" spc="-1" strike="noStrike">
              <a:latin typeface="Arial"/>
            </a:endParaRPr>
          </a:p>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FGSV + HITL + ARM safety patterns</a:t>
            </a:r>
            <a:endParaRPr b="0" lang="en-IN" sz="1000" spc="-1" strike="noStrike">
              <a:latin typeface="Arial"/>
            </a:endParaRPr>
          </a:p>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Runtime-enforcement apparatus</a:t>
            </a:r>
            <a:endParaRPr b="0" lang="en-IN" sz="1000" spc="-1" strike="noStrike">
              <a:latin typeface="Arial"/>
            </a:endParaRPr>
          </a:p>
        </p:txBody>
      </p:sp>
      <p:sp>
        <p:nvSpPr>
          <p:cNvPr id="824" name="Shape 24"/>
          <p:cNvSpPr/>
          <p:nvPr/>
        </p:nvSpPr>
        <p:spPr>
          <a:xfrm>
            <a:off x="5029200" y="3895200"/>
            <a:ext cx="54360" cy="868320"/>
          </a:xfrm>
          <a:prstGeom prst="rect">
            <a:avLst/>
          </a:prstGeom>
          <a:solidFill>
            <a:srgbClr val="a78bfa"/>
          </a:solidFill>
          <a:ln w="12700">
            <a:solidFill>
              <a:srgbClr val="a78bfa"/>
            </a:solidFill>
            <a:round/>
          </a:ln>
        </p:spPr>
        <p:style>
          <a:lnRef idx="0"/>
          <a:fillRef idx="0"/>
          <a:effectRef idx="0"/>
          <a:fontRef idx="minor"/>
        </p:style>
      </p:sp>
      <p:sp>
        <p:nvSpPr>
          <p:cNvPr id="825" name="Text 25"/>
          <p:cNvSpPr/>
          <p:nvPr/>
        </p:nvSpPr>
        <p:spPr>
          <a:xfrm>
            <a:off x="5184720" y="3849480"/>
            <a:ext cx="3657240" cy="2739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100" spc="199" strike="noStrike">
                <a:solidFill>
                  <a:srgbClr val="a78bfa"/>
                </a:solidFill>
                <a:latin typeface="Calibri"/>
                <a:ea typeface="Calibri"/>
              </a:rPr>
              <a:t>METHODOLOGICAL</a:t>
            </a:r>
            <a:endParaRPr b="0" lang="en-IN" sz="1100" spc="-1" strike="noStrike">
              <a:latin typeface="Arial"/>
            </a:endParaRPr>
          </a:p>
        </p:txBody>
      </p:sp>
      <p:sp>
        <p:nvSpPr>
          <p:cNvPr id="826" name="Text 26"/>
          <p:cNvSpPr/>
          <p:nvPr/>
        </p:nvSpPr>
        <p:spPr>
          <a:xfrm>
            <a:off x="5184720" y="4123800"/>
            <a:ext cx="3657240" cy="639720"/>
          </a:xfrm>
          <a:prstGeom prst="rect">
            <a:avLst/>
          </a:prstGeom>
          <a:noFill/>
          <a:ln w="0">
            <a:noFill/>
          </a:ln>
        </p:spPr>
        <p:style>
          <a:lnRef idx="0"/>
          <a:fillRef idx="0"/>
          <a:effectRef idx="0"/>
          <a:fontRef idx="minor"/>
        </p:style>
        <p:txBody>
          <a:bodyPr lIns="0" rIns="0" tIns="0" bIns="0" anchor="ctr">
            <a:noAutofit/>
          </a:bodyPr>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Pre-registration as runtime invariant (C1)</a:t>
            </a:r>
            <a:endParaRPr b="0" lang="en-IN" sz="1000" spc="-1" strike="noStrike">
              <a:latin typeface="Arial"/>
            </a:endParaRPr>
          </a:p>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Generalisable to AIOps research-method practice</a:t>
            </a:r>
            <a:endParaRPr b="0" lang="en-IN" sz="1000" spc="-1" strike="noStrike">
              <a:latin typeface="Arial"/>
            </a:endParaRPr>
          </a:p>
          <a:p>
            <a:pPr marL="343080" indent="-343080">
              <a:lnSpc>
                <a:spcPct val="100000"/>
              </a:lnSpc>
              <a:buClr>
                <a:srgbClr val="f8fafc"/>
              </a:buClr>
              <a:buFont typeface="Symbol" charset="2"/>
              <a:buChar char=""/>
            </a:pPr>
            <a:r>
              <a:rPr b="0" lang="en-US" sz="1000" spc="-1" strike="noStrike">
                <a:solidFill>
                  <a:srgbClr val="f8fafc"/>
                </a:solidFill>
                <a:latin typeface="Calibri"/>
                <a:ea typeface="Calibri"/>
              </a:rPr>
              <a:t>Arguably to DSR practice more broadly</a:t>
            </a:r>
            <a:endParaRPr b="0" lang="en-IN" sz="1000" spc="-1" strike="noStrike">
              <a:latin typeface="Arial"/>
            </a:endParaRPr>
          </a:p>
        </p:txBody>
      </p:sp>
      <p:sp>
        <p:nvSpPr>
          <p:cNvPr id="827" name="Text 27"/>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Outcomes</a:t>
            </a:r>
            <a:endParaRPr b="0" lang="en-IN" sz="850" spc="-1" strike="noStrike">
              <a:latin typeface="Arial"/>
            </a:endParaRPr>
          </a:p>
        </p:txBody>
      </p:sp>
      <p:sp>
        <p:nvSpPr>
          <p:cNvPr id="828" name="Text 28"/>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21 / 22</a:t>
            </a:r>
            <a:endParaRPr b="0" lang="en-IN" sz="900" spc="-1" strike="noStrike">
              <a:latin typeface="Arial"/>
            </a:endParaRPr>
          </a:p>
        </p:txBody>
      </p:sp>
      <p:sp>
        <p:nvSpPr>
          <p:cNvPr id="829" name="Shape 29"/>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830" name="Text 0"/>
          <p:cNvSpPr/>
          <p:nvPr/>
        </p:nvSpPr>
        <p:spPr>
          <a:xfrm>
            <a:off x="411480" y="255960"/>
            <a:ext cx="8320680" cy="255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398" strike="noStrike">
                <a:solidFill>
                  <a:srgbClr val="06b6d4"/>
                </a:solidFill>
                <a:latin typeface="Calibri"/>
                <a:ea typeface="Calibri"/>
              </a:rPr>
              <a:t>TIMELINE TO VIVA</a:t>
            </a:r>
            <a:endParaRPr b="0" lang="en-IN" sz="1000" spc="-1" strike="noStrike">
              <a:latin typeface="Arial"/>
            </a:endParaRPr>
          </a:p>
        </p:txBody>
      </p:sp>
      <p:sp>
        <p:nvSpPr>
          <p:cNvPr id="831" name="Text 1"/>
          <p:cNvSpPr/>
          <p:nvPr/>
        </p:nvSpPr>
        <p:spPr>
          <a:xfrm>
            <a:off x="411480" y="502920"/>
            <a:ext cx="8320680" cy="63972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US" sz="2200" spc="-1" strike="noStrike">
                <a:solidFill>
                  <a:srgbClr val="f8fafc"/>
                </a:solidFill>
                <a:latin typeface="Calibri"/>
                <a:ea typeface="Calibri"/>
              </a:rPr>
              <a:t>Six milestones — largest schedule risk on confirmatory ablation runs</a:t>
            </a:r>
            <a:endParaRPr b="0" lang="en-IN" sz="2200" spc="-1" strike="noStrike">
              <a:latin typeface="Arial"/>
            </a:endParaRPr>
          </a:p>
        </p:txBody>
      </p:sp>
      <p:sp>
        <p:nvSpPr>
          <p:cNvPr id="832" name="Shape 2"/>
          <p:cNvSpPr/>
          <p:nvPr/>
        </p:nvSpPr>
        <p:spPr>
          <a:xfrm>
            <a:off x="457200" y="2011680"/>
            <a:ext cx="8229600" cy="360"/>
          </a:xfrm>
          <a:prstGeom prst="line">
            <a:avLst/>
          </a:prstGeom>
          <a:ln w="15240">
            <a:solidFill>
              <a:srgbClr val="475569"/>
            </a:solidFill>
            <a:round/>
          </a:ln>
        </p:spPr>
        <p:style>
          <a:lnRef idx="0"/>
          <a:fillRef idx="0"/>
          <a:effectRef idx="0"/>
          <a:fontRef idx="minor"/>
        </p:style>
      </p:sp>
      <p:sp>
        <p:nvSpPr>
          <p:cNvPr id="833" name="Shape 3"/>
          <p:cNvSpPr/>
          <p:nvPr/>
        </p:nvSpPr>
        <p:spPr>
          <a:xfrm>
            <a:off x="329040" y="1883520"/>
            <a:ext cx="255600" cy="255600"/>
          </a:xfrm>
          <a:prstGeom prst="ellipse">
            <a:avLst/>
          </a:prstGeom>
          <a:solidFill>
            <a:srgbClr val="f97316"/>
          </a:solidFill>
          <a:ln w="19050">
            <a:solidFill>
              <a:srgbClr val="0d1b2a"/>
            </a:solidFill>
            <a:round/>
          </a:ln>
        </p:spPr>
        <p:style>
          <a:lnRef idx="0"/>
          <a:fillRef idx="0"/>
          <a:effectRef idx="0"/>
          <a:fontRef idx="minor"/>
        </p:style>
      </p:sp>
      <p:sp>
        <p:nvSpPr>
          <p:cNvPr id="834" name="Text 4"/>
          <p:cNvSpPr/>
          <p:nvPr/>
        </p:nvSpPr>
        <p:spPr>
          <a:xfrm>
            <a:off x="-320040" y="822960"/>
            <a:ext cx="1554120" cy="776880"/>
          </a:xfrm>
          <a:prstGeom prst="rect">
            <a:avLst/>
          </a:prstGeom>
          <a:noFill/>
          <a:ln w="0">
            <a:noFill/>
          </a:ln>
        </p:spPr>
        <p:style>
          <a:lnRef idx="0"/>
          <a:fillRef idx="0"/>
          <a:effectRef idx="0"/>
          <a:fontRef idx="minor"/>
        </p:style>
        <p:txBody>
          <a:bodyPr lIns="0" rIns="0" tIns="0" bIns="0" anchor="b">
            <a:noAutofit/>
          </a:bodyPr>
          <a:p>
            <a:pPr algn="ctr">
              <a:lnSpc>
                <a:spcPct val="100000"/>
              </a:lnSpc>
              <a:buNone/>
              <a:tabLst>
                <a:tab algn="l" pos="0"/>
              </a:tabLst>
            </a:pPr>
            <a:r>
              <a:rPr b="1" lang="en-US" sz="1000" spc="-1" strike="noStrike">
                <a:solidFill>
                  <a:srgbClr val="f8fafc"/>
                </a:solidFill>
                <a:latin typeface="Calibri"/>
                <a:ea typeface="Calibri"/>
              </a:rPr>
              <a:t>OSF</a:t>
            </a:r>
            <a:endParaRPr b="0" lang="en-IN" sz="1000" spc="-1" strike="noStrike">
              <a:latin typeface="Arial"/>
            </a:endParaRPr>
          </a:p>
          <a:p>
            <a:pPr algn="ctr">
              <a:lnSpc>
                <a:spcPct val="100000"/>
              </a:lnSpc>
              <a:buNone/>
              <a:tabLst>
                <a:tab algn="l" pos="0"/>
              </a:tabLst>
            </a:pPr>
            <a:r>
              <a:rPr b="1" lang="en-US" sz="1000" spc="-1" strike="noStrike">
                <a:solidFill>
                  <a:srgbClr val="f8fafc"/>
                </a:solidFill>
                <a:latin typeface="Calibri"/>
                <a:ea typeface="Calibri"/>
              </a:rPr>
              <a:t>Pre-Registration</a:t>
            </a:r>
            <a:endParaRPr b="0" lang="en-IN" sz="1000" spc="-1" strike="noStrike">
              <a:latin typeface="Arial"/>
            </a:endParaRPr>
          </a:p>
          <a:p>
            <a:pPr algn="ctr">
              <a:lnSpc>
                <a:spcPct val="100000"/>
              </a:lnSpc>
              <a:buNone/>
              <a:tabLst>
                <a:tab algn="l" pos="0"/>
              </a:tabLst>
            </a:pPr>
            <a:r>
              <a:rPr b="1" lang="en-US" sz="1000" spc="-1" strike="noStrike">
                <a:solidFill>
                  <a:srgbClr val="f8fafc"/>
                </a:solidFill>
                <a:latin typeface="Calibri"/>
                <a:ea typeface="Calibri"/>
              </a:rPr>
              <a:t>Freeze</a:t>
            </a:r>
            <a:endParaRPr b="0" lang="en-IN" sz="1000" spc="-1" strike="noStrike">
              <a:latin typeface="Arial"/>
            </a:endParaRPr>
          </a:p>
        </p:txBody>
      </p:sp>
      <p:sp>
        <p:nvSpPr>
          <p:cNvPr id="835" name="Text 5"/>
          <p:cNvSpPr/>
          <p:nvPr/>
        </p:nvSpPr>
        <p:spPr>
          <a:xfrm>
            <a:off x="-320040" y="1600200"/>
            <a:ext cx="1554120" cy="1825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850" spc="-1" strike="noStrike">
                <a:solidFill>
                  <a:srgbClr val="94a3b8"/>
                </a:solidFill>
                <a:latin typeface="Calibri"/>
                <a:ea typeface="Calibri"/>
              </a:rPr>
              <a:t>imminent</a:t>
            </a:r>
            <a:endParaRPr b="0" lang="en-IN" sz="850" spc="-1" strike="noStrike">
              <a:latin typeface="Arial"/>
            </a:endParaRPr>
          </a:p>
        </p:txBody>
      </p:sp>
      <p:sp>
        <p:nvSpPr>
          <p:cNvPr id="836" name="Shape 6"/>
          <p:cNvSpPr/>
          <p:nvPr/>
        </p:nvSpPr>
        <p:spPr>
          <a:xfrm>
            <a:off x="1974960" y="1883520"/>
            <a:ext cx="255600" cy="255600"/>
          </a:xfrm>
          <a:prstGeom prst="ellipse">
            <a:avLst/>
          </a:prstGeom>
          <a:solidFill>
            <a:srgbClr val="06b6d4"/>
          </a:solidFill>
          <a:ln w="19050">
            <a:solidFill>
              <a:srgbClr val="0d1b2a"/>
            </a:solidFill>
            <a:round/>
          </a:ln>
        </p:spPr>
        <p:style>
          <a:lnRef idx="0"/>
          <a:fillRef idx="0"/>
          <a:effectRef idx="0"/>
          <a:fontRef idx="minor"/>
        </p:style>
      </p:sp>
      <p:sp>
        <p:nvSpPr>
          <p:cNvPr id="837" name="Text 7"/>
          <p:cNvSpPr/>
          <p:nvPr/>
        </p:nvSpPr>
        <p:spPr>
          <a:xfrm>
            <a:off x="1325880" y="2240280"/>
            <a:ext cx="1554120" cy="776880"/>
          </a:xfrm>
          <a:prstGeom prst="rect">
            <a:avLst/>
          </a:prstGeom>
          <a:noFill/>
          <a:ln w="0">
            <a:noFill/>
          </a:ln>
        </p:spPr>
        <p:style>
          <a:lnRef idx="0"/>
          <a:fillRef idx="0"/>
          <a:effectRef idx="0"/>
          <a:fontRef idx="minor"/>
        </p:style>
        <p:txBody>
          <a:bodyPr lIns="0" rIns="0" tIns="0" bIns="0" anchor="t">
            <a:noAutofit/>
          </a:bodyPr>
          <a:p>
            <a:pPr algn="ctr">
              <a:lnSpc>
                <a:spcPct val="100000"/>
              </a:lnSpc>
              <a:buNone/>
              <a:tabLst>
                <a:tab algn="l" pos="0"/>
              </a:tabLst>
            </a:pPr>
            <a:r>
              <a:rPr b="1" lang="en-US" sz="1000" spc="-1" strike="noStrike">
                <a:solidFill>
                  <a:srgbClr val="f8fafc"/>
                </a:solidFill>
                <a:latin typeface="Calibri"/>
                <a:ea typeface="Calibri"/>
              </a:rPr>
              <a:t>Pre-Warming</a:t>
            </a:r>
            <a:endParaRPr b="0" lang="en-IN" sz="1000" spc="-1" strike="noStrike">
              <a:latin typeface="Arial"/>
            </a:endParaRPr>
          </a:p>
          <a:p>
            <a:pPr algn="ctr">
              <a:lnSpc>
                <a:spcPct val="100000"/>
              </a:lnSpc>
              <a:buNone/>
              <a:tabLst>
                <a:tab algn="l" pos="0"/>
              </a:tabLst>
            </a:pPr>
            <a:r>
              <a:rPr b="1" lang="en-US" sz="1000" spc="-1" strike="noStrike">
                <a:solidFill>
                  <a:srgbClr val="f8fafc"/>
                </a:solidFill>
                <a:latin typeface="Calibri"/>
                <a:ea typeface="Calibri"/>
              </a:rPr>
              <a:t>+ ε Probe</a:t>
            </a:r>
            <a:endParaRPr b="0" lang="en-IN" sz="1000" spc="-1" strike="noStrike">
              <a:latin typeface="Arial"/>
            </a:endParaRPr>
          </a:p>
          <a:p>
            <a:pPr algn="ctr">
              <a:lnSpc>
                <a:spcPct val="100000"/>
              </a:lnSpc>
              <a:buNone/>
              <a:tabLst>
                <a:tab algn="l" pos="0"/>
              </a:tabLst>
            </a:pPr>
            <a:r>
              <a:rPr b="1" lang="en-US" sz="1000" spc="-1" strike="noStrike">
                <a:solidFill>
                  <a:srgbClr val="f8fafc"/>
                </a:solidFill>
                <a:latin typeface="Calibri"/>
                <a:ea typeface="Calibri"/>
              </a:rPr>
              <a:t>Measurement</a:t>
            </a:r>
            <a:endParaRPr b="0" lang="en-IN" sz="1000" spc="-1" strike="noStrike">
              <a:latin typeface="Arial"/>
            </a:endParaRPr>
          </a:p>
        </p:txBody>
      </p:sp>
      <p:sp>
        <p:nvSpPr>
          <p:cNvPr id="838" name="Text 8"/>
          <p:cNvSpPr/>
          <p:nvPr/>
        </p:nvSpPr>
        <p:spPr>
          <a:xfrm>
            <a:off x="1325880" y="3063240"/>
            <a:ext cx="1554120" cy="1825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850" spc="-1" strike="noStrike">
                <a:solidFill>
                  <a:srgbClr val="94a3b8"/>
                </a:solidFill>
                <a:latin typeface="Calibri"/>
                <a:ea typeface="Calibri"/>
              </a:rPr>
              <a:t>200 prompts</a:t>
            </a:r>
            <a:endParaRPr b="0" lang="en-IN" sz="850" spc="-1" strike="noStrike">
              <a:latin typeface="Arial"/>
            </a:endParaRPr>
          </a:p>
        </p:txBody>
      </p:sp>
      <p:sp>
        <p:nvSpPr>
          <p:cNvPr id="839" name="Shape 9"/>
          <p:cNvSpPr/>
          <p:nvPr/>
        </p:nvSpPr>
        <p:spPr>
          <a:xfrm>
            <a:off x="3620880" y="1883520"/>
            <a:ext cx="255600" cy="255600"/>
          </a:xfrm>
          <a:prstGeom prst="ellipse">
            <a:avLst/>
          </a:prstGeom>
          <a:solidFill>
            <a:srgbClr val="ef4444"/>
          </a:solidFill>
          <a:ln w="19050">
            <a:solidFill>
              <a:srgbClr val="0d1b2a"/>
            </a:solidFill>
            <a:round/>
          </a:ln>
        </p:spPr>
        <p:style>
          <a:lnRef idx="0"/>
          <a:fillRef idx="0"/>
          <a:effectRef idx="0"/>
          <a:fontRef idx="minor"/>
        </p:style>
      </p:sp>
      <p:sp>
        <p:nvSpPr>
          <p:cNvPr id="840" name="Text 10"/>
          <p:cNvSpPr/>
          <p:nvPr/>
        </p:nvSpPr>
        <p:spPr>
          <a:xfrm>
            <a:off x="2971800" y="822960"/>
            <a:ext cx="1554120" cy="776880"/>
          </a:xfrm>
          <a:prstGeom prst="rect">
            <a:avLst/>
          </a:prstGeom>
          <a:noFill/>
          <a:ln w="0">
            <a:noFill/>
          </a:ln>
        </p:spPr>
        <p:style>
          <a:lnRef idx="0"/>
          <a:fillRef idx="0"/>
          <a:effectRef idx="0"/>
          <a:fontRef idx="minor"/>
        </p:style>
        <p:txBody>
          <a:bodyPr lIns="0" rIns="0" tIns="0" bIns="0" anchor="b">
            <a:noAutofit/>
          </a:bodyPr>
          <a:p>
            <a:pPr algn="ctr">
              <a:lnSpc>
                <a:spcPct val="100000"/>
              </a:lnSpc>
              <a:buNone/>
              <a:tabLst>
                <a:tab algn="l" pos="0"/>
              </a:tabLst>
            </a:pPr>
            <a:r>
              <a:rPr b="1" lang="en-US" sz="1000" spc="-1" strike="noStrike">
                <a:solidFill>
                  <a:srgbClr val="ef4444"/>
                </a:solidFill>
                <a:latin typeface="Calibri"/>
                <a:ea typeface="Calibri"/>
              </a:rPr>
              <a:t>Confirmatory</a:t>
            </a:r>
            <a:endParaRPr b="0" lang="en-IN" sz="1000" spc="-1" strike="noStrike">
              <a:latin typeface="Arial"/>
            </a:endParaRPr>
          </a:p>
          <a:p>
            <a:pPr algn="ctr">
              <a:lnSpc>
                <a:spcPct val="100000"/>
              </a:lnSpc>
              <a:buNone/>
              <a:tabLst>
                <a:tab algn="l" pos="0"/>
              </a:tabLst>
            </a:pPr>
            <a:r>
              <a:rPr b="1" lang="en-US" sz="1000" spc="-1" strike="noStrike">
                <a:solidFill>
                  <a:srgbClr val="ef4444"/>
                </a:solidFill>
                <a:latin typeface="Calibri"/>
                <a:ea typeface="Calibri"/>
              </a:rPr>
              <a:t>Ablation Runs</a:t>
            </a:r>
            <a:endParaRPr b="0" lang="en-IN" sz="1000" spc="-1" strike="noStrike">
              <a:latin typeface="Arial"/>
            </a:endParaRPr>
          </a:p>
        </p:txBody>
      </p:sp>
      <p:sp>
        <p:nvSpPr>
          <p:cNvPr id="841" name="Text 11"/>
          <p:cNvSpPr/>
          <p:nvPr/>
        </p:nvSpPr>
        <p:spPr>
          <a:xfrm>
            <a:off x="2971800" y="1600200"/>
            <a:ext cx="1554120" cy="1825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850" spc="-1" strike="noStrike">
                <a:solidFill>
                  <a:srgbClr val="94a3b8"/>
                </a:solidFill>
                <a:latin typeface="Calibri"/>
                <a:ea typeface="Calibri"/>
              </a:rPr>
              <a:t>16,000 runs</a:t>
            </a:r>
            <a:endParaRPr b="0" lang="en-IN" sz="850" spc="-1" strike="noStrike">
              <a:latin typeface="Arial"/>
            </a:endParaRPr>
          </a:p>
        </p:txBody>
      </p:sp>
      <p:sp>
        <p:nvSpPr>
          <p:cNvPr id="842" name="Shape 12"/>
          <p:cNvSpPr/>
          <p:nvPr/>
        </p:nvSpPr>
        <p:spPr>
          <a:xfrm>
            <a:off x="5266800" y="1883520"/>
            <a:ext cx="255600" cy="255600"/>
          </a:xfrm>
          <a:prstGeom prst="ellipse">
            <a:avLst/>
          </a:prstGeom>
          <a:solidFill>
            <a:srgbClr val="06b6d4"/>
          </a:solidFill>
          <a:ln w="19050">
            <a:solidFill>
              <a:srgbClr val="0d1b2a"/>
            </a:solidFill>
            <a:round/>
          </a:ln>
        </p:spPr>
        <p:style>
          <a:lnRef idx="0"/>
          <a:fillRef idx="0"/>
          <a:effectRef idx="0"/>
          <a:fontRef idx="minor"/>
        </p:style>
      </p:sp>
      <p:sp>
        <p:nvSpPr>
          <p:cNvPr id="843" name="Text 13"/>
          <p:cNvSpPr/>
          <p:nvPr/>
        </p:nvSpPr>
        <p:spPr>
          <a:xfrm>
            <a:off x="4617720" y="2240280"/>
            <a:ext cx="1554120" cy="776880"/>
          </a:xfrm>
          <a:prstGeom prst="rect">
            <a:avLst/>
          </a:prstGeom>
          <a:noFill/>
          <a:ln w="0">
            <a:noFill/>
          </a:ln>
        </p:spPr>
        <p:style>
          <a:lnRef idx="0"/>
          <a:fillRef idx="0"/>
          <a:effectRef idx="0"/>
          <a:fontRef idx="minor"/>
        </p:style>
        <p:txBody>
          <a:bodyPr lIns="0" rIns="0" tIns="0" bIns="0" anchor="t">
            <a:noAutofit/>
          </a:bodyPr>
          <a:p>
            <a:pPr algn="ctr">
              <a:lnSpc>
                <a:spcPct val="100000"/>
              </a:lnSpc>
              <a:buNone/>
              <a:tabLst>
                <a:tab algn="l" pos="0"/>
              </a:tabLst>
            </a:pPr>
            <a:r>
              <a:rPr b="1" lang="en-US" sz="1000" spc="-1" strike="noStrike">
                <a:solidFill>
                  <a:srgbClr val="f8fafc"/>
                </a:solidFill>
                <a:latin typeface="Calibri"/>
                <a:ea typeface="Calibri"/>
              </a:rPr>
              <a:t>Baseline-</a:t>
            </a:r>
            <a:endParaRPr b="0" lang="en-IN" sz="1000" spc="-1" strike="noStrike">
              <a:latin typeface="Arial"/>
            </a:endParaRPr>
          </a:p>
          <a:p>
            <a:pPr algn="ctr">
              <a:lnSpc>
                <a:spcPct val="100000"/>
              </a:lnSpc>
              <a:buNone/>
              <a:tabLst>
                <a:tab algn="l" pos="0"/>
              </a:tabLst>
            </a:pPr>
            <a:r>
              <a:rPr b="1" lang="en-US" sz="1000" spc="-1" strike="noStrike">
                <a:solidFill>
                  <a:srgbClr val="f8fafc"/>
                </a:solidFill>
                <a:latin typeface="Calibri"/>
                <a:ea typeface="Calibri"/>
              </a:rPr>
              <a:t>Comparison</a:t>
            </a:r>
            <a:endParaRPr b="0" lang="en-IN" sz="1000" spc="-1" strike="noStrike">
              <a:latin typeface="Arial"/>
            </a:endParaRPr>
          </a:p>
          <a:p>
            <a:pPr algn="ctr">
              <a:lnSpc>
                <a:spcPct val="100000"/>
              </a:lnSpc>
              <a:buNone/>
              <a:tabLst>
                <a:tab algn="l" pos="0"/>
              </a:tabLst>
            </a:pPr>
            <a:r>
              <a:rPr b="1" lang="en-US" sz="1000" spc="-1" strike="noStrike">
                <a:solidFill>
                  <a:srgbClr val="f8fafc"/>
                </a:solidFill>
                <a:latin typeface="Calibri"/>
                <a:ea typeface="Calibri"/>
              </a:rPr>
              <a:t>Runs</a:t>
            </a:r>
            <a:endParaRPr b="0" lang="en-IN" sz="1000" spc="-1" strike="noStrike">
              <a:latin typeface="Arial"/>
            </a:endParaRPr>
          </a:p>
        </p:txBody>
      </p:sp>
      <p:sp>
        <p:nvSpPr>
          <p:cNvPr id="844" name="Text 14"/>
          <p:cNvSpPr/>
          <p:nvPr/>
        </p:nvSpPr>
        <p:spPr>
          <a:xfrm>
            <a:off x="4617720" y="3063240"/>
            <a:ext cx="1554120" cy="1825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850" spc="-1" strike="noStrike">
                <a:solidFill>
                  <a:srgbClr val="94a3b8"/>
                </a:solidFill>
                <a:latin typeface="Calibri"/>
                <a:ea typeface="Calibri"/>
              </a:rPr>
              <a:t>174 × 5</a:t>
            </a:r>
            <a:endParaRPr b="0" lang="en-IN" sz="850" spc="-1" strike="noStrike">
              <a:latin typeface="Arial"/>
            </a:endParaRPr>
          </a:p>
        </p:txBody>
      </p:sp>
      <p:sp>
        <p:nvSpPr>
          <p:cNvPr id="845" name="Shape 15"/>
          <p:cNvSpPr/>
          <p:nvPr/>
        </p:nvSpPr>
        <p:spPr>
          <a:xfrm>
            <a:off x="6912720" y="1883520"/>
            <a:ext cx="255600" cy="255600"/>
          </a:xfrm>
          <a:prstGeom prst="ellipse">
            <a:avLst/>
          </a:prstGeom>
          <a:solidFill>
            <a:srgbClr val="fbbf24"/>
          </a:solidFill>
          <a:ln w="19050">
            <a:solidFill>
              <a:srgbClr val="0d1b2a"/>
            </a:solidFill>
            <a:round/>
          </a:ln>
        </p:spPr>
        <p:style>
          <a:lnRef idx="0"/>
          <a:fillRef idx="0"/>
          <a:effectRef idx="0"/>
          <a:fontRef idx="minor"/>
        </p:style>
      </p:sp>
      <p:sp>
        <p:nvSpPr>
          <p:cNvPr id="846" name="Text 16"/>
          <p:cNvSpPr/>
          <p:nvPr/>
        </p:nvSpPr>
        <p:spPr>
          <a:xfrm>
            <a:off x="6263640" y="822960"/>
            <a:ext cx="1554120" cy="776880"/>
          </a:xfrm>
          <a:prstGeom prst="rect">
            <a:avLst/>
          </a:prstGeom>
          <a:noFill/>
          <a:ln w="0">
            <a:noFill/>
          </a:ln>
        </p:spPr>
        <p:style>
          <a:lnRef idx="0"/>
          <a:fillRef idx="0"/>
          <a:effectRef idx="0"/>
          <a:fontRef idx="minor"/>
        </p:style>
        <p:txBody>
          <a:bodyPr lIns="0" rIns="0" tIns="0" bIns="0" anchor="b">
            <a:noAutofit/>
          </a:bodyPr>
          <a:p>
            <a:pPr algn="ctr">
              <a:lnSpc>
                <a:spcPct val="100000"/>
              </a:lnSpc>
              <a:buNone/>
              <a:tabLst>
                <a:tab algn="l" pos="0"/>
              </a:tabLst>
            </a:pPr>
            <a:r>
              <a:rPr b="1" lang="en-US" sz="1000" spc="-1" strike="noStrike">
                <a:solidFill>
                  <a:srgbClr val="f8fafc"/>
                </a:solidFill>
                <a:latin typeface="Calibri"/>
                <a:ea typeface="Calibri"/>
              </a:rPr>
              <a:t>User Study</a:t>
            </a:r>
            <a:endParaRPr b="0" lang="en-IN" sz="1000" spc="-1" strike="noStrike">
              <a:latin typeface="Arial"/>
            </a:endParaRPr>
          </a:p>
          <a:p>
            <a:pPr algn="ctr">
              <a:lnSpc>
                <a:spcPct val="100000"/>
              </a:lnSpc>
              <a:buNone/>
              <a:tabLst>
                <a:tab algn="l" pos="0"/>
              </a:tabLst>
            </a:pPr>
            <a:r>
              <a:rPr b="1" lang="en-US" sz="1000" spc="-1" strike="noStrike">
                <a:solidFill>
                  <a:srgbClr val="f8fafc"/>
                </a:solidFill>
                <a:latin typeface="Calibri"/>
                <a:ea typeface="Calibri"/>
              </a:rPr>
              <a:t>(n = 24)</a:t>
            </a:r>
            <a:endParaRPr b="0" lang="en-IN" sz="1000" spc="-1" strike="noStrike">
              <a:latin typeface="Arial"/>
            </a:endParaRPr>
          </a:p>
        </p:txBody>
      </p:sp>
      <p:sp>
        <p:nvSpPr>
          <p:cNvPr id="847" name="Text 17"/>
          <p:cNvSpPr/>
          <p:nvPr/>
        </p:nvSpPr>
        <p:spPr>
          <a:xfrm>
            <a:off x="6263640" y="1600200"/>
            <a:ext cx="1554120" cy="1825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0" i="1" lang="en-US" sz="850" spc="-1" strike="noStrike">
                <a:solidFill>
                  <a:srgbClr val="94a3b8"/>
                </a:solidFill>
                <a:latin typeface="Calibri"/>
                <a:ea typeface="Calibri"/>
              </a:rPr>
              <a:t>IRB · Latin sq.</a:t>
            </a:r>
            <a:endParaRPr b="0" lang="en-IN" sz="850" spc="-1" strike="noStrike">
              <a:latin typeface="Arial"/>
            </a:endParaRPr>
          </a:p>
        </p:txBody>
      </p:sp>
      <p:sp>
        <p:nvSpPr>
          <p:cNvPr id="848" name="Shape 18"/>
          <p:cNvSpPr/>
          <p:nvPr/>
        </p:nvSpPr>
        <p:spPr>
          <a:xfrm>
            <a:off x="8558640" y="1883520"/>
            <a:ext cx="255600" cy="255600"/>
          </a:xfrm>
          <a:prstGeom prst="ellipse">
            <a:avLst/>
          </a:prstGeom>
          <a:solidFill>
            <a:srgbClr val="10b981"/>
          </a:solidFill>
          <a:ln w="19050">
            <a:solidFill>
              <a:srgbClr val="0d1b2a"/>
            </a:solidFill>
            <a:round/>
          </a:ln>
        </p:spPr>
        <p:style>
          <a:lnRef idx="0"/>
          <a:fillRef idx="0"/>
          <a:effectRef idx="0"/>
          <a:fontRef idx="minor"/>
        </p:style>
      </p:sp>
      <p:sp>
        <p:nvSpPr>
          <p:cNvPr id="849" name="Text 19"/>
          <p:cNvSpPr/>
          <p:nvPr/>
        </p:nvSpPr>
        <p:spPr>
          <a:xfrm>
            <a:off x="7909560" y="2240280"/>
            <a:ext cx="1554120" cy="776880"/>
          </a:xfrm>
          <a:prstGeom prst="rect">
            <a:avLst/>
          </a:prstGeom>
          <a:noFill/>
          <a:ln w="0">
            <a:noFill/>
          </a:ln>
        </p:spPr>
        <p:style>
          <a:lnRef idx="0"/>
          <a:fillRef idx="0"/>
          <a:effectRef idx="0"/>
          <a:fontRef idx="minor"/>
        </p:style>
        <p:txBody>
          <a:bodyPr lIns="0" rIns="0" tIns="0" bIns="0" anchor="t">
            <a:noAutofit/>
          </a:bodyPr>
          <a:p>
            <a:pPr algn="ctr">
              <a:lnSpc>
                <a:spcPct val="100000"/>
              </a:lnSpc>
              <a:buNone/>
              <a:tabLst>
                <a:tab algn="l" pos="0"/>
              </a:tabLst>
            </a:pPr>
            <a:r>
              <a:rPr b="1" lang="en-US" sz="1000" spc="-1" strike="noStrike">
                <a:solidFill>
                  <a:srgbClr val="f8fafc"/>
                </a:solidFill>
                <a:latin typeface="Calibri"/>
                <a:ea typeface="Calibri"/>
              </a:rPr>
              <a:t>Chapter 4 +</a:t>
            </a:r>
            <a:endParaRPr b="0" lang="en-IN" sz="1000" spc="-1" strike="noStrike">
              <a:latin typeface="Arial"/>
            </a:endParaRPr>
          </a:p>
          <a:p>
            <a:pPr algn="ctr">
              <a:lnSpc>
                <a:spcPct val="100000"/>
              </a:lnSpc>
              <a:buNone/>
              <a:tabLst>
                <a:tab algn="l" pos="0"/>
              </a:tabLst>
            </a:pPr>
            <a:r>
              <a:rPr b="1" lang="en-US" sz="1000" spc="-1" strike="noStrike">
                <a:solidFill>
                  <a:srgbClr val="f8fafc"/>
                </a:solidFill>
                <a:latin typeface="Calibri"/>
                <a:ea typeface="Calibri"/>
              </a:rPr>
              <a:t>Viva</a:t>
            </a:r>
            <a:endParaRPr b="0" lang="en-IN" sz="1000" spc="-1" strike="noStrike">
              <a:latin typeface="Arial"/>
            </a:endParaRPr>
          </a:p>
        </p:txBody>
      </p:sp>
      <p:sp>
        <p:nvSpPr>
          <p:cNvPr id="850" name="Text 20"/>
          <p:cNvSpPr/>
          <p:nvPr/>
        </p:nvSpPr>
        <p:spPr>
          <a:xfrm>
            <a:off x="7909560" y="3063240"/>
            <a:ext cx="1554120" cy="182520"/>
          </a:xfrm>
          <a:prstGeom prst="rect">
            <a:avLst/>
          </a:prstGeom>
          <a:noFill/>
          <a:ln w="0">
            <a:noFill/>
          </a:ln>
        </p:spPr>
        <p:style>
          <a:lnRef idx="0"/>
          <a:fillRef idx="0"/>
          <a:effectRef idx="0"/>
          <a:fontRef idx="minor"/>
        </p:style>
      </p:sp>
      <p:sp>
        <p:nvSpPr>
          <p:cNvPr id="851" name="Shape 21"/>
          <p:cNvSpPr/>
          <p:nvPr/>
        </p:nvSpPr>
        <p:spPr>
          <a:xfrm>
            <a:off x="457200" y="3657600"/>
            <a:ext cx="8595000" cy="1051200"/>
          </a:xfrm>
          <a:prstGeom prst="rect">
            <a:avLst/>
          </a:prstGeom>
          <a:solidFill>
            <a:srgbClr val="243549"/>
          </a:solidFill>
          <a:ln w="9525">
            <a:solidFill>
              <a:srgbClr val="334155"/>
            </a:solidFill>
            <a:round/>
          </a:ln>
        </p:spPr>
        <p:style>
          <a:lnRef idx="0"/>
          <a:fillRef idx="0"/>
          <a:effectRef idx="0"/>
          <a:fontRef idx="minor"/>
        </p:style>
      </p:sp>
      <p:sp>
        <p:nvSpPr>
          <p:cNvPr id="852" name="Shape 22"/>
          <p:cNvSpPr/>
          <p:nvPr/>
        </p:nvSpPr>
        <p:spPr>
          <a:xfrm>
            <a:off x="457200" y="3657600"/>
            <a:ext cx="54360" cy="1051200"/>
          </a:xfrm>
          <a:prstGeom prst="rect">
            <a:avLst/>
          </a:prstGeom>
          <a:solidFill>
            <a:srgbClr val="f97316"/>
          </a:solidFill>
          <a:ln w="12700">
            <a:solidFill>
              <a:srgbClr val="f97316"/>
            </a:solidFill>
            <a:round/>
          </a:ln>
        </p:spPr>
        <p:style>
          <a:lnRef idx="0"/>
          <a:fillRef idx="0"/>
          <a:effectRef idx="0"/>
          <a:fontRef idx="minor"/>
        </p:style>
      </p:sp>
      <p:sp>
        <p:nvSpPr>
          <p:cNvPr id="853" name="Text 23"/>
          <p:cNvSpPr/>
          <p:nvPr/>
        </p:nvSpPr>
        <p:spPr>
          <a:xfrm>
            <a:off x="685800" y="3749040"/>
            <a:ext cx="8229240" cy="4111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2200" spc="-1" strike="noStrike">
                <a:solidFill>
                  <a:srgbClr val="f8fafc"/>
                </a:solidFill>
                <a:latin typeface="Calibri"/>
                <a:ea typeface="Calibri"/>
              </a:rPr>
              <a:t>Thank you.</a:t>
            </a:r>
            <a:endParaRPr b="0" lang="en-IN" sz="2200" spc="-1" strike="noStrike">
              <a:latin typeface="Arial"/>
            </a:endParaRPr>
          </a:p>
        </p:txBody>
      </p:sp>
      <p:sp>
        <p:nvSpPr>
          <p:cNvPr id="854" name="Text 24"/>
          <p:cNvSpPr/>
          <p:nvPr/>
        </p:nvSpPr>
        <p:spPr>
          <a:xfrm>
            <a:off x="685800" y="4160520"/>
            <a:ext cx="8229240" cy="2923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1400" spc="-1" strike="noStrike">
                <a:solidFill>
                  <a:srgbClr val="06b6d4"/>
                </a:solidFill>
                <a:latin typeface="Calibri"/>
                <a:ea typeface="Calibri"/>
              </a:rPr>
              <a:t>I look forward to your questions.</a:t>
            </a:r>
            <a:endParaRPr b="0" lang="en-IN" sz="1400" spc="-1" strike="noStrike">
              <a:latin typeface="Arial"/>
            </a:endParaRPr>
          </a:p>
        </p:txBody>
      </p:sp>
      <p:sp>
        <p:nvSpPr>
          <p:cNvPr id="855" name="Text 25"/>
          <p:cNvSpPr/>
          <p:nvPr/>
        </p:nvSpPr>
        <p:spPr>
          <a:xfrm>
            <a:off x="685800" y="4434840"/>
            <a:ext cx="8229240" cy="2282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i="1" lang="en-US" sz="900" spc="-1" strike="noStrike">
                <a:solidFill>
                  <a:srgbClr val="64748b"/>
                </a:solidFill>
                <a:latin typeface="Calibri"/>
                <a:ea typeface="Calibri"/>
              </a:rPr>
              <a:t>Pre-registration enforced as runtime invariant · Deviation log binding from OSF freeze · Open Science Framework deposit forthcoming</a:t>
            </a:r>
            <a:endParaRPr b="0" lang="en-IN" sz="900" spc="-1" strike="noStrike">
              <a:latin typeface="Arial"/>
            </a:endParaRPr>
          </a:p>
        </p:txBody>
      </p:sp>
      <p:sp>
        <p:nvSpPr>
          <p:cNvPr id="856" name="Text 26"/>
          <p:cNvSpPr/>
          <p:nvPr/>
        </p:nvSpPr>
        <p:spPr>
          <a:xfrm>
            <a:off x="411480" y="4864680"/>
            <a:ext cx="4571640" cy="20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US" sz="850" spc="199" strike="noStrike">
                <a:solidFill>
                  <a:srgbClr val="64748b"/>
                </a:solidFill>
                <a:latin typeface="Calibri"/>
                <a:ea typeface="Calibri"/>
              </a:rPr>
              <a:t>Outcomes</a:t>
            </a:r>
            <a:endParaRPr b="0" lang="en-IN" sz="850" spc="-1" strike="noStrike">
              <a:latin typeface="Arial"/>
            </a:endParaRPr>
          </a:p>
        </p:txBody>
      </p:sp>
      <p:sp>
        <p:nvSpPr>
          <p:cNvPr id="857" name="Text 27"/>
          <p:cNvSpPr/>
          <p:nvPr/>
        </p:nvSpPr>
        <p:spPr>
          <a:xfrm>
            <a:off x="8229600" y="4864680"/>
            <a:ext cx="548280" cy="20088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0" lang="en-US" sz="900" spc="-1" strike="noStrike">
                <a:solidFill>
                  <a:srgbClr val="64748b"/>
                </a:solidFill>
                <a:latin typeface="Calibri"/>
                <a:ea typeface="Calibri"/>
              </a:rPr>
              <a:t>22 / 22</a:t>
            </a:r>
            <a:endParaRPr b="0" lang="en-IN" sz="900" spc="-1" strike="noStrike">
              <a:latin typeface="Arial"/>
            </a:endParaRPr>
          </a:p>
        </p:txBody>
      </p:sp>
      <p:sp>
        <p:nvSpPr>
          <p:cNvPr id="858" name="Shape 28"/>
          <p:cNvSpPr/>
          <p:nvPr/>
        </p:nvSpPr>
        <p:spPr>
          <a:xfrm>
            <a:off x="8156520" y="4942440"/>
            <a:ext cx="54360" cy="54360"/>
          </a:xfrm>
          <a:prstGeom prst="ellipse">
            <a:avLst/>
          </a:prstGeom>
          <a:solidFill>
            <a:srgbClr val="06b6d4"/>
          </a:solidFill>
          <a:ln w="12700">
            <a:solidFill>
              <a:srgbClr val="06b6d4"/>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2026-05-05T09:28:10Z</dcterms:created>
  <dc:creator>Akshay Adik</dc:creator>
  <dc:description/>
  <dc:language>en-IN</dc:language>
  <cp:lastModifiedBy/>
  <dcterms:modified xsi:type="dcterms:W3CDTF">2026-05-05T16:23:34Z</dcterms:modified>
  <cp:revision>2</cp:revision>
  <dc:subject>PptxGenJS Presentation</dc:subject>
  <dc:title>HELIOS Doctoral Defense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On-screen Show (16:9)</vt:lpwstr>
  </property>
  <property fmtid="{D5CDD505-2E9C-101B-9397-08002B2CF9AE}" pid="4" name="Slides">
    <vt:i4>22</vt:i4>
  </property>
</Properties>
</file>